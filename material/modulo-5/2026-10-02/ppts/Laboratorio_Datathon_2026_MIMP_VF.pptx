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3" r:id="rId17"/>
    <p:sldId id="274" r:id="rId18"/>
    <p:sldId id="275" r:id="rId19"/>
    <p:sldId id="276" r:id="rId20"/>
    <p:sldId id="278" r:id="rId21"/>
    <p:sldId id="279"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404" autoAdjust="0"/>
  </p:normalViewPr>
  <p:slideViewPr>
    <p:cSldViewPr snapToGrid="0" snapToObjects="1">
      <p:cViewPr>
        <p:scale>
          <a:sx n="66" d="100"/>
          <a:sy n="66" d="100"/>
        </p:scale>
        <p:origin x="1280" y="4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100" b="0" i="0" u="none" strike="noStrike">
                <a:solidFill>
                  <a:srgbClr val="262626"/>
                </a:solidFill>
                <a:latin typeface="Calibri"/>
              </a:defRPr>
            </a:pPr>
            <a:r>
              <a:rPr sz="1100" b="0" i="0" u="none" strike="noStrike">
                <a:solidFill>
                  <a:srgbClr val="262626"/>
                </a:solidFill>
                <a:latin typeface="Calibri"/>
              </a:rPr>
              <a:t>Mujeres de 15 a 49 años que sufrieron violencia alguna vez por su pareja (%)</a:t>
            </a:r>
          </a:p>
        </c:rich>
      </c:tx>
      <c:overlay val="0"/>
    </c:title>
    <c:autoTitleDeleted val="0"/>
    <c:plotArea>
      <c:layout/>
      <c:barChart>
        <c:barDir val="col"/>
        <c:grouping val="clustered"/>
        <c:varyColors val="0"/>
        <c:ser>
          <c:idx val="0"/>
          <c:order val="0"/>
          <c:tx>
            <c:strRef>
              <c:f>Sheet1!$B$1</c:f>
              <c:strCache>
                <c:ptCount val="1"/>
                <c:pt idx="0">
                  <c:v>Violencia por la pareja alguna vez</c:v>
                </c:pt>
              </c:strCache>
            </c:strRef>
          </c:tx>
          <c:spPr>
            <a:solidFill>
              <a:srgbClr val="8A8B8D"/>
            </a:solidFill>
            <a:effectLst/>
          </c:spPr>
          <c:invertIfNegative val="0"/>
          <c:dPt>
            <c:idx val="0"/>
            <c:invertIfNegative val="0"/>
            <c:bubble3D val="0"/>
            <c:extLst>
              <c:ext xmlns:c16="http://schemas.microsoft.com/office/drawing/2014/chart" uri="{C3380CC4-5D6E-409C-BE32-E72D297353CC}">
                <c16:uniqueId val="{00000001-7C22-4F54-8C41-77DF2BFE722A}"/>
              </c:ext>
            </c:extLst>
          </c:dPt>
          <c:dPt>
            <c:idx val="1"/>
            <c:invertIfNegative val="0"/>
            <c:bubble3D val="0"/>
            <c:extLst>
              <c:ext xmlns:c16="http://schemas.microsoft.com/office/drawing/2014/chart" uri="{C3380CC4-5D6E-409C-BE32-E72D297353CC}">
                <c16:uniqueId val="{00000003-7C22-4F54-8C41-77DF2BFE722A}"/>
              </c:ext>
            </c:extLst>
          </c:dPt>
          <c:dPt>
            <c:idx val="2"/>
            <c:invertIfNegative val="0"/>
            <c:bubble3D val="0"/>
            <c:extLst>
              <c:ext xmlns:c16="http://schemas.microsoft.com/office/drawing/2014/chart" uri="{C3380CC4-5D6E-409C-BE32-E72D297353CC}">
                <c16:uniqueId val="{00000005-7C22-4F54-8C41-77DF2BFE722A}"/>
              </c:ext>
            </c:extLst>
          </c:dPt>
          <c:dPt>
            <c:idx val="3"/>
            <c:invertIfNegative val="0"/>
            <c:bubble3D val="0"/>
            <c:extLst>
              <c:ext xmlns:c16="http://schemas.microsoft.com/office/drawing/2014/chart" uri="{C3380CC4-5D6E-409C-BE32-E72D297353CC}">
                <c16:uniqueId val="{00000007-7C22-4F54-8C41-77DF2BFE722A}"/>
              </c:ext>
            </c:extLst>
          </c:dPt>
          <c:dPt>
            <c:idx val="4"/>
            <c:invertIfNegative val="0"/>
            <c:bubble3D val="0"/>
            <c:extLst>
              <c:ext xmlns:c16="http://schemas.microsoft.com/office/drawing/2014/chart" uri="{C3380CC4-5D6E-409C-BE32-E72D297353CC}">
                <c16:uniqueId val="{00000009-7C22-4F54-8C41-77DF2BFE722A}"/>
              </c:ext>
            </c:extLst>
          </c:dPt>
          <c:dPt>
            <c:idx val="5"/>
            <c:invertIfNegative val="0"/>
            <c:bubble3D val="0"/>
            <c:extLst>
              <c:ext xmlns:c16="http://schemas.microsoft.com/office/drawing/2014/chart" uri="{C3380CC4-5D6E-409C-BE32-E72D297353CC}">
                <c16:uniqueId val="{0000000B-7C22-4F54-8C41-77DF2BFE722A}"/>
              </c:ext>
            </c:extLst>
          </c:dPt>
          <c:dPt>
            <c:idx val="6"/>
            <c:invertIfNegative val="0"/>
            <c:bubble3D val="0"/>
            <c:spPr>
              <a:solidFill>
                <a:srgbClr val="ED2E45"/>
              </a:solidFill>
              <a:effectLst/>
            </c:spPr>
            <c:extLst>
              <c:ext xmlns:c16="http://schemas.microsoft.com/office/drawing/2014/chart" uri="{C3380CC4-5D6E-409C-BE32-E72D297353CC}">
                <c16:uniqueId val="{0000000D-7C22-4F54-8C41-77DF2BFE722A}"/>
              </c:ext>
            </c:extLst>
          </c:dPt>
          <c:dLbls>
            <c:numFmt formatCode="0.0" sourceLinked="0"/>
            <c:spPr>
              <a:noFill/>
              <a:ln>
                <a:noFill/>
              </a:ln>
              <a:effectLst/>
            </c:spPr>
            <c:txPr>
              <a:bodyPr/>
              <a:lstStyle/>
              <a:p>
                <a:pPr>
                  <a:defRPr sz="1000" b="0" i="0" u="none" strike="noStrike">
                    <a:solidFill>
                      <a:srgbClr val="262626"/>
                    </a:solidFill>
                    <a:latin typeface="Arial"/>
                  </a:defRPr>
                </a:pPr>
                <a:endParaRPr lang="es-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2019</c:v>
                </c:pt>
                <c:pt idx="1">
                  <c:v>2020 a/</c:v>
                </c:pt>
                <c:pt idx="2">
                  <c:v>2021</c:v>
                </c:pt>
                <c:pt idx="3">
                  <c:v>2022</c:v>
                </c:pt>
                <c:pt idx="4">
                  <c:v>2023</c:v>
                </c:pt>
                <c:pt idx="5">
                  <c:v>2024</c:v>
                </c:pt>
                <c:pt idx="6">
                  <c:v>2025</c:v>
                </c:pt>
              </c:strCache>
            </c:strRef>
          </c:cat>
          <c:val>
            <c:numRef>
              <c:f>Sheet1!$B$2:$B$8</c:f>
              <c:numCache>
                <c:formatCode>General</c:formatCode>
                <c:ptCount val="7"/>
                <c:pt idx="0">
                  <c:v>57.7</c:v>
                </c:pt>
                <c:pt idx="1">
                  <c:v>54.8</c:v>
                </c:pt>
                <c:pt idx="2">
                  <c:v>54.9</c:v>
                </c:pt>
                <c:pt idx="3">
                  <c:v>55.7</c:v>
                </c:pt>
                <c:pt idx="4">
                  <c:v>53.8</c:v>
                </c:pt>
                <c:pt idx="5">
                  <c:v>52</c:v>
                </c:pt>
                <c:pt idx="6">
                  <c:v>49.1</c:v>
                </c:pt>
              </c:numCache>
            </c:numRef>
          </c:val>
          <c:extLst>
            <c:ext xmlns:c16="http://schemas.microsoft.com/office/drawing/2014/chart" uri="{C3380CC4-5D6E-409C-BE32-E72D297353CC}">
              <c16:uniqueId val="{0000000E-7C22-4F54-8C41-77DF2BFE722A}"/>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8595B"/>
                </a:solidFill>
                <a:latin typeface="Arial"/>
              </a:defRPr>
            </a:pPr>
            <a:endParaRPr lang="es-PE"/>
          </a:p>
        </c:txPr>
        <c:crossAx val="2094734552"/>
        <c:crosses val="autoZero"/>
        <c:auto val="1"/>
        <c:lblAlgn val="ctr"/>
        <c:lblOffset val="100"/>
        <c:noMultiLvlLbl val="1"/>
      </c:catAx>
      <c:valAx>
        <c:axId val="2094734552"/>
        <c:scaling>
          <c:orientation val="minMax"/>
          <c:max val="6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7856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Sesión de cierre del ciclo de formación: hoy damos a los 46 equipos las claves para pasar de sus hallazgos a una propuesta concreta de solución.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con el dato, sin dramatizar: casi la mitad de las mujeres de 15 a 49 años reporta haber sufrido violencia de su pareja alguna vez (ENDES 2025, 49.1%). El indicador bajó 8.6 puntos desde 2019, pero sigue alto. La pregunta que guía el laboratorio no es cuánto, sino qué decisión pública puede cambiar esta situación.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Recordar el recorrido realizado. Los 46 equipos ya trabajaron, sesión por sesión, en cada uno de estos módulos.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Diferenciar los cuatro conceptos. Un dato por sí solo no constituye una política pública: su valor está en ayudar a comprender un problema y orientar decisiones.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Mismo tema, cuatro niveles distintos. Mostrar cómo cada nivel responde una pregunta diferente y cómo se llega a una decisión.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central. Antes de preguntar qué herramienta podemos desarrollar, hay que responder estas preguntas.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equipo debe poder formular su problema en una sola frase, usando esta fórmula con el recorte (población, territorio, tipo de violencia) que su análisis permita sostener. El ejemplo usa las cifras oficiales citadas en el micrositio del Datatón.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Serie oficial ENDES de violencia de pareja en mujeres de 15 a 49 años (2019-2025). 2020: levantamiento con cambios por la pandemia (a/). La reducción es real pero lenta; y la tolerancia social sigue siendo muy alta (ENARES 2024).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matriz ayuda a evitar uno de los principales problemas de las soluciones basadas en datos: confundir correlación con causalidad. La columna de interpretación conecta con el modelo ecológico de la violencia (social, comunitario, relacional, individual) visto en el Módulo 1.</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Ejemplo clásico de estadística: las ventas de helado y los ahogamientos suben juntos, pero uno no causa el otro; ambos dependen de una tercera variable: el calor del verano. Preguntar: ¿qué tercera variable podría estar detrás de su hallazgo? (nivel educativo, zona urbana o rural, edad, acceso a servicios).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promedio nacional (75.7%) esconde casi 28 puntos de diferencia entre departamentos: desde 61.9% en Madre de Dios hasta 89.8% en Ucayali. El mapa y las barras muestran la tolerancia a la violencia contra las mujeres por departamento (ENARES 2024). Lo mismo aplica al 49.1% de violencia de pareja.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Enfoques trabajados en el Módulo 1 (MIMP · UNFPA). Son lentes para leer los datos: ayudan a identificar quiénes quedan invisibilizadas en el promedio.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Componentes mínimos de la solución y preguntas guía.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Evitar que la propuesta sea solo una aplicación o un dashboard. Las fotos muestran servicios del MIMP (CEM, Línea 100, atención en territorio) que hoy generan datos a partir de registros administrativos.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un equipo usó IA generativa (código, redacción, visualizaciones), debe declarar qué herramienta usó, para qué y qué parte es su propio criterio: va en la metodología del reporte.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dimensiones para evaluar si la propuesta puede implementarse en la realidad.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Cadena de resultados: los insumos permiten actividades, que generan productos, que producen resultados y, a largo plazo, impacto. Cada propuesta debería tener al menos un indicador de producto y uno de resultado.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buena propuesta no necesariamente tiene que resolver todo el problema desde el inicio.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Canvas es una plantilla de una página para ordenar la propuesta. Sirve como base para la infografía y el reporte final.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equipos deben salir de la sesión sabiendo cuánto tiempo les queda (19 días) y qué deben entregar.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final de la sesión.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6.png"/><Relationship Id="rId7"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chart" Target="../charts/char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5.png"/><Relationship Id="rId4" Type="http://schemas.openxmlformats.org/officeDocument/2006/relationships/image" Target="../media/image10.png"/><Relationship Id="rId9" Type="http://schemas.openxmlformats.org/officeDocument/2006/relationships/image" Target="../media/image4.png"/></Relationships>
</file>

<file path=ppt/slides/_rels/slide1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9.png"/><Relationship Id="rId7"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9.png"/><Relationship Id="rId7"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a/fondo_rojo.png"/>
          <p:cNvPicPr>
            <a:picLocks noChangeAspect="1"/>
          </p:cNvPicPr>
          <p:nvPr/>
        </p:nvPicPr>
        <p:blipFill>
          <a:blip r:embed="rId3"/>
          <a:stretch>
            <a:fillRect/>
          </a:stretch>
        </p:blipFill>
        <p:spPr>
          <a:xfrm>
            <a:off x="0" y="685800"/>
            <a:ext cx="9144000" cy="4457700"/>
          </a:xfrm>
          <a:prstGeom prst="rect">
            <a:avLst/>
          </a:prstGeom>
        </p:spPr>
      </p:pic>
      <p:sp>
        <p:nvSpPr>
          <p:cNvPr id="3" name="Text 0"/>
          <p:cNvSpPr txBox="1"/>
          <p:nvPr/>
        </p:nvSpPr>
        <p:spPr>
          <a:xfrm>
            <a:off x="685800" y="1005840"/>
            <a:ext cx="5486400" cy="274320"/>
          </a:xfrm>
          <a:prstGeom prst="rect">
            <a:avLst/>
          </a:prstGeom>
          <a:noFill/>
          <a:ln/>
        </p:spPr>
        <p:txBody>
          <a:bodyPr wrap="square" lIns="0" tIns="0" rIns="0" bIns="0" rtlCol="0" anchor="t"/>
          <a:lstStyle/>
          <a:p>
            <a:pPr marL="0" indent="0">
              <a:buNone/>
            </a:pPr>
            <a:r>
              <a:rPr lang="en-US" sz="1100" b="1" kern="0" spc="200" dirty="0">
                <a:solidFill>
                  <a:srgbClr val="FFFFFF"/>
                </a:solidFill>
                <a:latin typeface="Calibri" pitchFamily="34" charset="0"/>
                <a:ea typeface="Calibri" pitchFamily="34" charset="-122"/>
                <a:cs typeface="Calibri" pitchFamily="34" charset="-120"/>
              </a:rPr>
              <a:t>DATATÓN NACIONAL 2026 · MÓDULO 5</a:t>
            </a:r>
            <a:endParaRPr lang="en-US" sz="1100" dirty="0"/>
          </a:p>
        </p:txBody>
      </p:sp>
      <p:sp>
        <p:nvSpPr>
          <p:cNvPr id="4" name="Text 1"/>
          <p:cNvSpPr txBox="1"/>
          <p:nvPr/>
        </p:nvSpPr>
        <p:spPr>
          <a:xfrm>
            <a:off x="685800" y="1325880"/>
            <a:ext cx="5852160" cy="1280160"/>
          </a:xfrm>
          <a:prstGeom prst="rect">
            <a:avLst/>
          </a:prstGeom>
          <a:noFill/>
          <a:ln/>
        </p:spPr>
        <p:txBody>
          <a:bodyPr wrap="square" lIns="0" tIns="0" rIns="0" bIns="0" rtlCol="0" anchor="ctr"/>
          <a:lstStyle/>
          <a:p>
            <a:pPr marL="0" indent="0">
              <a:buNone/>
            </a:pPr>
            <a:r>
              <a:rPr lang="en-US" sz="3000" b="1" dirty="0">
                <a:solidFill>
                  <a:srgbClr val="FFFFFF"/>
                </a:solidFill>
                <a:latin typeface="Montserrat" pitchFamily="34" charset="0"/>
                <a:ea typeface="Montserrat" pitchFamily="34" charset="-122"/>
                <a:cs typeface="Montserrat" pitchFamily="34" charset="-120"/>
              </a:rPr>
              <a:t>Laboratorio de soluciones: del dato a la política pública</a:t>
            </a:r>
            <a:endParaRPr lang="en-US" sz="3000" dirty="0"/>
          </a:p>
        </p:txBody>
      </p:sp>
      <p:sp>
        <p:nvSpPr>
          <p:cNvPr id="5" name="Shape 2"/>
          <p:cNvSpPr/>
          <p:nvPr/>
        </p:nvSpPr>
        <p:spPr>
          <a:xfrm>
            <a:off x="685800" y="2743200"/>
            <a:ext cx="5303520" cy="0"/>
          </a:xfrm>
          <a:prstGeom prst="line">
            <a:avLst/>
          </a:prstGeom>
          <a:noFill/>
          <a:ln w="12700">
            <a:solidFill>
              <a:srgbClr val="FFFFFF"/>
            </a:solidFill>
            <a:prstDash val="solid"/>
          </a:ln>
        </p:spPr>
        <p:txBody>
          <a:bodyPr/>
          <a:lstStyle/>
          <a:p>
            <a:endParaRPr lang="es-PE"/>
          </a:p>
        </p:txBody>
      </p:sp>
      <p:sp>
        <p:nvSpPr>
          <p:cNvPr id="6" name="Text 3"/>
          <p:cNvSpPr txBox="1"/>
          <p:nvPr/>
        </p:nvSpPr>
        <p:spPr>
          <a:xfrm>
            <a:off x="685800" y="2852928"/>
            <a:ext cx="5394960" cy="54864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De la evidencia a una solución para prevenir y reducir la violencia contra niñas, adolescentes y mujeres</a:t>
            </a:r>
            <a:endParaRPr lang="en-US" sz="1400" dirty="0"/>
          </a:p>
        </p:txBody>
      </p:sp>
      <p:sp>
        <p:nvSpPr>
          <p:cNvPr id="7" name="Text 4"/>
          <p:cNvSpPr txBox="1"/>
          <p:nvPr/>
        </p:nvSpPr>
        <p:spPr>
          <a:xfrm>
            <a:off x="685800" y="3566160"/>
            <a:ext cx="5669280" cy="822960"/>
          </a:xfrm>
          <a:prstGeom prst="rect">
            <a:avLst/>
          </a:prstGeom>
          <a:noFill/>
          <a:ln/>
        </p:spPr>
        <p:txBody>
          <a:bodyPr wrap="square" lIns="0" tIns="0" rIns="0" bIns="0" rtlCol="0" anchor="t"/>
          <a:lstStyle/>
          <a:p>
            <a:pPr marL="0" indent="0">
              <a:spcAft>
                <a:spcPts val="300"/>
              </a:spcAft>
              <a:buNone/>
            </a:pPr>
            <a:r>
              <a:rPr lang="en-US" sz="1100" dirty="0">
                <a:solidFill>
                  <a:srgbClr val="FFFFFF"/>
                </a:solidFill>
                <a:latin typeface="Calibri" pitchFamily="34" charset="0"/>
                <a:ea typeface="Calibri" pitchFamily="34" charset="-122"/>
                <a:cs typeface="Calibri" pitchFamily="34" charset="-120"/>
              </a:rPr>
              <a:t>Observatorio Nacional de la Violencia contra las Mujeres y los Integrantes del Grupo Familiar — MIMP</a:t>
            </a:r>
            <a:endParaRPr lang="en-US" sz="1100" dirty="0"/>
          </a:p>
          <a:p>
            <a:pPr marL="0" indent="0">
              <a:spcAft>
                <a:spcPts val="300"/>
              </a:spcAft>
              <a:buNone/>
            </a:pPr>
            <a:r>
              <a:rPr lang="en-US" sz="1100" dirty="0">
                <a:solidFill>
                  <a:srgbClr val="FFFFFF"/>
                </a:solidFill>
                <a:latin typeface="Calibri" pitchFamily="34" charset="0"/>
                <a:ea typeface="Calibri" pitchFamily="34" charset="-122"/>
                <a:cs typeface="Calibri" pitchFamily="34" charset="-120"/>
              </a:rPr>
              <a:t>2 de octubre de 2026 · sesión virtual · cierre del ciclo de formación</a:t>
            </a:r>
            <a:endParaRPr lang="en-US" sz="1100" dirty="0"/>
          </a:p>
          <a:p>
            <a:pPr marL="0" indent="0">
              <a:spcAft>
                <a:spcPts val="300"/>
              </a:spcAft>
              <a:buNone/>
            </a:pPr>
            <a:r>
              <a:rPr lang="en-US" sz="1100" b="1" dirty="0">
                <a:solidFill>
                  <a:srgbClr val="FFFFFF"/>
                </a:solidFill>
                <a:latin typeface="Calibri" pitchFamily="34" charset="0"/>
                <a:ea typeface="Calibri" pitchFamily="34" charset="-122"/>
                <a:cs typeface="Calibri" pitchFamily="34" charset="-120"/>
              </a:rPr>
              <a:t>Equipo facilitador</a:t>
            </a:r>
            <a:endParaRPr lang="en-US" sz="1100" dirty="0"/>
          </a:p>
        </p:txBody>
      </p:sp>
      <p:pic>
        <p:nvPicPr>
          <p:cNvPr id="8" name="Image 1" descr="a/familia1.png"/>
          <p:cNvPicPr>
            <a:picLocks noChangeAspect="1"/>
          </p:cNvPicPr>
          <p:nvPr/>
        </p:nvPicPr>
        <p:blipFill>
          <a:blip r:embed="rId4"/>
          <a:stretch>
            <a:fillRect/>
          </a:stretch>
        </p:blipFill>
        <p:spPr>
          <a:xfrm>
            <a:off x="6629400" y="1417320"/>
            <a:ext cx="2103120" cy="2252489"/>
          </a:xfrm>
          <a:prstGeom prst="rect">
            <a:avLst/>
          </a:prstGeom>
        </p:spPr>
      </p:pic>
      <p:pic>
        <p:nvPicPr>
          <p:cNvPr id="10" name="Image 2" descr="a/logo_mimp_h.png"/>
          <p:cNvPicPr>
            <a:picLocks noChangeAspect="1"/>
          </p:cNvPicPr>
          <p:nvPr/>
        </p:nvPicPr>
        <p:blipFill>
          <a:blip r:embed="rId5"/>
          <a:stretch>
            <a:fillRect/>
          </a:stretch>
        </p:blipFill>
        <p:spPr>
          <a:xfrm>
            <a:off x="184709" y="110642"/>
            <a:ext cx="1790395" cy="417881"/>
          </a:xfrm>
          <a:prstGeom prst="rect">
            <a:avLst/>
          </a:prstGeom>
        </p:spPr>
      </p:pic>
      <p:pic>
        <p:nvPicPr>
          <p:cNvPr id="11" name="Image 3" descr="a/logo_30.png"/>
          <p:cNvPicPr>
            <a:picLocks noChangeAspect="1"/>
          </p:cNvPicPr>
          <p:nvPr/>
        </p:nvPicPr>
        <p:blipFill>
          <a:blip r:embed="rId6"/>
          <a:stretch>
            <a:fillRect/>
          </a:stretch>
        </p:blipFill>
        <p:spPr>
          <a:xfrm>
            <a:off x="3611880" y="2743"/>
            <a:ext cx="1158545" cy="622706"/>
          </a:xfrm>
          <a:prstGeom prst="rect">
            <a:avLst/>
          </a:prstGeom>
        </p:spPr>
      </p:pic>
      <p:pic>
        <p:nvPicPr>
          <p:cNvPr id="12" name="Image 4" descr="a/logo_peru_responde.png"/>
          <p:cNvPicPr>
            <a:picLocks noChangeAspect="1"/>
          </p:cNvPicPr>
          <p:nvPr/>
        </p:nvPicPr>
        <p:blipFill>
          <a:blip r:embed="rId7"/>
          <a:stretch>
            <a:fillRect/>
          </a:stretch>
        </p:blipFill>
        <p:spPr>
          <a:xfrm>
            <a:off x="7299655" y="102413"/>
            <a:ext cx="1602943" cy="475488"/>
          </a:xfrm>
          <a:prstGeom prst="rect">
            <a:avLst/>
          </a:prstGeom>
        </p:spPr>
      </p:pic>
    </p:spTree>
  </p:cSld>
  <p:clrMapOvr>
    <a:masterClrMapping/>
  </p:clrMapOvr>
  <p:transition spd="med">
    <p:push dir="u"/>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FFFFF"/>
          </a:solidFill>
          <a:ln w="12700">
            <a:solidFill>
              <a:srgbClr val="FFFFFF"/>
            </a:solidFill>
            <a:prstDash val="solid"/>
          </a:ln>
        </p:spPr>
        <p:txBody>
          <a:bodyPr/>
          <a:lstStyle/>
          <a:p>
            <a:endParaRPr lang="es-PE"/>
          </a:p>
        </p:txBody>
      </p:sp>
      <p:sp>
        <p:nvSpPr>
          <p:cNvPr id="3" name="Shape 1"/>
          <p:cNvSpPr/>
          <p:nvPr/>
        </p:nvSpPr>
        <p:spPr>
          <a:xfrm>
            <a:off x="0" y="4965192"/>
            <a:ext cx="9144000" cy="178308"/>
          </a:xfrm>
          <a:prstGeom prst="rect">
            <a:avLst/>
          </a:prstGeom>
          <a:solidFill>
            <a:srgbClr val="ED2E45"/>
          </a:solidFill>
          <a:ln w="12700">
            <a:solidFill>
              <a:srgbClr val="ED2E45"/>
            </a:solidFill>
            <a:prstDash val="solid"/>
          </a:ln>
        </p:spPr>
        <p:txBody>
          <a:bodyPr/>
          <a:lstStyle/>
          <a:p>
            <a:endParaRPr lang="es-PE"/>
          </a:p>
        </p:txBody>
      </p:sp>
      <p:sp>
        <p:nvSpPr>
          <p:cNvPr id="5" name="Text 2"/>
          <p:cNvSpPr txBox="1"/>
          <p:nvPr/>
        </p:nvSpPr>
        <p:spPr>
          <a:xfrm>
            <a:off x="548640" y="822960"/>
            <a:ext cx="8046720" cy="685800"/>
          </a:xfrm>
          <a:prstGeom prst="rect">
            <a:avLst/>
          </a:prstGeom>
          <a:noFill/>
          <a:ln/>
        </p:spPr>
        <p:txBody>
          <a:bodyPr wrap="square" lIns="0" tIns="0" rIns="0" bIns="0" rtlCol="0" anchor="t"/>
          <a:lstStyle/>
          <a:p>
            <a:pPr marL="0" indent="0">
              <a:buNone/>
            </a:pPr>
            <a:r>
              <a:rPr lang="en-US" sz="3600" b="1" dirty="0">
                <a:solidFill>
                  <a:srgbClr val="FFFFFF"/>
                </a:solidFill>
                <a:latin typeface="Montserrat" pitchFamily="34" charset="0"/>
                <a:ea typeface="Montserrat" pitchFamily="34" charset="-122"/>
                <a:cs typeface="Montserrat" pitchFamily="34" charset="-120"/>
              </a:rPr>
              <a:t>Casi 5 de cada 10</a:t>
            </a:r>
            <a:endParaRPr lang="en-US" sz="3600" dirty="0"/>
          </a:p>
        </p:txBody>
      </p:sp>
      <p:sp>
        <p:nvSpPr>
          <p:cNvPr id="6" name="Text 3"/>
          <p:cNvSpPr txBox="1"/>
          <p:nvPr/>
        </p:nvSpPr>
        <p:spPr>
          <a:xfrm>
            <a:off x="548640" y="1481328"/>
            <a:ext cx="8046720" cy="365760"/>
          </a:xfrm>
          <a:prstGeom prst="rect">
            <a:avLst/>
          </a:prstGeom>
          <a:noFill/>
          <a:ln/>
        </p:spPr>
        <p:txBody>
          <a:bodyPr wrap="square" lIns="0" tIns="0" rIns="0" bIns="0" rtlCol="0" anchor="t"/>
          <a:lstStyle/>
          <a:p>
            <a:pPr marL="0" indent="0">
              <a:buNone/>
            </a:pPr>
            <a:r>
              <a:rPr lang="en-US" sz="1600" dirty="0">
                <a:solidFill>
                  <a:srgbClr val="D9D9D9"/>
                </a:solidFill>
                <a:latin typeface="Calibri" pitchFamily="34" charset="0"/>
                <a:ea typeface="Calibri" pitchFamily="34" charset="-122"/>
                <a:cs typeface="Calibri" pitchFamily="34" charset="-120"/>
              </a:rPr>
              <a:t>mujeres de 15 a 49 años sufrió violencia de su pareja alguna vez en el Perú</a:t>
            </a:r>
            <a:endParaRPr lang="en-US" sz="1600" dirty="0"/>
          </a:p>
        </p:txBody>
      </p:sp>
      <p:pic>
        <p:nvPicPr>
          <p:cNvPr id="7" name="Image 0" descr="a/ic_woman_red.png"/>
          <p:cNvPicPr>
            <a:picLocks noChangeAspect="1"/>
          </p:cNvPicPr>
          <p:nvPr/>
        </p:nvPicPr>
        <p:blipFill>
          <a:blip r:embed="rId4"/>
          <a:stretch>
            <a:fillRect/>
          </a:stretch>
        </p:blipFill>
        <p:spPr>
          <a:xfrm>
            <a:off x="411480" y="1965960"/>
            <a:ext cx="868680" cy="1371600"/>
          </a:xfrm>
          <a:prstGeom prst="rect">
            <a:avLst/>
          </a:prstGeom>
        </p:spPr>
      </p:pic>
      <p:pic>
        <p:nvPicPr>
          <p:cNvPr id="8" name="Image 1" descr="a/ic_woman_red.png"/>
          <p:cNvPicPr>
            <a:picLocks noChangeAspect="1"/>
          </p:cNvPicPr>
          <p:nvPr/>
        </p:nvPicPr>
        <p:blipFill>
          <a:blip r:embed="rId4"/>
          <a:stretch>
            <a:fillRect/>
          </a:stretch>
        </p:blipFill>
        <p:spPr>
          <a:xfrm>
            <a:off x="1252728" y="1965960"/>
            <a:ext cx="868680" cy="1371600"/>
          </a:xfrm>
          <a:prstGeom prst="rect">
            <a:avLst/>
          </a:prstGeom>
        </p:spPr>
      </p:pic>
      <p:pic>
        <p:nvPicPr>
          <p:cNvPr id="9" name="Image 2" descr="a/ic_woman_red.png"/>
          <p:cNvPicPr>
            <a:picLocks noChangeAspect="1"/>
          </p:cNvPicPr>
          <p:nvPr/>
        </p:nvPicPr>
        <p:blipFill>
          <a:blip r:embed="rId4"/>
          <a:stretch>
            <a:fillRect/>
          </a:stretch>
        </p:blipFill>
        <p:spPr>
          <a:xfrm>
            <a:off x="2093976" y="1965960"/>
            <a:ext cx="868680" cy="1371600"/>
          </a:xfrm>
          <a:prstGeom prst="rect">
            <a:avLst/>
          </a:prstGeom>
        </p:spPr>
      </p:pic>
      <p:pic>
        <p:nvPicPr>
          <p:cNvPr id="10" name="Image 3" descr="a/ic_woman_red.png"/>
          <p:cNvPicPr>
            <a:picLocks noChangeAspect="1"/>
          </p:cNvPicPr>
          <p:nvPr/>
        </p:nvPicPr>
        <p:blipFill>
          <a:blip r:embed="rId4"/>
          <a:stretch>
            <a:fillRect/>
          </a:stretch>
        </p:blipFill>
        <p:spPr>
          <a:xfrm>
            <a:off x="2935224" y="1965960"/>
            <a:ext cx="868680" cy="1371600"/>
          </a:xfrm>
          <a:prstGeom prst="rect">
            <a:avLst/>
          </a:prstGeom>
        </p:spPr>
      </p:pic>
      <p:pic>
        <p:nvPicPr>
          <p:cNvPr id="11" name="Image 4" descr="a/ic_woman_red.png"/>
          <p:cNvPicPr>
            <a:picLocks noChangeAspect="1"/>
          </p:cNvPicPr>
          <p:nvPr/>
        </p:nvPicPr>
        <p:blipFill>
          <a:blip r:embed="rId4"/>
          <a:stretch>
            <a:fillRect/>
          </a:stretch>
        </p:blipFill>
        <p:spPr>
          <a:xfrm>
            <a:off x="3776472" y="1965960"/>
            <a:ext cx="868680" cy="1371600"/>
          </a:xfrm>
          <a:prstGeom prst="rect">
            <a:avLst/>
          </a:prstGeom>
        </p:spPr>
      </p:pic>
      <p:pic>
        <p:nvPicPr>
          <p:cNvPr id="12" name="Image 5" descr="a/ic_woman_dim.png"/>
          <p:cNvPicPr>
            <a:picLocks noChangeAspect="1"/>
          </p:cNvPicPr>
          <p:nvPr/>
        </p:nvPicPr>
        <p:blipFill>
          <a:blip r:embed="rId5"/>
          <a:stretch>
            <a:fillRect/>
          </a:stretch>
        </p:blipFill>
        <p:spPr>
          <a:xfrm>
            <a:off x="4617720" y="1965960"/>
            <a:ext cx="868680" cy="1371600"/>
          </a:xfrm>
          <a:prstGeom prst="rect">
            <a:avLst/>
          </a:prstGeom>
        </p:spPr>
      </p:pic>
      <p:pic>
        <p:nvPicPr>
          <p:cNvPr id="13" name="Image 6" descr="a/ic_woman_dim.png"/>
          <p:cNvPicPr>
            <a:picLocks noChangeAspect="1"/>
          </p:cNvPicPr>
          <p:nvPr/>
        </p:nvPicPr>
        <p:blipFill>
          <a:blip r:embed="rId5"/>
          <a:stretch>
            <a:fillRect/>
          </a:stretch>
        </p:blipFill>
        <p:spPr>
          <a:xfrm>
            <a:off x="5458968" y="1965960"/>
            <a:ext cx="868680" cy="1371600"/>
          </a:xfrm>
          <a:prstGeom prst="rect">
            <a:avLst/>
          </a:prstGeom>
        </p:spPr>
      </p:pic>
      <p:pic>
        <p:nvPicPr>
          <p:cNvPr id="14" name="Image 7" descr="a/ic_woman_dim.png"/>
          <p:cNvPicPr>
            <a:picLocks noChangeAspect="1"/>
          </p:cNvPicPr>
          <p:nvPr/>
        </p:nvPicPr>
        <p:blipFill>
          <a:blip r:embed="rId5"/>
          <a:stretch>
            <a:fillRect/>
          </a:stretch>
        </p:blipFill>
        <p:spPr>
          <a:xfrm>
            <a:off x="6300216" y="1965960"/>
            <a:ext cx="868680" cy="1371600"/>
          </a:xfrm>
          <a:prstGeom prst="rect">
            <a:avLst/>
          </a:prstGeom>
        </p:spPr>
      </p:pic>
      <p:pic>
        <p:nvPicPr>
          <p:cNvPr id="15" name="Image 8" descr="a/ic_woman_dim.png"/>
          <p:cNvPicPr>
            <a:picLocks noChangeAspect="1"/>
          </p:cNvPicPr>
          <p:nvPr/>
        </p:nvPicPr>
        <p:blipFill>
          <a:blip r:embed="rId5"/>
          <a:stretch>
            <a:fillRect/>
          </a:stretch>
        </p:blipFill>
        <p:spPr>
          <a:xfrm>
            <a:off x="7141464" y="1965960"/>
            <a:ext cx="868680" cy="1371600"/>
          </a:xfrm>
          <a:prstGeom prst="rect">
            <a:avLst/>
          </a:prstGeom>
        </p:spPr>
      </p:pic>
      <p:pic>
        <p:nvPicPr>
          <p:cNvPr id="16" name="Image 9" descr="a/ic_woman_dim.png"/>
          <p:cNvPicPr>
            <a:picLocks noChangeAspect="1"/>
          </p:cNvPicPr>
          <p:nvPr/>
        </p:nvPicPr>
        <p:blipFill>
          <a:blip r:embed="rId5"/>
          <a:stretch>
            <a:fillRect/>
          </a:stretch>
        </p:blipFill>
        <p:spPr>
          <a:xfrm>
            <a:off x="7982712" y="1965960"/>
            <a:ext cx="868680" cy="1371600"/>
          </a:xfrm>
          <a:prstGeom prst="rect">
            <a:avLst/>
          </a:prstGeom>
        </p:spPr>
      </p:pic>
      <p:sp>
        <p:nvSpPr>
          <p:cNvPr id="17" name="Text 4"/>
          <p:cNvSpPr txBox="1"/>
          <p:nvPr/>
        </p:nvSpPr>
        <p:spPr>
          <a:xfrm>
            <a:off x="548640" y="3429000"/>
            <a:ext cx="8046720" cy="274320"/>
          </a:xfrm>
          <a:prstGeom prst="rect">
            <a:avLst/>
          </a:prstGeom>
          <a:noFill/>
          <a:ln/>
        </p:spPr>
        <p:txBody>
          <a:bodyPr wrap="square" lIns="0" tIns="0" rIns="0" bIns="0" rtlCol="0" anchor="t"/>
          <a:lstStyle/>
          <a:p>
            <a:pPr marL="0" indent="0">
              <a:buNone/>
            </a:pPr>
            <a:r>
              <a:rPr lang="en-US" sz="1100" i="1" dirty="0">
                <a:solidFill>
                  <a:srgbClr val="BDBDBD"/>
                </a:solidFill>
                <a:latin typeface="Calibri" pitchFamily="34" charset="0"/>
                <a:ea typeface="Calibri" pitchFamily="34" charset="-122"/>
                <a:cs typeface="Calibri" pitchFamily="34" charset="-120"/>
              </a:rPr>
              <a:t>49.1% · ENDES 2025 (INEI)  ·  8.6 puntos porcentuales menos que en 2019, pero aún alto</a:t>
            </a:r>
            <a:endParaRPr lang="en-US" sz="1100" dirty="0"/>
          </a:p>
        </p:txBody>
      </p:sp>
      <p:sp>
        <p:nvSpPr>
          <p:cNvPr id="18" name="Text 5"/>
          <p:cNvSpPr txBox="1"/>
          <p:nvPr/>
        </p:nvSpPr>
        <p:spPr>
          <a:xfrm>
            <a:off x="548640" y="3886200"/>
            <a:ext cx="8046720" cy="822960"/>
          </a:xfrm>
          <a:prstGeom prst="rect">
            <a:avLst/>
          </a:prstGeom>
          <a:noFill/>
          <a:ln/>
        </p:spPr>
        <p:txBody>
          <a:bodyPr wrap="square" lIns="0" tIns="0" rIns="0" bIns="0" rtlCol="0" anchor="ctr"/>
          <a:lstStyle/>
          <a:p>
            <a:pPr marL="0" indent="0">
              <a:buNone/>
            </a:pPr>
            <a:r>
              <a:rPr lang="en-US" sz="2000" b="1" dirty="0">
                <a:solidFill>
                  <a:srgbClr val="FFFFFF"/>
                </a:solidFill>
                <a:latin typeface="Montserrat" pitchFamily="34" charset="0"/>
                <a:ea typeface="Montserrat" pitchFamily="34" charset="-122"/>
                <a:cs typeface="Montserrat" pitchFamily="34" charset="-120"/>
              </a:rPr>
              <a:t>La pregunta de hoy no es cuánto, sino: </a:t>
            </a:r>
            <a:r>
              <a:rPr lang="en-US" sz="2000" b="1" dirty="0">
                <a:solidFill>
                  <a:srgbClr val="FF6B7F"/>
                </a:solidFill>
                <a:latin typeface="Montserrat" pitchFamily="34" charset="0"/>
                <a:ea typeface="Montserrat" pitchFamily="34" charset="-122"/>
                <a:cs typeface="Montserrat" pitchFamily="34" charset="-120"/>
              </a:rPr>
              <a:t>¿qué decisión pública puede cambiar este dato?</a:t>
            </a:r>
            <a:endParaRPr lang="en-US" sz="2000" dirty="0"/>
          </a:p>
        </p:txBody>
      </p:sp>
      <p:pic>
        <p:nvPicPr>
          <p:cNvPr id="19" name="Image 10" descr="a/logo_mimp_h.png"/>
          <p:cNvPicPr>
            <a:picLocks noChangeAspect="1"/>
          </p:cNvPicPr>
          <p:nvPr/>
        </p:nvPicPr>
        <p:blipFill>
          <a:blip r:embed="rId6"/>
          <a:stretch>
            <a:fillRect/>
          </a:stretch>
        </p:blipFill>
        <p:spPr>
          <a:xfrm>
            <a:off x="184709" y="110642"/>
            <a:ext cx="1790395" cy="417881"/>
          </a:xfrm>
          <a:prstGeom prst="rect">
            <a:avLst/>
          </a:prstGeom>
        </p:spPr>
      </p:pic>
      <p:pic>
        <p:nvPicPr>
          <p:cNvPr id="20" name="Image 11" descr="a/logo_30.png"/>
          <p:cNvPicPr>
            <a:picLocks noChangeAspect="1"/>
          </p:cNvPicPr>
          <p:nvPr/>
        </p:nvPicPr>
        <p:blipFill>
          <a:blip r:embed="rId7"/>
          <a:stretch>
            <a:fillRect/>
          </a:stretch>
        </p:blipFill>
        <p:spPr>
          <a:xfrm>
            <a:off x="3611880" y="2743"/>
            <a:ext cx="1158545" cy="622706"/>
          </a:xfrm>
          <a:prstGeom prst="rect">
            <a:avLst/>
          </a:prstGeom>
        </p:spPr>
      </p:pic>
      <p:pic>
        <p:nvPicPr>
          <p:cNvPr id="21" name="Image 12" descr="a/logo_peru_responde.png"/>
          <p:cNvPicPr>
            <a:picLocks noChangeAspect="1"/>
          </p:cNvPicPr>
          <p:nvPr/>
        </p:nvPicPr>
        <p:blipFill>
          <a:blip r:embed="rId8"/>
          <a:stretch>
            <a:fillRect/>
          </a:stretch>
        </p:blipFill>
        <p:spPr>
          <a:xfrm>
            <a:off x="7299655" y="102413"/>
            <a:ext cx="1602943" cy="475488"/>
          </a:xfrm>
          <a:prstGeom prst="rect">
            <a:avLst/>
          </a:prstGeom>
        </p:spPr>
      </p:pic>
    </p:spTree>
  </p:cSld>
  <p:clrMapOvr>
    <a:masterClrMapping/>
  </p:clrMapOvr>
  <p:transition spd="med">
    <p:push dir="u"/>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65192"/>
            <a:ext cx="9144000" cy="178308"/>
          </a:xfrm>
          <a:prstGeom prst="rect">
            <a:avLst/>
          </a:prstGeom>
          <a:solidFill>
            <a:srgbClr val="ED2E45"/>
          </a:solidFill>
          <a:ln w="12700">
            <a:solidFill>
              <a:srgbClr val="ED2E45"/>
            </a:solidFill>
            <a:prstDash val="solid"/>
          </a:ln>
        </p:spPr>
        <p:txBody>
          <a:bodyPr/>
          <a:lstStyle/>
          <a:p>
            <a:endParaRPr lang="es-PE"/>
          </a:p>
        </p:txBody>
      </p:sp>
      <p:sp>
        <p:nvSpPr>
          <p:cNvPr id="4" name="Text 1"/>
          <p:cNvSpPr txBox="1"/>
          <p:nvPr/>
        </p:nvSpPr>
        <p:spPr>
          <a:xfrm>
            <a:off x="548640" y="731520"/>
            <a:ext cx="8046720" cy="502920"/>
          </a:xfrm>
          <a:prstGeom prst="rect">
            <a:avLst/>
          </a:prstGeom>
          <a:noFill/>
          <a:ln/>
        </p:spPr>
        <p:txBody>
          <a:bodyPr wrap="square" lIns="0" tIns="0" rIns="0" bIns="0" rtlCol="0" anchor="ctr"/>
          <a:lstStyle/>
          <a:p>
            <a:pPr marL="0" indent="0">
              <a:buNone/>
            </a:pPr>
            <a:r>
              <a:rPr lang="en-US" sz="2200" b="1" dirty="0">
                <a:solidFill>
                  <a:srgbClr val="ED2E45"/>
                </a:solidFill>
                <a:latin typeface="Montserrat" pitchFamily="34" charset="0"/>
                <a:ea typeface="Montserrat" pitchFamily="34" charset="-122"/>
                <a:cs typeface="Montserrat" pitchFamily="34" charset="-120"/>
              </a:rPr>
              <a:t>¿Dónde estamos en el proceso?</a:t>
            </a:r>
            <a:endParaRPr lang="en-US" sz="2200" dirty="0"/>
          </a:p>
        </p:txBody>
      </p:sp>
      <p:sp>
        <p:nvSpPr>
          <p:cNvPr id="5" name="Text 2"/>
          <p:cNvSpPr txBox="1"/>
          <p:nvPr/>
        </p:nvSpPr>
        <p:spPr>
          <a:xfrm>
            <a:off x="548640" y="1216152"/>
            <a:ext cx="8046720" cy="274320"/>
          </a:xfrm>
          <a:prstGeom prst="rect">
            <a:avLst/>
          </a:prstGeom>
          <a:noFill/>
          <a:ln/>
        </p:spPr>
        <p:txBody>
          <a:bodyPr wrap="square" lIns="0" tIns="0" rIns="0" bIns="0" rtlCol="0" anchor="ctr"/>
          <a:lstStyle/>
          <a:p>
            <a:pPr marL="0" indent="0">
              <a:buNone/>
            </a:pPr>
            <a:r>
              <a:rPr lang="en-US" sz="1250" dirty="0">
                <a:solidFill>
                  <a:srgbClr val="6B6B6B"/>
                </a:solidFill>
                <a:latin typeface="Calibri" pitchFamily="34" charset="0"/>
                <a:ea typeface="Calibri" pitchFamily="34" charset="-122"/>
                <a:cs typeface="Calibri" pitchFamily="34" charset="-120"/>
              </a:rPr>
              <a:t>El recorrido que ya hicieron los 46 equipos</a:t>
            </a:r>
            <a:endParaRPr lang="en-US" sz="1250" dirty="0"/>
          </a:p>
        </p:txBody>
      </p:sp>
      <p:sp>
        <p:nvSpPr>
          <p:cNvPr id="6" name="Shape 3"/>
          <p:cNvSpPr/>
          <p:nvPr/>
        </p:nvSpPr>
        <p:spPr>
          <a:xfrm>
            <a:off x="548640" y="1645920"/>
            <a:ext cx="1097280" cy="457200"/>
          </a:xfrm>
          <a:prstGeom prst="chevron">
            <a:avLst/>
          </a:prstGeom>
          <a:solidFill>
            <a:srgbClr val="58595B"/>
          </a:solidFill>
          <a:ln w="6350">
            <a:solidFill>
              <a:srgbClr val="FFFFFF"/>
            </a:solidFill>
            <a:prstDash val="solid"/>
          </a:ln>
        </p:spPr>
        <p:txBody>
          <a:bodyPr/>
          <a:lstStyle/>
          <a:p>
            <a:endParaRPr lang="es-PE"/>
          </a:p>
        </p:txBody>
      </p:sp>
      <p:sp>
        <p:nvSpPr>
          <p:cNvPr id="7" name="Text 4"/>
          <p:cNvSpPr txBox="1"/>
          <p:nvPr/>
        </p:nvSpPr>
        <p:spPr>
          <a:xfrm>
            <a:off x="676656" y="1645920"/>
            <a:ext cx="841248" cy="4572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Postulación</a:t>
            </a:r>
            <a:endParaRPr lang="en-US" sz="800" dirty="0"/>
          </a:p>
        </p:txBody>
      </p:sp>
      <p:sp>
        <p:nvSpPr>
          <p:cNvPr id="8" name="Shape 5"/>
          <p:cNvSpPr/>
          <p:nvPr/>
        </p:nvSpPr>
        <p:spPr>
          <a:xfrm>
            <a:off x="1709928" y="1645920"/>
            <a:ext cx="1097280" cy="457200"/>
          </a:xfrm>
          <a:prstGeom prst="chevron">
            <a:avLst/>
          </a:prstGeom>
          <a:solidFill>
            <a:srgbClr val="58595B"/>
          </a:solidFill>
          <a:ln w="6350">
            <a:solidFill>
              <a:srgbClr val="FFFFFF"/>
            </a:solidFill>
            <a:prstDash val="solid"/>
          </a:ln>
        </p:spPr>
        <p:txBody>
          <a:bodyPr/>
          <a:lstStyle/>
          <a:p>
            <a:endParaRPr lang="es-PE"/>
          </a:p>
        </p:txBody>
      </p:sp>
      <p:sp>
        <p:nvSpPr>
          <p:cNvPr id="9" name="Text 6"/>
          <p:cNvSpPr txBox="1"/>
          <p:nvPr/>
        </p:nvSpPr>
        <p:spPr>
          <a:xfrm>
            <a:off x="1837944" y="1645920"/>
            <a:ext cx="841248" cy="4572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Datos</a:t>
            </a:r>
            <a:endParaRPr lang="en-US" sz="800" dirty="0"/>
          </a:p>
        </p:txBody>
      </p:sp>
      <p:sp>
        <p:nvSpPr>
          <p:cNvPr id="10" name="Shape 7"/>
          <p:cNvSpPr/>
          <p:nvPr/>
        </p:nvSpPr>
        <p:spPr>
          <a:xfrm>
            <a:off x="2871216" y="1645920"/>
            <a:ext cx="1097280" cy="457200"/>
          </a:xfrm>
          <a:prstGeom prst="chevron">
            <a:avLst/>
          </a:prstGeom>
          <a:solidFill>
            <a:srgbClr val="58595B"/>
          </a:solidFill>
          <a:ln w="6350">
            <a:solidFill>
              <a:srgbClr val="FFFFFF"/>
            </a:solidFill>
            <a:prstDash val="solid"/>
          </a:ln>
        </p:spPr>
        <p:txBody>
          <a:bodyPr/>
          <a:lstStyle/>
          <a:p>
            <a:endParaRPr lang="es-PE"/>
          </a:p>
        </p:txBody>
      </p:sp>
      <p:sp>
        <p:nvSpPr>
          <p:cNvPr id="11" name="Text 8"/>
          <p:cNvSpPr txBox="1"/>
          <p:nvPr/>
        </p:nvSpPr>
        <p:spPr>
          <a:xfrm>
            <a:off x="2999232" y="1645920"/>
            <a:ext cx="841248" cy="4572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Procesamiento</a:t>
            </a:r>
            <a:endParaRPr lang="en-US" sz="800" dirty="0"/>
          </a:p>
        </p:txBody>
      </p:sp>
      <p:sp>
        <p:nvSpPr>
          <p:cNvPr id="12" name="Shape 9"/>
          <p:cNvSpPr/>
          <p:nvPr/>
        </p:nvSpPr>
        <p:spPr>
          <a:xfrm>
            <a:off x="4032504" y="1645920"/>
            <a:ext cx="1097280" cy="457200"/>
          </a:xfrm>
          <a:prstGeom prst="chevron">
            <a:avLst/>
          </a:prstGeom>
          <a:solidFill>
            <a:srgbClr val="58595B"/>
          </a:solidFill>
          <a:ln w="6350">
            <a:solidFill>
              <a:srgbClr val="FFFFFF"/>
            </a:solidFill>
            <a:prstDash val="solid"/>
          </a:ln>
        </p:spPr>
        <p:txBody>
          <a:bodyPr/>
          <a:lstStyle/>
          <a:p>
            <a:endParaRPr lang="es-PE"/>
          </a:p>
        </p:txBody>
      </p:sp>
      <p:sp>
        <p:nvSpPr>
          <p:cNvPr id="13" name="Text 10"/>
          <p:cNvSpPr txBox="1"/>
          <p:nvPr/>
        </p:nvSpPr>
        <p:spPr>
          <a:xfrm>
            <a:off x="4160520" y="1645920"/>
            <a:ext cx="841248" cy="4572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Análisis</a:t>
            </a:r>
            <a:endParaRPr lang="en-US" sz="800" dirty="0"/>
          </a:p>
        </p:txBody>
      </p:sp>
      <p:sp>
        <p:nvSpPr>
          <p:cNvPr id="14" name="Shape 11"/>
          <p:cNvSpPr/>
          <p:nvPr/>
        </p:nvSpPr>
        <p:spPr>
          <a:xfrm>
            <a:off x="5193792" y="1645920"/>
            <a:ext cx="1097280" cy="457200"/>
          </a:xfrm>
          <a:prstGeom prst="chevron">
            <a:avLst/>
          </a:prstGeom>
          <a:solidFill>
            <a:srgbClr val="58595B"/>
          </a:solidFill>
          <a:ln w="6350">
            <a:solidFill>
              <a:srgbClr val="FFFFFF"/>
            </a:solidFill>
            <a:prstDash val="solid"/>
          </a:ln>
        </p:spPr>
        <p:txBody>
          <a:bodyPr/>
          <a:lstStyle/>
          <a:p>
            <a:endParaRPr lang="es-PE"/>
          </a:p>
        </p:txBody>
      </p:sp>
      <p:sp>
        <p:nvSpPr>
          <p:cNvPr id="15" name="Text 12"/>
          <p:cNvSpPr txBox="1"/>
          <p:nvPr/>
        </p:nvSpPr>
        <p:spPr>
          <a:xfrm>
            <a:off x="5321808" y="1645920"/>
            <a:ext cx="841248" cy="4572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Evidencia</a:t>
            </a:r>
            <a:endParaRPr lang="en-US" sz="800" dirty="0"/>
          </a:p>
        </p:txBody>
      </p:sp>
      <p:sp>
        <p:nvSpPr>
          <p:cNvPr id="16" name="Shape 13"/>
          <p:cNvSpPr/>
          <p:nvPr/>
        </p:nvSpPr>
        <p:spPr>
          <a:xfrm>
            <a:off x="6355080" y="1645920"/>
            <a:ext cx="1097280" cy="457200"/>
          </a:xfrm>
          <a:prstGeom prst="chevron">
            <a:avLst/>
          </a:prstGeom>
          <a:solidFill>
            <a:srgbClr val="ED2E45"/>
          </a:solidFill>
          <a:ln w="6350">
            <a:solidFill>
              <a:srgbClr val="FFFFFF"/>
            </a:solidFill>
            <a:prstDash val="solid"/>
          </a:ln>
        </p:spPr>
        <p:txBody>
          <a:bodyPr/>
          <a:lstStyle/>
          <a:p>
            <a:endParaRPr lang="es-PE"/>
          </a:p>
        </p:txBody>
      </p:sp>
      <p:sp>
        <p:nvSpPr>
          <p:cNvPr id="17" name="Text 14"/>
          <p:cNvSpPr txBox="1"/>
          <p:nvPr/>
        </p:nvSpPr>
        <p:spPr>
          <a:xfrm>
            <a:off x="6483096" y="1645920"/>
            <a:ext cx="841248" cy="4572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Solución</a:t>
            </a:r>
            <a:endParaRPr lang="en-US" sz="800" dirty="0"/>
          </a:p>
        </p:txBody>
      </p:sp>
      <p:sp>
        <p:nvSpPr>
          <p:cNvPr id="18" name="Shape 15"/>
          <p:cNvSpPr/>
          <p:nvPr/>
        </p:nvSpPr>
        <p:spPr>
          <a:xfrm>
            <a:off x="7516368" y="1645920"/>
            <a:ext cx="1097280" cy="457200"/>
          </a:xfrm>
          <a:prstGeom prst="chevron">
            <a:avLst/>
          </a:prstGeom>
          <a:solidFill>
            <a:srgbClr val="F8C9D0"/>
          </a:solidFill>
          <a:ln w="6350">
            <a:solidFill>
              <a:srgbClr val="FFFFFF"/>
            </a:solidFill>
            <a:prstDash val="solid"/>
          </a:ln>
        </p:spPr>
        <p:txBody>
          <a:bodyPr/>
          <a:lstStyle/>
          <a:p>
            <a:endParaRPr lang="es-PE"/>
          </a:p>
        </p:txBody>
      </p:sp>
      <p:sp>
        <p:nvSpPr>
          <p:cNvPr id="19" name="Text 16"/>
          <p:cNvSpPr txBox="1"/>
          <p:nvPr/>
        </p:nvSpPr>
        <p:spPr>
          <a:xfrm>
            <a:off x="7644384" y="1645920"/>
            <a:ext cx="841248" cy="457200"/>
          </a:xfrm>
          <a:prstGeom prst="rect">
            <a:avLst/>
          </a:prstGeom>
          <a:noFill/>
          <a:ln/>
        </p:spPr>
        <p:txBody>
          <a:bodyPr wrap="square" lIns="0" tIns="0" rIns="0" bIns="0" rtlCol="0" anchor="ctr"/>
          <a:lstStyle/>
          <a:p>
            <a:pPr marL="0" indent="0" algn="ctr">
              <a:buNone/>
            </a:pPr>
            <a:r>
              <a:rPr lang="en-US" sz="800" b="1" dirty="0">
                <a:solidFill>
                  <a:srgbClr val="C4122F"/>
                </a:solidFill>
                <a:latin typeface="Calibri" pitchFamily="34" charset="0"/>
                <a:ea typeface="Calibri" pitchFamily="34" charset="-122"/>
                <a:cs typeface="Calibri" pitchFamily="34" charset="-120"/>
              </a:rPr>
              <a:t>Política pública</a:t>
            </a:r>
            <a:endParaRPr lang="en-US" sz="800" dirty="0"/>
          </a:p>
        </p:txBody>
      </p:sp>
      <p:sp>
        <p:nvSpPr>
          <p:cNvPr id="20" name="Text 17"/>
          <p:cNvSpPr txBox="1"/>
          <p:nvPr/>
        </p:nvSpPr>
        <p:spPr>
          <a:xfrm>
            <a:off x="6355080" y="2130552"/>
            <a:ext cx="1097280" cy="228600"/>
          </a:xfrm>
          <a:prstGeom prst="rect">
            <a:avLst/>
          </a:prstGeom>
          <a:noFill/>
          <a:ln/>
        </p:spPr>
        <p:txBody>
          <a:bodyPr wrap="square" lIns="0" tIns="0" rIns="0" bIns="0" rtlCol="0" anchor="t"/>
          <a:lstStyle/>
          <a:p>
            <a:pPr marL="0" indent="0" algn="ctr">
              <a:buNone/>
            </a:pPr>
            <a:r>
              <a:rPr lang="en-US" sz="1000" b="1" dirty="0">
                <a:solidFill>
                  <a:srgbClr val="ED2E45"/>
                </a:solidFill>
                <a:latin typeface="Calibri" pitchFamily="34" charset="0"/>
                <a:ea typeface="Calibri" pitchFamily="34" charset="-122"/>
                <a:cs typeface="Calibri" pitchFamily="34" charset="-120"/>
              </a:rPr>
              <a:t>HOY</a:t>
            </a:r>
            <a:endParaRPr lang="en-US" sz="1000" dirty="0"/>
          </a:p>
        </p:txBody>
      </p:sp>
      <p:sp>
        <p:nvSpPr>
          <p:cNvPr id="21" name="Shape 18"/>
          <p:cNvSpPr/>
          <p:nvPr/>
        </p:nvSpPr>
        <p:spPr>
          <a:xfrm>
            <a:off x="548640" y="2487168"/>
            <a:ext cx="1499616" cy="1572768"/>
          </a:xfrm>
          <a:prstGeom prst="roundRect">
            <a:avLst>
              <a:gd name="adj" fmla="val 4878"/>
            </a:avLst>
          </a:prstGeom>
          <a:solidFill>
            <a:srgbClr val="F2F2F2"/>
          </a:solidFill>
          <a:ln w="12700">
            <a:solidFill>
              <a:srgbClr val="F2F2F2"/>
            </a:solidFill>
            <a:prstDash val="solid"/>
          </a:ln>
        </p:spPr>
        <p:txBody>
          <a:bodyPr/>
          <a:lstStyle/>
          <a:p>
            <a:endParaRPr lang="es-PE"/>
          </a:p>
        </p:txBody>
      </p:sp>
      <p:sp>
        <p:nvSpPr>
          <p:cNvPr id="22" name="Text 19"/>
          <p:cNvSpPr txBox="1"/>
          <p:nvPr/>
        </p:nvSpPr>
        <p:spPr>
          <a:xfrm>
            <a:off x="658368" y="2578608"/>
            <a:ext cx="1280160" cy="256032"/>
          </a:xfrm>
          <a:prstGeom prst="rect">
            <a:avLst/>
          </a:prstGeom>
          <a:noFill/>
          <a:ln/>
        </p:spPr>
        <p:txBody>
          <a:bodyPr wrap="square" lIns="0" tIns="0" rIns="0" bIns="0" rtlCol="0" anchor="t"/>
          <a:lstStyle/>
          <a:p>
            <a:pPr marL="0" indent="0">
              <a:buNone/>
            </a:pPr>
            <a:r>
              <a:rPr lang="en-US" sz="1200" b="1" dirty="0">
                <a:solidFill>
                  <a:srgbClr val="ED2E45"/>
                </a:solidFill>
                <a:latin typeface="Montserrat" pitchFamily="34" charset="0"/>
                <a:ea typeface="Montserrat" pitchFamily="34" charset="-122"/>
                <a:cs typeface="Montserrat" pitchFamily="34" charset="-120"/>
              </a:rPr>
              <a:t>Módulo 1</a:t>
            </a:r>
            <a:endParaRPr lang="en-US" sz="1200" dirty="0"/>
          </a:p>
        </p:txBody>
      </p:sp>
      <p:sp>
        <p:nvSpPr>
          <p:cNvPr id="23" name="Text 20"/>
          <p:cNvSpPr txBox="1"/>
          <p:nvPr/>
        </p:nvSpPr>
        <p:spPr>
          <a:xfrm>
            <a:off x="658368" y="2834640"/>
            <a:ext cx="1280160" cy="201168"/>
          </a:xfrm>
          <a:prstGeom prst="rect">
            <a:avLst/>
          </a:prstGeom>
          <a:noFill/>
          <a:ln/>
        </p:spPr>
        <p:txBody>
          <a:bodyPr wrap="square" lIns="0" tIns="0" rIns="0" bIns="0" rtlCol="0" anchor="t"/>
          <a:lstStyle/>
          <a:p>
            <a:pPr marL="0" indent="0">
              <a:buNone/>
            </a:pPr>
            <a:r>
              <a:rPr lang="en-US" sz="950" b="1" dirty="0">
                <a:solidFill>
                  <a:srgbClr val="58595B"/>
                </a:solidFill>
                <a:latin typeface="Calibri" pitchFamily="34" charset="0"/>
                <a:ea typeface="Calibri" pitchFamily="34" charset="-122"/>
                <a:cs typeface="Calibri" pitchFamily="34" charset="-120"/>
              </a:rPr>
              <a:t>MIMP · UNFPA</a:t>
            </a:r>
            <a:endParaRPr lang="en-US" sz="950" dirty="0"/>
          </a:p>
        </p:txBody>
      </p:sp>
      <p:sp>
        <p:nvSpPr>
          <p:cNvPr id="24" name="Text 21"/>
          <p:cNvSpPr txBox="1"/>
          <p:nvPr/>
        </p:nvSpPr>
        <p:spPr>
          <a:xfrm>
            <a:off x="658368" y="3072384"/>
            <a:ext cx="1280160" cy="932688"/>
          </a:xfrm>
          <a:prstGeom prst="rect">
            <a:avLst/>
          </a:prstGeom>
          <a:noFill/>
          <a:ln/>
        </p:spPr>
        <p:txBody>
          <a:bodyPr wrap="square" lIns="0" tIns="0" rIns="0" bIns="0" rtlCol="0" anchor="t"/>
          <a:lstStyle/>
          <a:p>
            <a:pPr marL="0" indent="0">
              <a:buNone/>
            </a:pPr>
            <a:r>
              <a:rPr lang="en-US" sz="1000" dirty="0">
                <a:solidFill>
                  <a:srgbClr val="404040"/>
                </a:solidFill>
                <a:latin typeface="Calibri" pitchFamily="34" charset="0"/>
                <a:ea typeface="Calibri" pitchFamily="34" charset="-122"/>
                <a:cs typeface="Calibri" pitchFamily="34" charset="-120"/>
              </a:rPr>
              <a:t>Problema de la violencia; enfoque de derechos humanos, territorial e interseccional</a:t>
            </a:r>
            <a:endParaRPr lang="en-US" sz="1000" dirty="0"/>
          </a:p>
        </p:txBody>
      </p:sp>
      <p:sp>
        <p:nvSpPr>
          <p:cNvPr id="25" name="Shape 22"/>
          <p:cNvSpPr/>
          <p:nvPr/>
        </p:nvSpPr>
        <p:spPr>
          <a:xfrm>
            <a:off x="2185416" y="2487168"/>
            <a:ext cx="1499616" cy="1572768"/>
          </a:xfrm>
          <a:prstGeom prst="roundRect">
            <a:avLst>
              <a:gd name="adj" fmla="val 4878"/>
            </a:avLst>
          </a:prstGeom>
          <a:solidFill>
            <a:srgbClr val="F2F2F2"/>
          </a:solidFill>
          <a:ln w="12700">
            <a:solidFill>
              <a:srgbClr val="F2F2F2"/>
            </a:solidFill>
            <a:prstDash val="solid"/>
          </a:ln>
        </p:spPr>
        <p:txBody>
          <a:bodyPr/>
          <a:lstStyle/>
          <a:p>
            <a:endParaRPr lang="es-PE"/>
          </a:p>
        </p:txBody>
      </p:sp>
      <p:sp>
        <p:nvSpPr>
          <p:cNvPr id="26" name="Text 23"/>
          <p:cNvSpPr txBox="1"/>
          <p:nvPr/>
        </p:nvSpPr>
        <p:spPr>
          <a:xfrm>
            <a:off x="2295144" y="2578608"/>
            <a:ext cx="1280160" cy="256032"/>
          </a:xfrm>
          <a:prstGeom prst="rect">
            <a:avLst/>
          </a:prstGeom>
          <a:noFill/>
          <a:ln/>
        </p:spPr>
        <p:txBody>
          <a:bodyPr wrap="square" lIns="0" tIns="0" rIns="0" bIns="0" rtlCol="0" anchor="t"/>
          <a:lstStyle/>
          <a:p>
            <a:pPr marL="0" indent="0">
              <a:buNone/>
            </a:pPr>
            <a:r>
              <a:rPr lang="en-US" sz="1200" b="1" dirty="0">
                <a:solidFill>
                  <a:srgbClr val="ED2E45"/>
                </a:solidFill>
                <a:latin typeface="Montserrat" pitchFamily="34" charset="0"/>
                <a:ea typeface="Montserrat" pitchFamily="34" charset="-122"/>
                <a:cs typeface="Montserrat" pitchFamily="34" charset="-120"/>
              </a:rPr>
              <a:t>Módulo 2</a:t>
            </a:r>
            <a:endParaRPr lang="en-US" sz="1200" dirty="0"/>
          </a:p>
        </p:txBody>
      </p:sp>
      <p:sp>
        <p:nvSpPr>
          <p:cNvPr id="27" name="Text 24"/>
          <p:cNvSpPr txBox="1"/>
          <p:nvPr/>
        </p:nvSpPr>
        <p:spPr>
          <a:xfrm>
            <a:off x="2295144" y="2834640"/>
            <a:ext cx="1280160" cy="201168"/>
          </a:xfrm>
          <a:prstGeom prst="rect">
            <a:avLst/>
          </a:prstGeom>
          <a:noFill/>
          <a:ln/>
        </p:spPr>
        <p:txBody>
          <a:bodyPr wrap="square" lIns="0" tIns="0" rIns="0" bIns="0" rtlCol="0" anchor="t"/>
          <a:lstStyle/>
          <a:p>
            <a:pPr marL="0" indent="0">
              <a:buNone/>
            </a:pPr>
            <a:r>
              <a:rPr lang="en-US" sz="950" b="1" dirty="0">
                <a:solidFill>
                  <a:srgbClr val="58595B"/>
                </a:solidFill>
                <a:latin typeface="Calibri" pitchFamily="34" charset="0"/>
                <a:ea typeface="Calibri" pitchFamily="34" charset="-122"/>
                <a:cs typeface="Calibri" pitchFamily="34" charset="-120"/>
              </a:rPr>
              <a:t>Ipsos</a:t>
            </a:r>
            <a:endParaRPr lang="en-US" sz="950" dirty="0"/>
          </a:p>
        </p:txBody>
      </p:sp>
      <p:sp>
        <p:nvSpPr>
          <p:cNvPr id="28" name="Text 25"/>
          <p:cNvSpPr txBox="1"/>
          <p:nvPr/>
        </p:nvSpPr>
        <p:spPr>
          <a:xfrm>
            <a:off x="2295144" y="3072384"/>
            <a:ext cx="1280160" cy="932688"/>
          </a:xfrm>
          <a:prstGeom prst="rect">
            <a:avLst/>
          </a:prstGeom>
          <a:noFill/>
          <a:ln/>
        </p:spPr>
        <p:txBody>
          <a:bodyPr wrap="square" lIns="0" tIns="0" rIns="0" bIns="0" rtlCol="0" anchor="t"/>
          <a:lstStyle/>
          <a:p>
            <a:pPr marL="0" indent="0">
              <a:buNone/>
            </a:pPr>
            <a:r>
              <a:rPr lang="en-US" sz="1000" dirty="0">
                <a:solidFill>
                  <a:srgbClr val="404040"/>
                </a:solidFill>
                <a:latin typeface="Calibri" pitchFamily="34" charset="0"/>
                <a:ea typeface="Calibri" pitchFamily="34" charset="-122"/>
                <a:cs typeface="Calibri" pitchFamily="34" charset="-120"/>
              </a:rPr>
              <a:t>Fuentes de datos, limpieza con Python y Pandas, extracción de portales oficiales</a:t>
            </a:r>
            <a:endParaRPr lang="en-US" sz="1000" dirty="0"/>
          </a:p>
        </p:txBody>
      </p:sp>
      <p:sp>
        <p:nvSpPr>
          <p:cNvPr id="29" name="Shape 26"/>
          <p:cNvSpPr/>
          <p:nvPr/>
        </p:nvSpPr>
        <p:spPr>
          <a:xfrm>
            <a:off x="3822192" y="2487168"/>
            <a:ext cx="1499616" cy="1572768"/>
          </a:xfrm>
          <a:prstGeom prst="roundRect">
            <a:avLst>
              <a:gd name="adj" fmla="val 4878"/>
            </a:avLst>
          </a:prstGeom>
          <a:solidFill>
            <a:srgbClr val="F2F2F2"/>
          </a:solidFill>
          <a:ln w="12700">
            <a:solidFill>
              <a:srgbClr val="F2F2F2"/>
            </a:solidFill>
            <a:prstDash val="solid"/>
          </a:ln>
        </p:spPr>
        <p:txBody>
          <a:bodyPr/>
          <a:lstStyle/>
          <a:p>
            <a:endParaRPr lang="es-PE"/>
          </a:p>
        </p:txBody>
      </p:sp>
      <p:sp>
        <p:nvSpPr>
          <p:cNvPr id="30" name="Text 27"/>
          <p:cNvSpPr txBox="1"/>
          <p:nvPr/>
        </p:nvSpPr>
        <p:spPr>
          <a:xfrm>
            <a:off x="3931920" y="2578608"/>
            <a:ext cx="1280160" cy="256032"/>
          </a:xfrm>
          <a:prstGeom prst="rect">
            <a:avLst/>
          </a:prstGeom>
          <a:noFill/>
          <a:ln/>
        </p:spPr>
        <p:txBody>
          <a:bodyPr wrap="square" lIns="0" tIns="0" rIns="0" bIns="0" rtlCol="0" anchor="t"/>
          <a:lstStyle/>
          <a:p>
            <a:pPr marL="0" indent="0">
              <a:buNone/>
            </a:pPr>
            <a:r>
              <a:rPr lang="en-US" sz="1200" b="1" dirty="0">
                <a:solidFill>
                  <a:srgbClr val="ED2E45"/>
                </a:solidFill>
                <a:latin typeface="Montserrat" pitchFamily="34" charset="0"/>
                <a:ea typeface="Montserrat" pitchFamily="34" charset="-122"/>
                <a:cs typeface="Montserrat" pitchFamily="34" charset="-120"/>
              </a:rPr>
              <a:t>Módulo 3</a:t>
            </a:r>
            <a:endParaRPr lang="en-US" sz="1200" dirty="0"/>
          </a:p>
        </p:txBody>
      </p:sp>
      <p:sp>
        <p:nvSpPr>
          <p:cNvPr id="31" name="Text 28"/>
          <p:cNvSpPr txBox="1"/>
          <p:nvPr/>
        </p:nvSpPr>
        <p:spPr>
          <a:xfrm>
            <a:off x="3931920" y="2834640"/>
            <a:ext cx="1280160" cy="201168"/>
          </a:xfrm>
          <a:prstGeom prst="rect">
            <a:avLst/>
          </a:prstGeom>
          <a:noFill/>
          <a:ln/>
        </p:spPr>
        <p:txBody>
          <a:bodyPr wrap="square" lIns="0" tIns="0" rIns="0" bIns="0" rtlCol="0" anchor="t"/>
          <a:lstStyle/>
          <a:p>
            <a:pPr marL="0" indent="0">
              <a:buNone/>
            </a:pPr>
            <a:r>
              <a:rPr lang="en-US" sz="950" b="1" dirty="0">
                <a:solidFill>
                  <a:srgbClr val="58595B"/>
                </a:solidFill>
                <a:latin typeface="Calibri" pitchFamily="34" charset="0"/>
                <a:ea typeface="Calibri" pitchFamily="34" charset="-122"/>
                <a:cs typeface="Calibri" pitchFamily="34" charset="-120"/>
              </a:rPr>
              <a:t>LabStat-INEI</a:t>
            </a:r>
            <a:endParaRPr lang="en-US" sz="950" dirty="0"/>
          </a:p>
        </p:txBody>
      </p:sp>
      <p:sp>
        <p:nvSpPr>
          <p:cNvPr id="32" name="Text 29"/>
          <p:cNvSpPr txBox="1"/>
          <p:nvPr/>
        </p:nvSpPr>
        <p:spPr>
          <a:xfrm>
            <a:off x="3931920" y="3072384"/>
            <a:ext cx="1280160" cy="932688"/>
          </a:xfrm>
          <a:prstGeom prst="rect">
            <a:avLst/>
          </a:prstGeom>
          <a:noFill/>
          <a:ln/>
        </p:spPr>
        <p:txBody>
          <a:bodyPr wrap="square" lIns="0" tIns="0" rIns="0" bIns="0" rtlCol="0" anchor="t"/>
          <a:lstStyle/>
          <a:p>
            <a:pPr marL="0" indent="0">
              <a:buNone/>
            </a:pPr>
            <a:r>
              <a:rPr lang="en-US" sz="1000" dirty="0">
                <a:solidFill>
                  <a:srgbClr val="404040"/>
                </a:solidFill>
                <a:latin typeface="Calibri" pitchFamily="34" charset="0"/>
                <a:ea typeface="Calibri" pitchFamily="34" charset="-122"/>
                <a:cs typeface="Calibri" pitchFamily="34" charset="-120"/>
              </a:rPr>
              <a:t>Muestreo, regresión logística, ACM, conglomerados, grafos y GIS</a:t>
            </a:r>
            <a:endParaRPr lang="en-US" sz="1000" dirty="0"/>
          </a:p>
        </p:txBody>
      </p:sp>
      <p:sp>
        <p:nvSpPr>
          <p:cNvPr id="33" name="Shape 30"/>
          <p:cNvSpPr/>
          <p:nvPr/>
        </p:nvSpPr>
        <p:spPr>
          <a:xfrm>
            <a:off x="5458968" y="2487168"/>
            <a:ext cx="1499616" cy="1572768"/>
          </a:xfrm>
          <a:prstGeom prst="roundRect">
            <a:avLst>
              <a:gd name="adj" fmla="val 4878"/>
            </a:avLst>
          </a:prstGeom>
          <a:solidFill>
            <a:srgbClr val="F2F2F2"/>
          </a:solidFill>
          <a:ln w="12700">
            <a:solidFill>
              <a:srgbClr val="F2F2F2"/>
            </a:solidFill>
            <a:prstDash val="solid"/>
          </a:ln>
        </p:spPr>
        <p:txBody>
          <a:bodyPr/>
          <a:lstStyle/>
          <a:p>
            <a:endParaRPr lang="es-PE"/>
          </a:p>
        </p:txBody>
      </p:sp>
      <p:sp>
        <p:nvSpPr>
          <p:cNvPr id="34" name="Text 31"/>
          <p:cNvSpPr txBox="1"/>
          <p:nvPr/>
        </p:nvSpPr>
        <p:spPr>
          <a:xfrm>
            <a:off x="5568696" y="2578608"/>
            <a:ext cx="1280160" cy="256032"/>
          </a:xfrm>
          <a:prstGeom prst="rect">
            <a:avLst/>
          </a:prstGeom>
          <a:noFill/>
          <a:ln/>
        </p:spPr>
        <p:txBody>
          <a:bodyPr wrap="square" lIns="0" tIns="0" rIns="0" bIns="0" rtlCol="0" anchor="t"/>
          <a:lstStyle/>
          <a:p>
            <a:pPr marL="0" indent="0">
              <a:buNone/>
            </a:pPr>
            <a:r>
              <a:rPr lang="en-US" sz="1200" b="1" dirty="0">
                <a:solidFill>
                  <a:srgbClr val="ED2E45"/>
                </a:solidFill>
                <a:latin typeface="Montserrat" pitchFamily="34" charset="0"/>
                <a:ea typeface="Montserrat" pitchFamily="34" charset="-122"/>
                <a:cs typeface="Montserrat" pitchFamily="34" charset="-120"/>
              </a:rPr>
              <a:t>Módulo 4</a:t>
            </a:r>
            <a:endParaRPr lang="en-US" sz="1200" dirty="0"/>
          </a:p>
        </p:txBody>
      </p:sp>
      <p:sp>
        <p:nvSpPr>
          <p:cNvPr id="35" name="Text 32"/>
          <p:cNvSpPr txBox="1"/>
          <p:nvPr/>
        </p:nvSpPr>
        <p:spPr>
          <a:xfrm>
            <a:off x="5568696" y="2834640"/>
            <a:ext cx="1280160" cy="201168"/>
          </a:xfrm>
          <a:prstGeom prst="rect">
            <a:avLst/>
          </a:prstGeom>
          <a:noFill/>
          <a:ln/>
        </p:spPr>
        <p:txBody>
          <a:bodyPr wrap="square" lIns="0" tIns="0" rIns="0" bIns="0" rtlCol="0" anchor="t"/>
          <a:lstStyle/>
          <a:p>
            <a:pPr marL="0" indent="0">
              <a:buNone/>
            </a:pPr>
            <a:r>
              <a:rPr lang="en-US" sz="950" b="1" dirty="0">
                <a:solidFill>
                  <a:srgbClr val="58595B"/>
                </a:solidFill>
                <a:latin typeface="Calibri" pitchFamily="34" charset="0"/>
                <a:ea typeface="Calibri" pitchFamily="34" charset="-122"/>
                <a:cs typeface="Calibri" pitchFamily="34" charset="-120"/>
              </a:rPr>
              <a:t>LabStat-INEI</a:t>
            </a:r>
            <a:endParaRPr lang="en-US" sz="950" dirty="0"/>
          </a:p>
        </p:txBody>
      </p:sp>
      <p:sp>
        <p:nvSpPr>
          <p:cNvPr id="36" name="Text 33"/>
          <p:cNvSpPr txBox="1"/>
          <p:nvPr/>
        </p:nvSpPr>
        <p:spPr>
          <a:xfrm>
            <a:off x="5568696" y="3072384"/>
            <a:ext cx="1280160" cy="932688"/>
          </a:xfrm>
          <a:prstGeom prst="rect">
            <a:avLst/>
          </a:prstGeom>
          <a:noFill/>
          <a:ln/>
        </p:spPr>
        <p:txBody>
          <a:bodyPr wrap="square" lIns="0" tIns="0" rIns="0" bIns="0" rtlCol="0" anchor="t"/>
          <a:lstStyle/>
          <a:p>
            <a:pPr marL="0" indent="0">
              <a:buNone/>
            </a:pPr>
            <a:r>
              <a:rPr lang="en-US" sz="1000" dirty="0">
                <a:solidFill>
                  <a:srgbClr val="404040"/>
                </a:solidFill>
                <a:latin typeface="Calibri" pitchFamily="34" charset="0"/>
                <a:ea typeface="Calibri" pitchFamily="34" charset="-122"/>
                <a:cs typeface="Calibri" pitchFamily="34" charset="-120"/>
              </a:rPr>
              <a:t>Metadata, agentes e inteligencia artificial aplicada</a:t>
            </a:r>
            <a:endParaRPr lang="en-US" sz="1000" dirty="0"/>
          </a:p>
        </p:txBody>
      </p:sp>
      <p:sp>
        <p:nvSpPr>
          <p:cNvPr id="37" name="Shape 34"/>
          <p:cNvSpPr/>
          <p:nvPr/>
        </p:nvSpPr>
        <p:spPr>
          <a:xfrm>
            <a:off x="7095744" y="2487168"/>
            <a:ext cx="1499616" cy="1572768"/>
          </a:xfrm>
          <a:prstGeom prst="roundRect">
            <a:avLst>
              <a:gd name="adj" fmla="val 4878"/>
            </a:avLst>
          </a:prstGeom>
          <a:solidFill>
            <a:srgbClr val="F2F2F2"/>
          </a:solidFill>
          <a:ln w="12700">
            <a:solidFill>
              <a:srgbClr val="F2F2F2"/>
            </a:solidFill>
            <a:prstDash val="solid"/>
          </a:ln>
        </p:spPr>
        <p:txBody>
          <a:bodyPr/>
          <a:lstStyle/>
          <a:p>
            <a:endParaRPr lang="es-PE"/>
          </a:p>
        </p:txBody>
      </p:sp>
      <p:sp>
        <p:nvSpPr>
          <p:cNvPr id="38" name="Text 35"/>
          <p:cNvSpPr txBox="1"/>
          <p:nvPr/>
        </p:nvSpPr>
        <p:spPr>
          <a:xfrm>
            <a:off x="7205472" y="2578608"/>
            <a:ext cx="1280160" cy="256032"/>
          </a:xfrm>
          <a:prstGeom prst="rect">
            <a:avLst/>
          </a:prstGeom>
          <a:noFill/>
          <a:ln/>
        </p:spPr>
        <p:txBody>
          <a:bodyPr wrap="square" lIns="0" tIns="0" rIns="0" bIns="0" rtlCol="0" anchor="t"/>
          <a:lstStyle/>
          <a:p>
            <a:pPr marL="0" indent="0">
              <a:buNone/>
            </a:pPr>
            <a:r>
              <a:rPr lang="en-US" sz="1200" b="1" dirty="0">
                <a:solidFill>
                  <a:srgbClr val="ED2E45"/>
                </a:solidFill>
                <a:latin typeface="Montserrat" pitchFamily="34" charset="0"/>
                <a:ea typeface="Montserrat" pitchFamily="34" charset="-122"/>
                <a:cs typeface="Montserrat" pitchFamily="34" charset="-120"/>
              </a:rPr>
              <a:t>Módulo 5</a:t>
            </a:r>
            <a:endParaRPr lang="en-US" sz="1200" dirty="0"/>
          </a:p>
        </p:txBody>
      </p:sp>
      <p:sp>
        <p:nvSpPr>
          <p:cNvPr id="39" name="Text 36"/>
          <p:cNvSpPr txBox="1"/>
          <p:nvPr/>
        </p:nvSpPr>
        <p:spPr>
          <a:xfrm>
            <a:off x="7205472" y="2834640"/>
            <a:ext cx="1280160" cy="201168"/>
          </a:xfrm>
          <a:prstGeom prst="rect">
            <a:avLst/>
          </a:prstGeom>
          <a:noFill/>
          <a:ln/>
        </p:spPr>
        <p:txBody>
          <a:bodyPr wrap="square" lIns="0" tIns="0" rIns="0" bIns="0" rtlCol="0" anchor="t"/>
          <a:lstStyle/>
          <a:p>
            <a:pPr marL="0" indent="0">
              <a:buNone/>
            </a:pPr>
            <a:r>
              <a:rPr lang="en-US" sz="950" b="1" dirty="0">
                <a:solidFill>
                  <a:srgbClr val="58595B"/>
                </a:solidFill>
                <a:latin typeface="Calibri" pitchFamily="34" charset="0"/>
                <a:ea typeface="Calibri" pitchFamily="34" charset="-122"/>
                <a:cs typeface="Calibri" pitchFamily="34" charset="-120"/>
              </a:rPr>
              <a:t>Ipsos · UNFPA</a:t>
            </a:r>
            <a:endParaRPr lang="en-US" sz="950" dirty="0"/>
          </a:p>
        </p:txBody>
      </p:sp>
      <p:sp>
        <p:nvSpPr>
          <p:cNvPr id="40" name="Text 37"/>
          <p:cNvSpPr txBox="1"/>
          <p:nvPr/>
        </p:nvSpPr>
        <p:spPr>
          <a:xfrm>
            <a:off x="7205472" y="3072384"/>
            <a:ext cx="1280160" cy="932688"/>
          </a:xfrm>
          <a:prstGeom prst="rect">
            <a:avLst/>
          </a:prstGeom>
          <a:noFill/>
          <a:ln/>
        </p:spPr>
        <p:txBody>
          <a:bodyPr wrap="square" lIns="0" tIns="0" rIns="0" bIns="0" rtlCol="0" anchor="t"/>
          <a:lstStyle/>
          <a:p>
            <a:pPr marL="0" indent="0">
              <a:buNone/>
            </a:pPr>
            <a:r>
              <a:rPr lang="en-US" sz="1000" dirty="0">
                <a:solidFill>
                  <a:srgbClr val="404040"/>
                </a:solidFill>
                <a:latin typeface="Calibri" pitchFamily="34" charset="0"/>
                <a:ea typeface="Calibri" pitchFamily="34" charset="-122"/>
                <a:cs typeface="Calibri" pitchFamily="34" charset="-120"/>
              </a:rPr>
              <a:t>Infografías, narrativas de datos y comunicación estratégica</a:t>
            </a:r>
            <a:endParaRPr lang="en-US" sz="1000" dirty="0"/>
          </a:p>
        </p:txBody>
      </p:sp>
      <p:sp>
        <p:nvSpPr>
          <p:cNvPr id="41" name="Shape 38"/>
          <p:cNvSpPr/>
          <p:nvPr/>
        </p:nvSpPr>
        <p:spPr>
          <a:xfrm>
            <a:off x="548640" y="4206240"/>
            <a:ext cx="8046720" cy="566928"/>
          </a:xfrm>
          <a:prstGeom prst="rect">
            <a:avLst/>
          </a:prstGeom>
          <a:solidFill>
            <a:srgbClr val="FDEBEE"/>
          </a:solidFill>
          <a:ln w="12700">
            <a:solidFill>
              <a:srgbClr val="FDEBEE"/>
            </a:solidFill>
            <a:prstDash val="solid"/>
          </a:ln>
        </p:spPr>
        <p:txBody>
          <a:bodyPr/>
          <a:lstStyle/>
          <a:p>
            <a:endParaRPr lang="es-PE"/>
          </a:p>
        </p:txBody>
      </p:sp>
      <p:sp>
        <p:nvSpPr>
          <p:cNvPr id="42" name="Text 39"/>
          <p:cNvSpPr txBox="1"/>
          <p:nvPr/>
        </p:nvSpPr>
        <p:spPr>
          <a:xfrm>
            <a:off x="731520" y="4206240"/>
            <a:ext cx="7680960" cy="566928"/>
          </a:xfrm>
          <a:prstGeom prst="rect">
            <a:avLst/>
          </a:prstGeom>
          <a:noFill/>
          <a:ln/>
        </p:spPr>
        <p:txBody>
          <a:bodyPr wrap="square" lIns="0" tIns="0" rIns="0" bIns="0" rtlCol="0" anchor="ctr"/>
          <a:lstStyle/>
          <a:p>
            <a:pPr marL="0" indent="0">
              <a:buNone/>
            </a:pPr>
            <a:r>
              <a:rPr lang="en-US" sz="1250" b="1" dirty="0">
                <a:solidFill>
                  <a:srgbClr val="ED2E45"/>
                </a:solidFill>
                <a:latin typeface="Calibri" pitchFamily="34" charset="0"/>
                <a:ea typeface="Calibri" pitchFamily="34" charset="-122"/>
                <a:cs typeface="Calibri" pitchFamily="34" charset="-120"/>
              </a:rPr>
              <a:t>Idea fuerza: </a:t>
            </a:r>
            <a:r>
              <a:rPr lang="en-US" sz="1250" dirty="0">
                <a:solidFill>
                  <a:srgbClr val="404040"/>
                </a:solidFill>
                <a:latin typeface="Calibri" pitchFamily="34" charset="0"/>
                <a:ea typeface="Calibri" pitchFamily="34" charset="-122"/>
                <a:cs typeface="Calibri" pitchFamily="34" charset="-120"/>
              </a:rPr>
              <a:t>el reto ahora es integrar todo lo aprendido para transformar un hallazgo basado en datos en una propuesta concreta de solución.</a:t>
            </a:r>
            <a:endParaRPr lang="en-US" sz="1250" dirty="0"/>
          </a:p>
        </p:txBody>
      </p:sp>
      <p:pic>
        <p:nvPicPr>
          <p:cNvPr id="43" name="Image 0" descr="a/logo_mimp_h.png"/>
          <p:cNvPicPr>
            <a:picLocks noChangeAspect="1"/>
          </p:cNvPicPr>
          <p:nvPr/>
        </p:nvPicPr>
        <p:blipFill>
          <a:blip r:embed="rId4"/>
          <a:stretch>
            <a:fillRect/>
          </a:stretch>
        </p:blipFill>
        <p:spPr>
          <a:xfrm>
            <a:off x="184709" y="110642"/>
            <a:ext cx="1790395" cy="417881"/>
          </a:xfrm>
          <a:prstGeom prst="rect">
            <a:avLst/>
          </a:prstGeom>
        </p:spPr>
      </p:pic>
      <p:pic>
        <p:nvPicPr>
          <p:cNvPr id="44" name="Image 1" descr="a/logo_30.png"/>
          <p:cNvPicPr>
            <a:picLocks noChangeAspect="1"/>
          </p:cNvPicPr>
          <p:nvPr/>
        </p:nvPicPr>
        <p:blipFill>
          <a:blip r:embed="rId5"/>
          <a:stretch>
            <a:fillRect/>
          </a:stretch>
        </p:blipFill>
        <p:spPr>
          <a:xfrm>
            <a:off x="3611880" y="2743"/>
            <a:ext cx="1158545" cy="622706"/>
          </a:xfrm>
          <a:prstGeom prst="rect">
            <a:avLst/>
          </a:prstGeom>
        </p:spPr>
      </p:pic>
      <p:pic>
        <p:nvPicPr>
          <p:cNvPr id="45" name="Image 2" descr="a/logo_peru_responde.png"/>
          <p:cNvPicPr>
            <a:picLocks noChangeAspect="1"/>
          </p:cNvPicPr>
          <p:nvPr/>
        </p:nvPicPr>
        <p:blipFill>
          <a:blip r:embed="rId6"/>
          <a:stretch>
            <a:fillRect/>
          </a:stretch>
        </p:blipFill>
        <p:spPr>
          <a:xfrm>
            <a:off x="7299655" y="102413"/>
            <a:ext cx="1602943" cy="475488"/>
          </a:xfrm>
          <a:prstGeom prst="rect">
            <a:avLst/>
          </a:prstGeom>
        </p:spPr>
      </p:pic>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65192"/>
            <a:ext cx="9144000" cy="178308"/>
          </a:xfrm>
          <a:prstGeom prst="rect">
            <a:avLst/>
          </a:prstGeom>
          <a:solidFill>
            <a:srgbClr val="ED2E45"/>
          </a:solidFill>
          <a:ln w="12700">
            <a:solidFill>
              <a:srgbClr val="ED2E45"/>
            </a:solidFill>
            <a:prstDash val="solid"/>
          </a:ln>
        </p:spPr>
        <p:txBody>
          <a:bodyPr/>
          <a:lstStyle/>
          <a:p>
            <a:endParaRPr lang="es-PE"/>
          </a:p>
        </p:txBody>
      </p:sp>
      <p:sp>
        <p:nvSpPr>
          <p:cNvPr id="3" name="Text 1"/>
          <p:cNvSpPr txBox="1"/>
          <p:nvPr/>
        </p:nvSpPr>
        <p:spPr>
          <a:xfrm>
            <a:off x="548640" y="4965192"/>
            <a:ext cx="2011680" cy="178308"/>
          </a:xfrm>
          <a:prstGeom prst="rect">
            <a:avLst/>
          </a:prstGeom>
          <a:noFill/>
          <a:ln/>
        </p:spPr>
        <p:txBody>
          <a:bodyPr wrap="square" lIns="0" tIns="0" rIns="0" bIns="0" rtlCol="0" anchor="ctr"/>
          <a:lstStyle/>
          <a:p>
            <a:pPr marL="0" indent="0">
              <a:buNone/>
            </a:pPr>
            <a:r>
              <a:rPr lang="en-US" sz="750" b="1" kern="0" spc="100" dirty="0">
                <a:solidFill>
                  <a:srgbClr val="FFFFFF"/>
                </a:solidFill>
                <a:latin typeface="Calibri" pitchFamily="34" charset="0"/>
                <a:ea typeface="Calibri" pitchFamily="34" charset="-122"/>
                <a:cs typeface="Calibri" pitchFamily="34" charset="-120"/>
              </a:rPr>
              <a:t>I · COMPRENDER</a:t>
            </a:r>
            <a:endParaRPr lang="en-US" sz="750" dirty="0"/>
          </a:p>
        </p:txBody>
      </p:sp>
      <p:sp>
        <p:nvSpPr>
          <p:cNvPr id="4" name="Text 2"/>
          <p:cNvSpPr txBox="1"/>
          <p:nvPr/>
        </p:nvSpPr>
        <p:spPr>
          <a:xfrm>
            <a:off x="256032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II · DISEÑAR</a:t>
            </a:r>
            <a:endParaRPr lang="en-US" sz="750" dirty="0"/>
          </a:p>
        </p:txBody>
      </p:sp>
      <p:sp>
        <p:nvSpPr>
          <p:cNvPr id="5" name="Text 3"/>
          <p:cNvSpPr txBox="1"/>
          <p:nvPr/>
        </p:nvSpPr>
        <p:spPr>
          <a:xfrm>
            <a:off x="457200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III · VALIDAR</a:t>
            </a:r>
            <a:endParaRPr lang="en-US" sz="750" dirty="0"/>
          </a:p>
        </p:txBody>
      </p:sp>
      <p:sp>
        <p:nvSpPr>
          <p:cNvPr id="6" name="Text 4"/>
          <p:cNvSpPr txBox="1"/>
          <p:nvPr/>
        </p:nvSpPr>
        <p:spPr>
          <a:xfrm>
            <a:off x="658368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IV · COMUNICAR</a:t>
            </a:r>
            <a:endParaRPr lang="en-US" sz="750" dirty="0"/>
          </a:p>
        </p:txBody>
      </p:sp>
      <p:sp>
        <p:nvSpPr>
          <p:cNvPr id="8" name="Text 5"/>
          <p:cNvSpPr txBox="1"/>
          <p:nvPr/>
        </p:nvSpPr>
        <p:spPr>
          <a:xfrm>
            <a:off x="548640" y="731520"/>
            <a:ext cx="8046720" cy="502920"/>
          </a:xfrm>
          <a:prstGeom prst="rect">
            <a:avLst/>
          </a:prstGeom>
          <a:noFill/>
          <a:ln/>
        </p:spPr>
        <p:txBody>
          <a:bodyPr wrap="square" lIns="0" tIns="0" rIns="0" bIns="0" rtlCol="0" anchor="ctr"/>
          <a:lstStyle/>
          <a:p>
            <a:pPr marL="0" indent="0">
              <a:buNone/>
            </a:pPr>
            <a:r>
              <a:rPr lang="en-US" sz="2200" b="1" dirty="0">
                <a:solidFill>
                  <a:srgbClr val="ED2E45"/>
                </a:solidFill>
                <a:latin typeface="Montserrat" pitchFamily="34" charset="0"/>
                <a:ea typeface="Montserrat" pitchFamily="34" charset="-122"/>
                <a:cs typeface="Montserrat" pitchFamily="34" charset="-120"/>
              </a:rPr>
              <a:t>Del dato a la decisión pública</a:t>
            </a:r>
            <a:endParaRPr lang="en-US" sz="2200" dirty="0"/>
          </a:p>
        </p:txBody>
      </p:sp>
      <p:sp>
        <p:nvSpPr>
          <p:cNvPr id="9" name="Text 6"/>
          <p:cNvSpPr txBox="1"/>
          <p:nvPr/>
        </p:nvSpPr>
        <p:spPr>
          <a:xfrm>
            <a:off x="548640" y="1216152"/>
            <a:ext cx="8046720" cy="274320"/>
          </a:xfrm>
          <a:prstGeom prst="rect">
            <a:avLst/>
          </a:prstGeom>
          <a:noFill/>
          <a:ln/>
        </p:spPr>
        <p:txBody>
          <a:bodyPr wrap="square" lIns="0" tIns="0" rIns="0" bIns="0" rtlCol="0" anchor="ctr"/>
          <a:lstStyle/>
          <a:p>
            <a:pPr marL="0" indent="0">
              <a:buNone/>
            </a:pPr>
            <a:r>
              <a:rPr lang="en-US" sz="1250" dirty="0">
                <a:solidFill>
                  <a:srgbClr val="6B6B6B"/>
                </a:solidFill>
                <a:latin typeface="Calibri" pitchFamily="34" charset="0"/>
                <a:ea typeface="Calibri" pitchFamily="34" charset="-122"/>
                <a:cs typeface="Calibri" pitchFamily="34" charset="-120"/>
              </a:rPr>
              <a:t>Cuatro términos que no son lo mismo</a:t>
            </a:r>
            <a:endParaRPr lang="en-US" sz="1250" dirty="0"/>
          </a:p>
        </p:txBody>
      </p:sp>
      <p:sp>
        <p:nvSpPr>
          <p:cNvPr id="10" name="Shape 7"/>
          <p:cNvSpPr/>
          <p:nvPr/>
        </p:nvSpPr>
        <p:spPr>
          <a:xfrm>
            <a:off x="548640" y="3611880"/>
            <a:ext cx="960120" cy="914400"/>
          </a:xfrm>
          <a:prstGeom prst="rect">
            <a:avLst/>
          </a:prstGeom>
          <a:solidFill>
            <a:srgbClr val="F8C9D0"/>
          </a:solidFill>
          <a:ln w="12700">
            <a:solidFill>
              <a:srgbClr val="F8C9D0"/>
            </a:solidFill>
            <a:prstDash val="solid"/>
          </a:ln>
        </p:spPr>
        <p:txBody>
          <a:bodyPr/>
          <a:lstStyle/>
          <a:p>
            <a:endParaRPr lang="es-PE"/>
          </a:p>
        </p:txBody>
      </p:sp>
      <p:sp>
        <p:nvSpPr>
          <p:cNvPr id="11" name="Text 8"/>
          <p:cNvSpPr txBox="1"/>
          <p:nvPr/>
        </p:nvSpPr>
        <p:spPr>
          <a:xfrm>
            <a:off x="640080" y="3685032"/>
            <a:ext cx="731520" cy="365760"/>
          </a:xfrm>
          <a:prstGeom prst="rect">
            <a:avLst/>
          </a:prstGeom>
          <a:noFill/>
          <a:ln/>
        </p:spPr>
        <p:txBody>
          <a:bodyPr wrap="square" lIns="0" tIns="0" rIns="0" bIns="0" rtlCol="0" anchor="t"/>
          <a:lstStyle/>
          <a:p>
            <a:pPr marL="0" indent="0">
              <a:buNone/>
            </a:pPr>
            <a:r>
              <a:rPr lang="en-US" sz="1800" b="1" dirty="0">
                <a:solidFill>
                  <a:srgbClr val="C4122F"/>
                </a:solidFill>
                <a:latin typeface="Montserrat" pitchFamily="34" charset="0"/>
                <a:ea typeface="Montserrat" pitchFamily="34" charset="-122"/>
                <a:cs typeface="Montserrat" pitchFamily="34" charset="-120"/>
              </a:rPr>
              <a:t>1</a:t>
            </a:r>
            <a:endParaRPr lang="en-US" sz="1800" dirty="0"/>
          </a:p>
        </p:txBody>
      </p:sp>
      <p:sp>
        <p:nvSpPr>
          <p:cNvPr id="12" name="Shape 9"/>
          <p:cNvSpPr/>
          <p:nvPr/>
        </p:nvSpPr>
        <p:spPr>
          <a:xfrm>
            <a:off x="1554480" y="3108960"/>
            <a:ext cx="960120" cy="1417320"/>
          </a:xfrm>
          <a:prstGeom prst="rect">
            <a:avLst/>
          </a:prstGeom>
          <a:solidFill>
            <a:srgbClr val="F28A99"/>
          </a:solidFill>
          <a:ln w="12700">
            <a:solidFill>
              <a:srgbClr val="F28A99"/>
            </a:solidFill>
            <a:prstDash val="solid"/>
          </a:ln>
        </p:spPr>
        <p:txBody>
          <a:bodyPr/>
          <a:lstStyle/>
          <a:p>
            <a:endParaRPr lang="es-PE"/>
          </a:p>
        </p:txBody>
      </p:sp>
      <p:sp>
        <p:nvSpPr>
          <p:cNvPr id="13" name="Text 10"/>
          <p:cNvSpPr txBox="1"/>
          <p:nvPr/>
        </p:nvSpPr>
        <p:spPr>
          <a:xfrm>
            <a:off x="1645920" y="3182112"/>
            <a:ext cx="731520" cy="365760"/>
          </a:xfrm>
          <a:prstGeom prst="rect">
            <a:avLst/>
          </a:prstGeom>
          <a:noFill/>
          <a:ln/>
        </p:spPr>
        <p:txBody>
          <a:bodyPr wrap="square" lIns="0" tIns="0" rIns="0" bIns="0" rtlCol="0" anchor="t"/>
          <a:lstStyle/>
          <a:p>
            <a:pPr marL="0" indent="0">
              <a:buNone/>
            </a:pPr>
            <a:r>
              <a:rPr lang="en-US" sz="1800" b="1" dirty="0">
                <a:solidFill>
                  <a:srgbClr val="C4122F"/>
                </a:solidFill>
                <a:latin typeface="Montserrat" pitchFamily="34" charset="0"/>
                <a:ea typeface="Montserrat" pitchFamily="34" charset="-122"/>
                <a:cs typeface="Montserrat" pitchFamily="34" charset="-120"/>
              </a:rPr>
              <a:t>2</a:t>
            </a:r>
            <a:endParaRPr lang="en-US" sz="1800" dirty="0"/>
          </a:p>
        </p:txBody>
      </p:sp>
      <p:sp>
        <p:nvSpPr>
          <p:cNvPr id="14" name="Shape 11"/>
          <p:cNvSpPr/>
          <p:nvPr/>
        </p:nvSpPr>
        <p:spPr>
          <a:xfrm>
            <a:off x="2560320" y="2606040"/>
            <a:ext cx="960120" cy="1920240"/>
          </a:xfrm>
          <a:prstGeom prst="rect">
            <a:avLst/>
          </a:prstGeom>
          <a:solidFill>
            <a:srgbClr val="ED2E45"/>
          </a:solidFill>
          <a:ln w="12700">
            <a:solidFill>
              <a:srgbClr val="ED2E45"/>
            </a:solidFill>
            <a:prstDash val="solid"/>
          </a:ln>
        </p:spPr>
        <p:txBody>
          <a:bodyPr/>
          <a:lstStyle/>
          <a:p>
            <a:endParaRPr lang="es-PE"/>
          </a:p>
        </p:txBody>
      </p:sp>
      <p:sp>
        <p:nvSpPr>
          <p:cNvPr id="15" name="Text 12"/>
          <p:cNvSpPr txBox="1"/>
          <p:nvPr/>
        </p:nvSpPr>
        <p:spPr>
          <a:xfrm>
            <a:off x="2651760" y="2679192"/>
            <a:ext cx="731520" cy="365760"/>
          </a:xfrm>
          <a:prstGeom prst="rect">
            <a:avLst/>
          </a:prstGeom>
          <a:noFill/>
          <a:ln/>
        </p:spPr>
        <p:txBody>
          <a:bodyPr wrap="square" lIns="0" tIns="0" rIns="0" bIns="0" rtlCol="0" anchor="t"/>
          <a:lstStyle/>
          <a:p>
            <a:pPr marL="0" indent="0">
              <a:buNone/>
            </a:pPr>
            <a:r>
              <a:rPr lang="en-US" sz="1800" b="1" dirty="0">
                <a:solidFill>
                  <a:srgbClr val="FFFFFF"/>
                </a:solidFill>
                <a:latin typeface="Montserrat" pitchFamily="34" charset="0"/>
                <a:ea typeface="Montserrat" pitchFamily="34" charset="-122"/>
                <a:cs typeface="Montserrat" pitchFamily="34" charset="-120"/>
              </a:rPr>
              <a:t>3</a:t>
            </a:r>
            <a:endParaRPr lang="en-US" sz="1800" dirty="0"/>
          </a:p>
        </p:txBody>
      </p:sp>
      <p:sp>
        <p:nvSpPr>
          <p:cNvPr id="16" name="Shape 13"/>
          <p:cNvSpPr/>
          <p:nvPr/>
        </p:nvSpPr>
        <p:spPr>
          <a:xfrm>
            <a:off x="3566160" y="2103120"/>
            <a:ext cx="960120" cy="2423160"/>
          </a:xfrm>
          <a:prstGeom prst="rect">
            <a:avLst/>
          </a:prstGeom>
          <a:solidFill>
            <a:srgbClr val="C4122F"/>
          </a:solidFill>
          <a:ln w="12700">
            <a:solidFill>
              <a:srgbClr val="C4122F"/>
            </a:solidFill>
            <a:prstDash val="solid"/>
          </a:ln>
        </p:spPr>
        <p:txBody>
          <a:bodyPr/>
          <a:lstStyle/>
          <a:p>
            <a:endParaRPr lang="es-PE"/>
          </a:p>
        </p:txBody>
      </p:sp>
      <p:sp>
        <p:nvSpPr>
          <p:cNvPr id="17" name="Text 14"/>
          <p:cNvSpPr txBox="1"/>
          <p:nvPr/>
        </p:nvSpPr>
        <p:spPr>
          <a:xfrm>
            <a:off x="3657600" y="2176272"/>
            <a:ext cx="731520" cy="365760"/>
          </a:xfrm>
          <a:prstGeom prst="rect">
            <a:avLst/>
          </a:prstGeom>
          <a:noFill/>
          <a:ln/>
        </p:spPr>
        <p:txBody>
          <a:bodyPr wrap="square" lIns="0" tIns="0" rIns="0" bIns="0" rtlCol="0" anchor="t"/>
          <a:lstStyle/>
          <a:p>
            <a:pPr marL="0" indent="0">
              <a:buNone/>
            </a:pPr>
            <a:r>
              <a:rPr lang="en-US" sz="1800" b="1" dirty="0">
                <a:solidFill>
                  <a:srgbClr val="FFFFFF"/>
                </a:solidFill>
                <a:latin typeface="Montserrat" pitchFamily="34" charset="0"/>
                <a:ea typeface="Montserrat" pitchFamily="34" charset="-122"/>
                <a:cs typeface="Montserrat" pitchFamily="34" charset="-120"/>
              </a:rPr>
              <a:t>4</a:t>
            </a:r>
            <a:endParaRPr lang="en-US" sz="1800" dirty="0"/>
          </a:p>
        </p:txBody>
      </p:sp>
      <p:sp>
        <p:nvSpPr>
          <p:cNvPr id="18" name="Shape 15"/>
          <p:cNvSpPr/>
          <p:nvPr/>
        </p:nvSpPr>
        <p:spPr>
          <a:xfrm>
            <a:off x="4754880" y="1618488"/>
            <a:ext cx="329184" cy="329184"/>
          </a:xfrm>
          <a:prstGeom prst="ellipse">
            <a:avLst/>
          </a:prstGeom>
          <a:solidFill>
            <a:srgbClr val="F8C9D0"/>
          </a:solidFill>
          <a:ln w="12700">
            <a:solidFill>
              <a:srgbClr val="F8C9D0"/>
            </a:solidFill>
            <a:prstDash val="solid"/>
          </a:ln>
        </p:spPr>
        <p:txBody>
          <a:bodyPr/>
          <a:lstStyle/>
          <a:p>
            <a:endParaRPr lang="es-PE"/>
          </a:p>
        </p:txBody>
      </p:sp>
      <p:sp>
        <p:nvSpPr>
          <p:cNvPr id="19" name="Text 16"/>
          <p:cNvSpPr txBox="1"/>
          <p:nvPr/>
        </p:nvSpPr>
        <p:spPr>
          <a:xfrm>
            <a:off x="4754880" y="1618488"/>
            <a:ext cx="329184" cy="329184"/>
          </a:xfrm>
          <a:prstGeom prst="rect">
            <a:avLst/>
          </a:prstGeom>
          <a:noFill/>
          <a:ln/>
        </p:spPr>
        <p:txBody>
          <a:bodyPr wrap="square" lIns="0" tIns="0" rIns="0" bIns="0" rtlCol="0" anchor="ctr"/>
          <a:lstStyle/>
          <a:p>
            <a:pPr marL="0" indent="0" algn="ctr">
              <a:buNone/>
            </a:pPr>
            <a:r>
              <a:rPr lang="en-US" sz="1100" b="1" dirty="0">
                <a:solidFill>
                  <a:srgbClr val="C4122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5212080" y="1572768"/>
            <a:ext cx="3383280" cy="713232"/>
          </a:xfrm>
          <a:prstGeom prst="rect">
            <a:avLst/>
          </a:prstGeom>
          <a:noFill/>
          <a:ln/>
        </p:spPr>
        <p:txBody>
          <a:bodyPr wrap="square" lIns="0" tIns="0" rIns="0" bIns="0" rtlCol="0" anchor="t"/>
          <a:lstStyle/>
          <a:p>
            <a:pPr marL="0" indent="0">
              <a:buNone/>
            </a:pPr>
            <a:r>
              <a:rPr lang="en-US" sz="1300" b="1" dirty="0">
                <a:solidFill>
                  <a:srgbClr val="262626"/>
                </a:solidFill>
                <a:latin typeface="Montserrat" pitchFamily="34" charset="0"/>
                <a:ea typeface="Montserrat" pitchFamily="34" charset="-122"/>
                <a:cs typeface="Montserrat" pitchFamily="34" charset="-120"/>
              </a:rPr>
              <a:t>Dato</a:t>
            </a:r>
            <a:endParaRPr lang="en-US" sz="1100" dirty="0"/>
          </a:p>
          <a:p>
            <a:pPr marL="0" indent="0">
              <a:buNone/>
            </a:pPr>
            <a:r>
              <a:rPr lang="en-US" sz="1100" dirty="0">
                <a:solidFill>
                  <a:srgbClr val="404040"/>
                </a:solidFill>
                <a:latin typeface="Calibri" pitchFamily="34" charset="0"/>
                <a:ea typeface="Calibri" pitchFamily="34" charset="-122"/>
                <a:cs typeface="Calibri" pitchFamily="34" charset="-120"/>
              </a:rPr>
              <a:t>Registro o cifra tal como se observa, sin interpretar. </a:t>
            </a:r>
            <a:r>
              <a:rPr lang="en-US" sz="1100" i="1" dirty="0">
                <a:solidFill>
                  <a:srgbClr val="ED2E45"/>
                </a:solidFill>
                <a:latin typeface="Calibri" pitchFamily="34" charset="0"/>
                <a:ea typeface="Calibri" pitchFamily="34" charset="-122"/>
                <a:cs typeface="Calibri" pitchFamily="34" charset="-120"/>
              </a:rPr>
              <a:t>¿Qué observamos?</a:t>
            </a:r>
            <a:endParaRPr lang="en-US" sz="1100" dirty="0"/>
          </a:p>
        </p:txBody>
      </p:sp>
      <p:sp>
        <p:nvSpPr>
          <p:cNvPr id="21" name="Shape 18"/>
          <p:cNvSpPr/>
          <p:nvPr/>
        </p:nvSpPr>
        <p:spPr>
          <a:xfrm>
            <a:off x="4754880" y="2368296"/>
            <a:ext cx="329184" cy="329184"/>
          </a:xfrm>
          <a:prstGeom prst="ellipse">
            <a:avLst/>
          </a:prstGeom>
          <a:solidFill>
            <a:srgbClr val="F28A99"/>
          </a:solidFill>
          <a:ln w="12700">
            <a:solidFill>
              <a:srgbClr val="F28A99"/>
            </a:solidFill>
            <a:prstDash val="solid"/>
          </a:ln>
        </p:spPr>
        <p:txBody>
          <a:bodyPr/>
          <a:lstStyle/>
          <a:p>
            <a:endParaRPr lang="es-PE"/>
          </a:p>
        </p:txBody>
      </p:sp>
      <p:sp>
        <p:nvSpPr>
          <p:cNvPr id="22" name="Text 19"/>
          <p:cNvSpPr txBox="1"/>
          <p:nvPr/>
        </p:nvSpPr>
        <p:spPr>
          <a:xfrm>
            <a:off x="4754880" y="2368296"/>
            <a:ext cx="329184" cy="329184"/>
          </a:xfrm>
          <a:prstGeom prst="rect">
            <a:avLst/>
          </a:prstGeom>
          <a:noFill/>
          <a:ln/>
        </p:spPr>
        <p:txBody>
          <a:bodyPr wrap="square" lIns="0" tIns="0" rIns="0" bIns="0" rtlCol="0" anchor="ctr"/>
          <a:lstStyle/>
          <a:p>
            <a:pPr marL="0" indent="0" algn="ctr">
              <a:buNone/>
            </a:pPr>
            <a:r>
              <a:rPr lang="en-US" sz="1100" b="1" dirty="0">
                <a:solidFill>
                  <a:srgbClr val="C4122F"/>
                </a:solidFill>
                <a:latin typeface="Calibri" pitchFamily="34" charset="0"/>
                <a:ea typeface="Calibri" pitchFamily="34" charset="-122"/>
                <a:cs typeface="Calibri" pitchFamily="34" charset="-120"/>
              </a:rPr>
              <a:t>2</a:t>
            </a:r>
            <a:endParaRPr lang="en-US" sz="1100" dirty="0"/>
          </a:p>
        </p:txBody>
      </p:sp>
      <p:sp>
        <p:nvSpPr>
          <p:cNvPr id="23" name="Text 20"/>
          <p:cNvSpPr txBox="1"/>
          <p:nvPr/>
        </p:nvSpPr>
        <p:spPr>
          <a:xfrm>
            <a:off x="5212080" y="2322576"/>
            <a:ext cx="3383280" cy="713232"/>
          </a:xfrm>
          <a:prstGeom prst="rect">
            <a:avLst/>
          </a:prstGeom>
          <a:noFill/>
          <a:ln/>
        </p:spPr>
        <p:txBody>
          <a:bodyPr wrap="square" lIns="0" tIns="0" rIns="0" bIns="0" rtlCol="0" anchor="t"/>
          <a:lstStyle/>
          <a:p>
            <a:pPr marL="0" indent="0">
              <a:buNone/>
            </a:pPr>
            <a:r>
              <a:rPr lang="en-US" sz="1300" b="1" dirty="0">
                <a:solidFill>
                  <a:srgbClr val="262626"/>
                </a:solidFill>
                <a:latin typeface="Montserrat" pitchFamily="34" charset="0"/>
                <a:ea typeface="Montserrat" pitchFamily="34" charset="-122"/>
                <a:cs typeface="Montserrat" pitchFamily="34" charset="-120"/>
              </a:rPr>
              <a:t>Información</a:t>
            </a:r>
            <a:endParaRPr lang="en-US" sz="1100" dirty="0"/>
          </a:p>
          <a:p>
            <a:pPr marL="0" indent="0">
              <a:buNone/>
            </a:pPr>
            <a:r>
              <a:rPr lang="en-US" sz="1100" dirty="0">
                <a:solidFill>
                  <a:srgbClr val="404040"/>
                </a:solidFill>
                <a:latin typeface="Calibri" pitchFamily="34" charset="0"/>
                <a:ea typeface="Calibri" pitchFamily="34" charset="-122"/>
                <a:cs typeface="Calibri" pitchFamily="34" charset="-120"/>
              </a:rPr>
              <a:t>Datos organizados y puestos en contexto. </a:t>
            </a:r>
            <a:r>
              <a:rPr lang="en-US" sz="1100" i="1" dirty="0">
                <a:solidFill>
                  <a:srgbClr val="ED2E45"/>
                </a:solidFill>
                <a:latin typeface="Calibri" pitchFamily="34" charset="0"/>
                <a:ea typeface="Calibri" pitchFamily="34" charset="-122"/>
                <a:cs typeface="Calibri" pitchFamily="34" charset="-120"/>
              </a:rPr>
              <a:t>¿Qué significa?</a:t>
            </a:r>
            <a:endParaRPr lang="en-US" sz="1100" dirty="0"/>
          </a:p>
        </p:txBody>
      </p:sp>
      <p:sp>
        <p:nvSpPr>
          <p:cNvPr id="24" name="Shape 21"/>
          <p:cNvSpPr/>
          <p:nvPr/>
        </p:nvSpPr>
        <p:spPr>
          <a:xfrm>
            <a:off x="4754880" y="3118104"/>
            <a:ext cx="329184" cy="329184"/>
          </a:xfrm>
          <a:prstGeom prst="ellipse">
            <a:avLst/>
          </a:prstGeom>
          <a:solidFill>
            <a:srgbClr val="ED2E45"/>
          </a:solidFill>
          <a:ln w="12700">
            <a:solidFill>
              <a:srgbClr val="ED2E45"/>
            </a:solidFill>
            <a:prstDash val="solid"/>
          </a:ln>
        </p:spPr>
        <p:txBody>
          <a:bodyPr/>
          <a:lstStyle/>
          <a:p>
            <a:endParaRPr lang="es-PE"/>
          </a:p>
        </p:txBody>
      </p:sp>
      <p:sp>
        <p:nvSpPr>
          <p:cNvPr id="25" name="Text 22"/>
          <p:cNvSpPr txBox="1"/>
          <p:nvPr/>
        </p:nvSpPr>
        <p:spPr>
          <a:xfrm>
            <a:off x="4754880" y="3118104"/>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6" name="Text 23"/>
          <p:cNvSpPr txBox="1"/>
          <p:nvPr/>
        </p:nvSpPr>
        <p:spPr>
          <a:xfrm>
            <a:off x="5212080" y="3072384"/>
            <a:ext cx="3383280" cy="713232"/>
          </a:xfrm>
          <a:prstGeom prst="rect">
            <a:avLst/>
          </a:prstGeom>
          <a:noFill/>
          <a:ln/>
        </p:spPr>
        <p:txBody>
          <a:bodyPr wrap="square" lIns="0" tIns="0" rIns="0" bIns="0" rtlCol="0" anchor="t"/>
          <a:lstStyle/>
          <a:p>
            <a:pPr marL="0" indent="0">
              <a:buNone/>
            </a:pPr>
            <a:r>
              <a:rPr lang="en-US" sz="1300" b="1" dirty="0">
                <a:solidFill>
                  <a:srgbClr val="262626"/>
                </a:solidFill>
                <a:latin typeface="Montserrat" pitchFamily="34" charset="0"/>
                <a:ea typeface="Montserrat" pitchFamily="34" charset="-122"/>
                <a:cs typeface="Montserrat" pitchFamily="34" charset="-120"/>
              </a:rPr>
              <a:t>Evidencia</a:t>
            </a:r>
            <a:endParaRPr lang="en-US" sz="1100" dirty="0"/>
          </a:p>
          <a:p>
            <a:pPr marL="0" indent="0">
              <a:buNone/>
            </a:pPr>
            <a:r>
              <a:rPr lang="en-US" sz="1100" dirty="0">
                <a:solidFill>
                  <a:srgbClr val="404040"/>
                </a:solidFill>
                <a:latin typeface="Calibri" pitchFamily="34" charset="0"/>
                <a:ea typeface="Calibri" pitchFamily="34" charset="-122"/>
                <a:cs typeface="Calibri" pitchFamily="34" charset="-120"/>
              </a:rPr>
              <a:t>Información analizada con método, que permite sostener una afirmación. </a:t>
            </a:r>
            <a:r>
              <a:rPr lang="en-US" sz="1100" i="1" dirty="0">
                <a:solidFill>
                  <a:srgbClr val="ED2E45"/>
                </a:solidFill>
                <a:latin typeface="Calibri" pitchFamily="34" charset="0"/>
                <a:ea typeface="Calibri" pitchFamily="34" charset="-122"/>
                <a:cs typeface="Calibri" pitchFamily="34" charset="-120"/>
              </a:rPr>
              <a:t>¿Qué podemos sostener?</a:t>
            </a:r>
            <a:endParaRPr lang="en-US" sz="1100" dirty="0"/>
          </a:p>
        </p:txBody>
      </p:sp>
      <p:sp>
        <p:nvSpPr>
          <p:cNvPr id="27" name="Shape 24"/>
          <p:cNvSpPr/>
          <p:nvPr/>
        </p:nvSpPr>
        <p:spPr>
          <a:xfrm>
            <a:off x="4754880" y="3867912"/>
            <a:ext cx="329184" cy="329184"/>
          </a:xfrm>
          <a:prstGeom prst="ellipse">
            <a:avLst/>
          </a:prstGeom>
          <a:solidFill>
            <a:srgbClr val="C4122F"/>
          </a:solidFill>
          <a:ln w="12700">
            <a:solidFill>
              <a:srgbClr val="C4122F"/>
            </a:solidFill>
            <a:prstDash val="solid"/>
          </a:ln>
        </p:spPr>
        <p:txBody>
          <a:bodyPr/>
          <a:lstStyle/>
          <a:p>
            <a:endParaRPr lang="es-PE"/>
          </a:p>
        </p:txBody>
      </p:sp>
      <p:sp>
        <p:nvSpPr>
          <p:cNvPr id="28" name="Text 25"/>
          <p:cNvSpPr txBox="1"/>
          <p:nvPr/>
        </p:nvSpPr>
        <p:spPr>
          <a:xfrm>
            <a:off x="4754880" y="3867912"/>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9" name="Text 26"/>
          <p:cNvSpPr txBox="1"/>
          <p:nvPr/>
        </p:nvSpPr>
        <p:spPr>
          <a:xfrm>
            <a:off x="5212080" y="3822192"/>
            <a:ext cx="3383280" cy="713232"/>
          </a:xfrm>
          <a:prstGeom prst="rect">
            <a:avLst/>
          </a:prstGeom>
          <a:noFill/>
          <a:ln/>
        </p:spPr>
        <p:txBody>
          <a:bodyPr wrap="square" lIns="0" tIns="0" rIns="0" bIns="0" rtlCol="0" anchor="t"/>
          <a:lstStyle/>
          <a:p>
            <a:pPr marL="0" indent="0">
              <a:buNone/>
            </a:pPr>
            <a:r>
              <a:rPr lang="en-US" sz="1300" b="1" dirty="0">
                <a:solidFill>
                  <a:srgbClr val="262626"/>
                </a:solidFill>
                <a:latin typeface="Montserrat" pitchFamily="34" charset="0"/>
                <a:ea typeface="Montserrat" pitchFamily="34" charset="-122"/>
                <a:cs typeface="Montserrat" pitchFamily="34" charset="-120"/>
              </a:rPr>
              <a:t>Decisión pública</a:t>
            </a:r>
            <a:endParaRPr lang="en-US" sz="1100" dirty="0"/>
          </a:p>
          <a:p>
            <a:pPr marL="0" indent="0">
              <a:buNone/>
            </a:pPr>
            <a:r>
              <a:rPr lang="en-US" sz="1100" dirty="0">
                <a:solidFill>
                  <a:srgbClr val="404040"/>
                </a:solidFill>
                <a:latin typeface="Calibri" pitchFamily="34" charset="0"/>
                <a:ea typeface="Calibri" pitchFamily="34" charset="-122"/>
                <a:cs typeface="Calibri" pitchFamily="34" charset="-120"/>
              </a:rPr>
              <a:t>Acción del Estado que se apoya en la evidencia. </a:t>
            </a:r>
            <a:r>
              <a:rPr lang="en-US" sz="1100" i="1" dirty="0">
                <a:solidFill>
                  <a:srgbClr val="ED2E45"/>
                </a:solidFill>
                <a:latin typeface="Calibri" pitchFamily="34" charset="0"/>
                <a:ea typeface="Calibri" pitchFamily="34" charset="-122"/>
                <a:cs typeface="Calibri" pitchFamily="34" charset="-120"/>
              </a:rPr>
              <a:t>¿Qué podemos hacer?</a:t>
            </a:r>
            <a:endParaRPr lang="en-US" sz="1100" dirty="0"/>
          </a:p>
        </p:txBody>
      </p:sp>
      <p:sp>
        <p:nvSpPr>
          <p:cNvPr id="30" name="Text 27"/>
          <p:cNvSpPr txBox="1"/>
          <p:nvPr/>
        </p:nvSpPr>
        <p:spPr>
          <a:xfrm>
            <a:off x="548640" y="1554480"/>
            <a:ext cx="2834640" cy="960120"/>
          </a:xfrm>
          <a:prstGeom prst="rect">
            <a:avLst/>
          </a:prstGeom>
          <a:noFill/>
          <a:ln/>
        </p:spPr>
        <p:txBody>
          <a:bodyPr wrap="square" lIns="0" tIns="0" rIns="0" bIns="0" rtlCol="0" anchor="t"/>
          <a:lstStyle/>
          <a:p>
            <a:pPr marL="0" indent="0">
              <a:buNone/>
            </a:pPr>
            <a:r>
              <a:rPr lang="en-US" sz="1150" b="1" dirty="0">
                <a:solidFill>
                  <a:srgbClr val="ED2E45"/>
                </a:solidFill>
                <a:latin typeface="Calibri" pitchFamily="34" charset="0"/>
                <a:ea typeface="Calibri" pitchFamily="34" charset="-122"/>
                <a:cs typeface="Calibri" pitchFamily="34" charset="-120"/>
              </a:rPr>
              <a:t>Mensaje clave: </a:t>
            </a:r>
            <a:r>
              <a:rPr lang="en-US" sz="1150" dirty="0">
                <a:solidFill>
                  <a:srgbClr val="404040"/>
                </a:solidFill>
                <a:latin typeface="Calibri" pitchFamily="34" charset="0"/>
                <a:ea typeface="Calibri" pitchFamily="34" charset="-122"/>
                <a:cs typeface="Calibri" pitchFamily="34" charset="-120"/>
              </a:rPr>
              <a:t>un dato por sí solo no es una política pública. Su valor está en ayudar a comprender un problema y orientar decisiones.</a:t>
            </a:r>
            <a:endParaRPr lang="en-US" sz="1150" dirty="0"/>
          </a:p>
        </p:txBody>
      </p:sp>
      <p:pic>
        <p:nvPicPr>
          <p:cNvPr id="31" name="Image 0" descr="a/logo_mimp_h.png"/>
          <p:cNvPicPr>
            <a:picLocks noChangeAspect="1"/>
          </p:cNvPicPr>
          <p:nvPr/>
        </p:nvPicPr>
        <p:blipFill>
          <a:blip r:embed="rId4"/>
          <a:stretch>
            <a:fillRect/>
          </a:stretch>
        </p:blipFill>
        <p:spPr>
          <a:xfrm>
            <a:off x="184709" y="110642"/>
            <a:ext cx="1790395" cy="417881"/>
          </a:xfrm>
          <a:prstGeom prst="rect">
            <a:avLst/>
          </a:prstGeom>
        </p:spPr>
      </p:pic>
      <p:pic>
        <p:nvPicPr>
          <p:cNvPr id="32" name="Image 1" descr="a/logo_30.png"/>
          <p:cNvPicPr>
            <a:picLocks noChangeAspect="1"/>
          </p:cNvPicPr>
          <p:nvPr/>
        </p:nvPicPr>
        <p:blipFill>
          <a:blip r:embed="rId5"/>
          <a:stretch>
            <a:fillRect/>
          </a:stretch>
        </p:blipFill>
        <p:spPr>
          <a:xfrm>
            <a:off x="3611880" y="2743"/>
            <a:ext cx="1158545" cy="622706"/>
          </a:xfrm>
          <a:prstGeom prst="rect">
            <a:avLst/>
          </a:prstGeom>
        </p:spPr>
      </p:pic>
      <p:pic>
        <p:nvPicPr>
          <p:cNvPr id="33" name="Image 2" descr="a/logo_peru_responde.png"/>
          <p:cNvPicPr>
            <a:picLocks noChangeAspect="1"/>
          </p:cNvPicPr>
          <p:nvPr/>
        </p:nvPicPr>
        <p:blipFill>
          <a:blip r:embed="rId6"/>
          <a:stretch>
            <a:fillRect/>
          </a:stretch>
        </p:blipFill>
        <p:spPr>
          <a:xfrm>
            <a:off x="7299655" y="102413"/>
            <a:ext cx="1602943" cy="475488"/>
          </a:xfrm>
          <a:prstGeom prst="rect">
            <a:avLst/>
          </a:prstGeom>
        </p:spPr>
      </p:pic>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a/fondo_rojo.png"/>
          <p:cNvPicPr>
            <a:picLocks noChangeAspect="1"/>
          </p:cNvPicPr>
          <p:nvPr/>
        </p:nvPicPr>
        <p:blipFill>
          <a:blip r:embed="rId3"/>
          <a:stretch>
            <a:fillRect/>
          </a:stretch>
        </p:blipFill>
        <p:spPr>
          <a:xfrm>
            <a:off x="0" y="685800"/>
            <a:ext cx="9144000" cy="4457700"/>
          </a:xfrm>
          <a:prstGeom prst="rect">
            <a:avLst/>
          </a:prstGeom>
        </p:spPr>
      </p:pic>
      <p:sp>
        <p:nvSpPr>
          <p:cNvPr id="3" name="Text 0"/>
          <p:cNvSpPr txBox="1"/>
          <p:nvPr/>
        </p:nvSpPr>
        <p:spPr>
          <a:xfrm>
            <a:off x="548640" y="4965192"/>
            <a:ext cx="2011680" cy="178308"/>
          </a:xfrm>
          <a:prstGeom prst="rect">
            <a:avLst/>
          </a:prstGeom>
          <a:noFill/>
          <a:ln/>
        </p:spPr>
        <p:txBody>
          <a:bodyPr wrap="square" lIns="0" tIns="0" rIns="0" bIns="0" rtlCol="0" anchor="ctr"/>
          <a:lstStyle/>
          <a:p>
            <a:pPr marL="0" indent="0">
              <a:buNone/>
            </a:pPr>
            <a:r>
              <a:rPr lang="en-US" sz="750" b="1" kern="0" spc="100" dirty="0">
                <a:solidFill>
                  <a:srgbClr val="FFFFFF"/>
                </a:solidFill>
                <a:latin typeface="Calibri" pitchFamily="34" charset="0"/>
                <a:ea typeface="Calibri" pitchFamily="34" charset="-122"/>
                <a:cs typeface="Calibri" pitchFamily="34" charset="-120"/>
              </a:rPr>
              <a:t>I · COMPRENDER</a:t>
            </a:r>
            <a:endParaRPr lang="en-US" sz="750" dirty="0"/>
          </a:p>
        </p:txBody>
      </p:sp>
      <p:sp>
        <p:nvSpPr>
          <p:cNvPr id="4" name="Text 1"/>
          <p:cNvSpPr txBox="1"/>
          <p:nvPr/>
        </p:nvSpPr>
        <p:spPr>
          <a:xfrm>
            <a:off x="256032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II · DISEÑAR</a:t>
            </a:r>
            <a:endParaRPr lang="en-US" sz="750" dirty="0"/>
          </a:p>
        </p:txBody>
      </p:sp>
      <p:sp>
        <p:nvSpPr>
          <p:cNvPr id="5" name="Text 2"/>
          <p:cNvSpPr txBox="1"/>
          <p:nvPr/>
        </p:nvSpPr>
        <p:spPr>
          <a:xfrm>
            <a:off x="457200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III · VALIDAR</a:t>
            </a:r>
            <a:endParaRPr lang="en-US" sz="750" dirty="0"/>
          </a:p>
        </p:txBody>
      </p:sp>
      <p:sp>
        <p:nvSpPr>
          <p:cNvPr id="6" name="Text 3"/>
          <p:cNvSpPr txBox="1"/>
          <p:nvPr/>
        </p:nvSpPr>
        <p:spPr>
          <a:xfrm>
            <a:off x="658368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IV · COMUNICAR</a:t>
            </a:r>
            <a:endParaRPr lang="en-US" sz="750" dirty="0"/>
          </a:p>
        </p:txBody>
      </p:sp>
      <p:sp>
        <p:nvSpPr>
          <p:cNvPr id="7" name="Shape 4"/>
          <p:cNvSpPr/>
          <p:nvPr/>
        </p:nvSpPr>
        <p:spPr>
          <a:xfrm>
            <a:off x="548640" y="868680"/>
            <a:ext cx="2464308" cy="384048"/>
          </a:xfrm>
          <a:prstGeom prst="roundRect">
            <a:avLst>
              <a:gd name="adj" fmla="val 50000"/>
            </a:avLst>
          </a:prstGeom>
          <a:solidFill>
            <a:srgbClr val="FFFFFF"/>
          </a:solidFill>
          <a:ln w="12700">
            <a:solidFill>
              <a:srgbClr val="FFFFFF"/>
            </a:solidFill>
            <a:prstDash val="solid"/>
          </a:ln>
        </p:spPr>
        <p:txBody>
          <a:bodyPr/>
          <a:lstStyle/>
          <a:p>
            <a:endParaRPr lang="es-PE"/>
          </a:p>
        </p:txBody>
      </p:sp>
      <p:sp>
        <p:nvSpPr>
          <p:cNvPr id="8" name="Shape 5"/>
          <p:cNvSpPr/>
          <p:nvPr/>
        </p:nvSpPr>
        <p:spPr>
          <a:xfrm>
            <a:off x="594360" y="905256"/>
            <a:ext cx="310896" cy="310896"/>
          </a:xfrm>
          <a:prstGeom prst="ellipse">
            <a:avLst/>
          </a:prstGeom>
          <a:solidFill>
            <a:srgbClr val="ED2E45"/>
          </a:solidFill>
          <a:ln w="12700">
            <a:solidFill>
              <a:srgbClr val="ED2E45"/>
            </a:solidFill>
            <a:prstDash val="solid"/>
          </a:ln>
        </p:spPr>
        <p:txBody>
          <a:bodyPr/>
          <a:lstStyle/>
          <a:p>
            <a:endParaRPr lang="es-PE"/>
          </a:p>
        </p:txBody>
      </p:sp>
      <p:pic>
        <p:nvPicPr>
          <p:cNvPr id="9" name="Image 1" descr="a/ic_bulb.png"/>
          <p:cNvPicPr>
            <a:picLocks noChangeAspect="1"/>
          </p:cNvPicPr>
          <p:nvPr/>
        </p:nvPicPr>
        <p:blipFill>
          <a:blip r:embed="rId4"/>
          <a:stretch>
            <a:fillRect/>
          </a:stretch>
        </p:blipFill>
        <p:spPr>
          <a:xfrm>
            <a:off x="649224" y="960120"/>
            <a:ext cx="201168" cy="201168"/>
          </a:xfrm>
          <a:prstGeom prst="rect">
            <a:avLst/>
          </a:prstGeom>
        </p:spPr>
      </p:pic>
      <p:sp>
        <p:nvSpPr>
          <p:cNvPr id="10" name="Text 6"/>
          <p:cNvSpPr txBox="1"/>
          <p:nvPr/>
        </p:nvSpPr>
        <p:spPr>
          <a:xfrm>
            <a:off x="987552" y="868680"/>
            <a:ext cx="2098548" cy="384048"/>
          </a:xfrm>
          <a:prstGeom prst="rect">
            <a:avLst/>
          </a:prstGeom>
          <a:noFill/>
          <a:ln/>
        </p:spPr>
        <p:txBody>
          <a:bodyPr wrap="square" lIns="0" tIns="0" rIns="0" bIns="0" rtlCol="0" anchor="ctr"/>
          <a:lstStyle/>
          <a:p>
            <a:pPr marL="0" indent="0">
              <a:buNone/>
            </a:pPr>
            <a:r>
              <a:rPr lang="en-US" sz="1150" b="1" kern="0" spc="100" dirty="0">
                <a:solidFill>
                  <a:srgbClr val="ED2E45"/>
                </a:solidFill>
                <a:latin typeface="Calibri" pitchFamily="34" charset="0"/>
                <a:ea typeface="Calibri" pitchFamily="34" charset="-122"/>
                <a:cs typeface="Calibri" pitchFamily="34" charset="-120"/>
              </a:rPr>
              <a:t>EJEMPLO PASO A PASO</a:t>
            </a:r>
            <a:endParaRPr lang="en-US" sz="1150" dirty="0"/>
          </a:p>
        </p:txBody>
      </p:sp>
      <p:sp>
        <p:nvSpPr>
          <p:cNvPr id="12" name="Text 7"/>
          <p:cNvSpPr txBox="1"/>
          <p:nvPr/>
        </p:nvSpPr>
        <p:spPr>
          <a:xfrm>
            <a:off x="548640" y="1417320"/>
            <a:ext cx="8046720" cy="457200"/>
          </a:xfrm>
          <a:prstGeom prst="rect">
            <a:avLst/>
          </a:prstGeom>
          <a:noFill/>
          <a:ln/>
        </p:spPr>
        <p:txBody>
          <a:bodyPr wrap="square" lIns="0" tIns="0" rIns="0" bIns="0" rtlCol="0" anchor="t"/>
          <a:lstStyle/>
          <a:p>
            <a:pPr marL="0" indent="0">
              <a:buNone/>
            </a:pPr>
            <a:r>
              <a:rPr lang="en-US" sz="2100" b="1" dirty="0">
                <a:solidFill>
                  <a:srgbClr val="FFFFFF"/>
                </a:solidFill>
                <a:latin typeface="Montserrat" pitchFamily="34" charset="0"/>
                <a:ea typeface="Montserrat" pitchFamily="34" charset="-122"/>
                <a:cs typeface="Montserrat" pitchFamily="34" charset="-120"/>
              </a:rPr>
              <a:t>Un mismo tema, cuatro niveles</a:t>
            </a:r>
            <a:endParaRPr lang="en-US" sz="2100" dirty="0"/>
          </a:p>
        </p:txBody>
      </p:sp>
      <p:sp>
        <p:nvSpPr>
          <p:cNvPr id="13" name="Shape 8"/>
          <p:cNvSpPr/>
          <p:nvPr/>
        </p:nvSpPr>
        <p:spPr>
          <a:xfrm>
            <a:off x="548640" y="2057400"/>
            <a:ext cx="1828800" cy="2514600"/>
          </a:xfrm>
          <a:prstGeom prst="roundRect">
            <a:avLst>
              <a:gd name="adj" fmla="val 4000"/>
            </a:avLst>
          </a:prstGeom>
          <a:solidFill>
            <a:srgbClr val="FFFFFF"/>
          </a:solidFill>
          <a:ln w="12700">
            <a:solidFill>
              <a:srgbClr val="FFFFFF"/>
            </a:solidFill>
            <a:prstDash val="solid"/>
          </a:ln>
        </p:spPr>
        <p:txBody>
          <a:bodyPr/>
          <a:lstStyle/>
          <a:p>
            <a:endParaRPr lang="es-PE"/>
          </a:p>
        </p:txBody>
      </p:sp>
      <p:sp>
        <p:nvSpPr>
          <p:cNvPr id="14" name="Shape 9"/>
          <p:cNvSpPr/>
          <p:nvPr/>
        </p:nvSpPr>
        <p:spPr>
          <a:xfrm>
            <a:off x="685800" y="2194560"/>
            <a:ext cx="1554480" cy="384048"/>
          </a:xfrm>
          <a:prstGeom prst="roundRect">
            <a:avLst>
              <a:gd name="adj" fmla="val 50000"/>
            </a:avLst>
          </a:prstGeom>
          <a:solidFill>
            <a:srgbClr val="ED2E45"/>
          </a:solidFill>
          <a:ln w="12700">
            <a:solidFill>
              <a:srgbClr val="ED2E45"/>
            </a:solidFill>
            <a:prstDash val="solid"/>
          </a:ln>
        </p:spPr>
        <p:txBody>
          <a:bodyPr/>
          <a:lstStyle/>
          <a:p>
            <a:endParaRPr lang="es-PE"/>
          </a:p>
        </p:txBody>
      </p:sp>
      <p:sp>
        <p:nvSpPr>
          <p:cNvPr id="15" name="Text 10"/>
          <p:cNvSpPr txBox="1"/>
          <p:nvPr/>
        </p:nvSpPr>
        <p:spPr>
          <a:xfrm>
            <a:off x="685800" y="2194560"/>
            <a:ext cx="1554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Montserrat" pitchFamily="34" charset="0"/>
                <a:ea typeface="Montserrat" pitchFamily="34" charset="-122"/>
                <a:cs typeface="Montserrat" pitchFamily="34" charset="-120"/>
              </a:rPr>
              <a:t>Dato</a:t>
            </a:r>
            <a:endParaRPr lang="en-US" sz="1200" dirty="0"/>
          </a:p>
        </p:txBody>
      </p:sp>
      <p:sp>
        <p:nvSpPr>
          <p:cNvPr id="16" name="Text 11"/>
          <p:cNvSpPr txBox="1"/>
          <p:nvPr/>
        </p:nvSpPr>
        <p:spPr>
          <a:xfrm>
            <a:off x="713232" y="2724912"/>
            <a:ext cx="1499616" cy="1737360"/>
          </a:xfrm>
          <a:prstGeom prst="rect">
            <a:avLst/>
          </a:prstGeom>
          <a:noFill/>
          <a:ln/>
        </p:spPr>
        <p:txBody>
          <a:bodyPr wrap="square" lIns="0" tIns="0" rIns="0" bIns="0" rtlCol="0" anchor="t"/>
          <a:lstStyle/>
          <a:p>
            <a:pPr marL="0" indent="0">
              <a:buNone/>
            </a:pPr>
            <a:r>
              <a:rPr lang="en-US" sz="1200" dirty="0">
                <a:solidFill>
                  <a:srgbClr val="404040"/>
                </a:solidFill>
                <a:latin typeface="Calibri" pitchFamily="34" charset="0"/>
                <a:ea typeface="Calibri" pitchFamily="34" charset="-122"/>
                <a:cs typeface="Calibri" pitchFamily="34" charset="-120"/>
              </a:rPr>
              <a:t>49.1% de mujeres de 15 a 49 años sufrió violencia de su pareja alguna vez (ENDES 2025).</a:t>
            </a:r>
            <a:endParaRPr lang="en-US" sz="1200" dirty="0"/>
          </a:p>
        </p:txBody>
      </p:sp>
      <p:sp>
        <p:nvSpPr>
          <p:cNvPr id="17" name="Shape 12"/>
          <p:cNvSpPr/>
          <p:nvPr/>
        </p:nvSpPr>
        <p:spPr>
          <a:xfrm>
            <a:off x="2404872" y="3154680"/>
            <a:ext cx="192024" cy="274320"/>
          </a:xfrm>
          <a:prstGeom prst="rightArrow">
            <a:avLst/>
          </a:prstGeom>
          <a:solidFill>
            <a:srgbClr val="FFFFFF"/>
          </a:solidFill>
          <a:ln w="12700">
            <a:solidFill>
              <a:srgbClr val="FFFFFF"/>
            </a:solidFill>
            <a:prstDash val="solid"/>
          </a:ln>
        </p:spPr>
        <p:txBody>
          <a:bodyPr/>
          <a:lstStyle/>
          <a:p>
            <a:endParaRPr lang="es-PE"/>
          </a:p>
        </p:txBody>
      </p:sp>
      <p:sp>
        <p:nvSpPr>
          <p:cNvPr id="18" name="Shape 13"/>
          <p:cNvSpPr/>
          <p:nvPr/>
        </p:nvSpPr>
        <p:spPr>
          <a:xfrm>
            <a:off x="2624328" y="2057400"/>
            <a:ext cx="1828800" cy="2514600"/>
          </a:xfrm>
          <a:prstGeom prst="roundRect">
            <a:avLst>
              <a:gd name="adj" fmla="val 4000"/>
            </a:avLst>
          </a:prstGeom>
          <a:solidFill>
            <a:srgbClr val="FFFFFF"/>
          </a:solidFill>
          <a:ln w="12700">
            <a:solidFill>
              <a:srgbClr val="FFFFFF"/>
            </a:solidFill>
            <a:prstDash val="solid"/>
          </a:ln>
        </p:spPr>
        <p:txBody>
          <a:bodyPr/>
          <a:lstStyle/>
          <a:p>
            <a:endParaRPr lang="es-PE"/>
          </a:p>
        </p:txBody>
      </p:sp>
      <p:sp>
        <p:nvSpPr>
          <p:cNvPr id="19" name="Shape 14"/>
          <p:cNvSpPr/>
          <p:nvPr/>
        </p:nvSpPr>
        <p:spPr>
          <a:xfrm>
            <a:off x="2761488" y="2194560"/>
            <a:ext cx="1554480" cy="384048"/>
          </a:xfrm>
          <a:prstGeom prst="roundRect">
            <a:avLst>
              <a:gd name="adj" fmla="val 50000"/>
            </a:avLst>
          </a:prstGeom>
          <a:solidFill>
            <a:srgbClr val="ED2E45"/>
          </a:solidFill>
          <a:ln w="12700">
            <a:solidFill>
              <a:srgbClr val="ED2E45"/>
            </a:solidFill>
            <a:prstDash val="solid"/>
          </a:ln>
        </p:spPr>
        <p:txBody>
          <a:bodyPr/>
          <a:lstStyle/>
          <a:p>
            <a:endParaRPr lang="es-PE"/>
          </a:p>
        </p:txBody>
      </p:sp>
      <p:sp>
        <p:nvSpPr>
          <p:cNvPr id="20" name="Text 15"/>
          <p:cNvSpPr txBox="1"/>
          <p:nvPr/>
        </p:nvSpPr>
        <p:spPr>
          <a:xfrm>
            <a:off x="2761488" y="2194560"/>
            <a:ext cx="1554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Montserrat" pitchFamily="34" charset="0"/>
                <a:ea typeface="Montserrat" pitchFamily="34" charset="-122"/>
                <a:cs typeface="Montserrat" pitchFamily="34" charset="-120"/>
              </a:rPr>
              <a:t>Información</a:t>
            </a:r>
            <a:endParaRPr lang="en-US" sz="1200" dirty="0"/>
          </a:p>
        </p:txBody>
      </p:sp>
      <p:sp>
        <p:nvSpPr>
          <p:cNvPr id="21" name="Text 16"/>
          <p:cNvSpPr txBox="1"/>
          <p:nvPr/>
        </p:nvSpPr>
        <p:spPr>
          <a:xfrm>
            <a:off x="2788920" y="2724912"/>
            <a:ext cx="1499616" cy="1737360"/>
          </a:xfrm>
          <a:prstGeom prst="rect">
            <a:avLst/>
          </a:prstGeom>
          <a:noFill/>
          <a:ln/>
        </p:spPr>
        <p:txBody>
          <a:bodyPr wrap="square" lIns="0" tIns="0" rIns="0" bIns="0" rtlCol="0" anchor="t"/>
          <a:lstStyle/>
          <a:p>
            <a:pPr marL="0" indent="0">
              <a:buNone/>
            </a:pPr>
            <a:r>
              <a:rPr lang="en-US" sz="1200" dirty="0">
                <a:solidFill>
                  <a:srgbClr val="404040"/>
                </a:solidFill>
                <a:latin typeface="Calibri" pitchFamily="34" charset="0"/>
                <a:ea typeface="Calibri" pitchFamily="34" charset="-122"/>
                <a:cs typeface="Calibri" pitchFamily="34" charset="-120"/>
              </a:rPr>
              <a:t>La cifra bajó 8.6 puntos porcentuales entre 2019 y 2025, pero sigue siendo alta.</a:t>
            </a:r>
            <a:endParaRPr lang="en-US" sz="1200" dirty="0"/>
          </a:p>
        </p:txBody>
      </p:sp>
      <p:sp>
        <p:nvSpPr>
          <p:cNvPr id="22" name="Shape 17"/>
          <p:cNvSpPr/>
          <p:nvPr/>
        </p:nvSpPr>
        <p:spPr>
          <a:xfrm>
            <a:off x="4480560" y="3154680"/>
            <a:ext cx="192024" cy="274320"/>
          </a:xfrm>
          <a:prstGeom prst="rightArrow">
            <a:avLst/>
          </a:prstGeom>
          <a:solidFill>
            <a:srgbClr val="FFFFFF"/>
          </a:solidFill>
          <a:ln w="12700">
            <a:solidFill>
              <a:srgbClr val="FFFFFF"/>
            </a:solidFill>
            <a:prstDash val="solid"/>
          </a:ln>
        </p:spPr>
        <p:txBody>
          <a:bodyPr/>
          <a:lstStyle/>
          <a:p>
            <a:endParaRPr lang="es-PE"/>
          </a:p>
        </p:txBody>
      </p:sp>
      <p:sp>
        <p:nvSpPr>
          <p:cNvPr id="23" name="Shape 18"/>
          <p:cNvSpPr/>
          <p:nvPr/>
        </p:nvSpPr>
        <p:spPr>
          <a:xfrm>
            <a:off x="4700016" y="2057400"/>
            <a:ext cx="1828800" cy="2514600"/>
          </a:xfrm>
          <a:prstGeom prst="roundRect">
            <a:avLst>
              <a:gd name="adj" fmla="val 4000"/>
            </a:avLst>
          </a:prstGeom>
          <a:solidFill>
            <a:srgbClr val="FFFFFF"/>
          </a:solidFill>
          <a:ln w="12700">
            <a:solidFill>
              <a:srgbClr val="FFFFFF"/>
            </a:solidFill>
            <a:prstDash val="solid"/>
          </a:ln>
        </p:spPr>
        <p:txBody>
          <a:bodyPr/>
          <a:lstStyle/>
          <a:p>
            <a:endParaRPr lang="es-PE"/>
          </a:p>
        </p:txBody>
      </p:sp>
      <p:sp>
        <p:nvSpPr>
          <p:cNvPr id="24" name="Shape 19"/>
          <p:cNvSpPr/>
          <p:nvPr/>
        </p:nvSpPr>
        <p:spPr>
          <a:xfrm>
            <a:off x="4837176" y="2194560"/>
            <a:ext cx="1554480" cy="384048"/>
          </a:xfrm>
          <a:prstGeom prst="roundRect">
            <a:avLst>
              <a:gd name="adj" fmla="val 50000"/>
            </a:avLst>
          </a:prstGeom>
          <a:solidFill>
            <a:srgbClr val="ED2E45"/>
          </a:solidFill>
          <a:ln w="12700">
            <a:solidFill>
              <a:srgbClr val="ED2E45"/>
            </a:solidFill>
            <a:prstDash val="solid"/>
          </a:ln>
        </p:spPr>
        <p:txBody>
          <a:bodyPr/>
          <a:lstStyle/>
          <a:p>
            <a:endParaRPr lang="es-PE"/>
          </a:p>
        </p:txBody>
      </p:sp>
      <p:sp>
        <p:nvSpPr>
          <p:cNvPr id="25" name="Text 20"/>
          <p:cNvSpPr txBox="1"/>
          <p:nvPr/>
        </p:nvSpPr>
        <p:spPr>
          <a:xfrm>
            <a:off x="4837176" y="2194560"/>
            <a:ext cx="1554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Montserrat" pitchFamily="34" charset="0"/>
                <a:ea typeface="Montserrat" pitchFamily="34" charset="-122"/>
                <a:cs typeface="Montserrat" pitchFamily="34" charset="-120"/>
              </a:rPr>
              <a:t>Evidencia</a:t>
            </a:r>
            <a:endParaRPr lang="en-US" sz="1200" dirty="0"/>
          </a:p>
        </p:txBody>
      </p:sp>
      <p:sp>
        <p:nvSpPr>
          <p:cNvPr id="26" name="Text 21"/>
          <p:cNvSpPr txBox="1"/>
          <p:nvPr/>
        </p:nvSpPr>
        <p:spPr>
          <a:xfrm>
            <a:off x="4864608" y="2724912"/>
            <a:ext cx="1499616" cy="1737360"/>
          </a:xfrm>
          <a:prstGeom prst="rect">
            <a:avLst/>
          </a:prstGeom>
          <a:noFill/>
          <a:ln/>
        </p:spPr>
        <p:txBody>
          <a:bodyPr wrap="square" lIns="0" tIns="0" rIns="0" bIns="0" rtlCol="0" anchor="t"/>
          <a:lstStyle/>
          <a:p>
            <a:pPr marL="0" indent="0">
              <a:buNone/>
            </a:pPr>
            <a:r>
              <a:rPr lang="en-US" sz="1200" dirty="0">
                <a:solidFill>
                  <a:srgbClr val="404040"/>
                </a:solidFill>
                <a:latin typeface="Calibri" pitchFamily="34" charset="0"/>
                <a:ea typeface="Calibri" pitchFamily="34" charset="-122"/>
                <a:cs typeface="Calibri" pitchFamily="34" charset="-120"/>
              </a:rPr>
              <a:t>Al comparar ENDES por departamento, la reducción fue desigual: en algunos territorios casi no bajó.</a:t>
            </a:r>
            <a:endParaRPr lang="en-US" sz="1200" dirty="0"/>
          </a:p>
        </p:txBody>
      </p:sp>
      <p:sp>
        <p:nvSpPr>
          <p:cNvPr id="27" name="Shape 22"/>
          <p:cNvSpPr/>
          <p:nvPr/>
        </p:nvSpPr>
        <p:spPr>
          <a:xfrm>
            <a:off x="6556248" y="3154680"/>
            <a:ext cx="192024" cy="274320"/>
          </a:xfrm>
          <a:prstGeom prst="rightArrow">
            <a:avLst/>
          </a:prstGeom>
          <a:solidFill>
            <a:srgbClr val="FFFFFF"/>
          </a:solidFill>
          <a:ln w="12700">
            <a:solidFill>
              <a:srgbClr val="FFFFFF"/>
            </a:solidFill>
            <a:prstDash val="solid"/>
          </a:ln>
        </p:spPr>
        <p:txBody>
          <a:bodyPr/>
          <a:lstStyle/>
          <a:p>
            <a:endParaRPr lang="es-PE"/>
          </a:p>
        </p:txBody>
      </p:sp>
      <p:sp>
        <p:nvSpPr>
          <p:cNvPr id="28" name="Shape 23"/>
          <p:cNvSpPr/>
          <p:nvPr/>
        </p:nvSpPr>
        <p:spPr>
          <a:xfrm>
            <a:off x="6775704" y="2057400"/>
            <a:ext cx="1828800" cy="2514600"/>
          </a:xfrm>
          <a:prstGeom prst="roundRect">
            <a:avLst>
              <a:gd name="adj" fmla="val 4000"/>
            </a:avLst>
          </a:prstGeom>
          <a:solidFill>
            <a:srgbClr val="FFFFFF"/>
          </a:solidFill>
          <a:ln w="12700">
            <a:solidFill>
              <a:srgbClr val="FFFFFF"/>
            </a:solidFill>
            <a:prstDash val="solid"/>
          </a:ln>
        </p:spPr>
        <p:txBody>
          <a:bodyPr/>
          <a:lstStyle/>
          <a:p>
            <a:endParaRPr lang="es-PE"/>
          </a:p>
        </p:txBody>
      </p:sp>
      <p:sp>
        <p:nvSpPr>
          <p:cNvPr id="29" name="Shape 24"/>
          <p:cNvSpPr/>
          <p:nvPr/>
        </p:nvSpPr>
        <p:spPr>
          <a:xfrm>
            <a:off x="6912864" y="2194560"/>
            <a:ext cx="1554480" cy="384048"/>
          </a:xfrm>
          <a:prstGeom prst="roundRect">
            <a:avLst>
              <a:gd name="adj" fmla="val 50000"/>
            </a:avLst>
          </a:prstGeom>
          <a:solidFill>
            <a:srgbClr val="C4122F"/>
          </a:solidFill>
          <a:ln w="12700">
            <a:solidFill>
              <a:srgbClr val="ED2E45"/>
            </a:solidFill>
            <a:prstDash val="solid"/>
          </a:ln>
        </p:spPr>
        <p:txBody>
          <a:bodyPr/>
          <a:lstStyle/>
          <a:p>
            <a:endParaRPr lang="es-PE"/>
          </a:p>
        </p:txBody>
      </p:sp>
      <p:sp>
        <p:nvSpPr>
          <p:cNvPr id="30" name="Text 25"/>
          <p:cNvSpPr txBox="1"/>
          <p:nvPr/>
        </p:nvSpPr>
        <p:spPr>
          <a:xfrm>
            <a:off x="6912864" y="2194560"/>
            <a:ext cx="155448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Montserrat" pitchFamily="34" charset="0"/>
                <a:ea typeface="Montserrat" pitchFamily="34" charset="-122"/>
                <a:cs typeface="Montserrat" pitchFamily="34" charset="-120"/>
              </a:rPr>
              <a:t>Decisión pública</a:t>
            </a:r>
            <a:endParaRPr lang="en-US" sz="1200" dirty="0"/>
          </a:p>
        </p:txBody>
      </p:sp>
      <p:sp>
        <p:nvSpPr>
          <p:cNvPr id="31" name="Text 26"/>
          <p:cNvSpPr txBox="1"/>
          <p:nvPr/>
        </p:nvSpPr>
        <p:spPr>
          <a:xfrm>
            <a:off x="6940296" y="2724912"/>
            <a:ext cx="1499616" cy="1737360"/>
          </a:xfrm>
          <a:prstGeom prst="rect">
            <a:avLst/>
          </a:prstGeom>
          <a:noFill/>
          <a:ln/>
        </p:spPr>
        <p:txBody>
          <a:bodyPr wrap="square" lIns="0" tIns="0" rIns="0" bIns="0" rtlCol="0" anchor="t"/>
          <a:lstStyle/>
          <a:p>
            <a:pPr marL="0" indent="0">
              <a:buNone/>
            </a:pPr>
            <a:r>
              <a:rPr lang="en-US" sz="1200" dirty="0">
                <a:solidFill>
                  <a:srgbClr val="404040"/>
                </a:solidFill>
                <a:latin typeface="Calibri" pitchFamily="34" charset="0"/>
                <a:ea typeface="Calibri" pitchFamily="34" charset="-122"/>
                <a:cs typeface="Calibri" pitchFamily="34" charset="-120"/>
              </a:rPr>
              <a:t>Focalizar la intervención donde la brecha frente al promedio nacional es mayor.</a:t>
            </a:r>
            <a:endParaRPr lang="en-US" sz="1200" dirty="0"/>
          </a:p>
        </p:txBody>
      </p:sp>
      <p:pic>
        <p:nvPicPr>
          <p:cNvPr id="32" name="Image 2" descr="a/logo_mimp_h.png"/>
          <p:cNvPicPr>
            <a:picLocks noChangeAspect="1"/>
          </p:cNvPicPr>
          <p:nvPr/>
        </p:nvPicPr>
        <p:blipFill>
          <a:blip r:embed="rId5"/>
          <a:stretch>
            <a:fillRect/>
          </a:stretch>
        </p:blipFill>
        <p:spPr>
          <a:xfrm>
            <a:off x="184709" y="110642"/>
            <a:ext cx="1790395" cy="417881"/>
          </a:xfrm>
          <a:prstGeom prst="rect">
            <a:avLst/>
          </a:prstGeom>
        </p:spPr>
      </p:pic>
      <p:pic>
        <p:nvPicPr>
          <p:cNvPr id="33" name="Image 3" descr="a/logo_30.png"/>
          <p:cNvPicPr>
            <a:picLocks noChangeAspect="1"/>
          </p:cNvPicPr>
          <p:nvPr/>
        </p:nvPicPr>
        <p:blipFill>
          <a:blip r:embed="rId6"/>
          <a:stretch>
            <a:fillRect/>
          </a:stretch>
        </p:blipFill>
        <p:spPr>
          <a:xfrm>
            <a:off x="3611880" y="2743"/>
            <a:ext cx="1158545" cy="622706"/>
          </a:xfrm>
          <a:prstGeom prst="rect">
            <a:avLst/>
          </a:prstGeom>
        </p:spPr>
      </p:pic>
      <p:pic>
        <p:nvPicPr>
          <p:cNvPr id="34" name="Image 4" descr="a/logo_peru_responde.png"/>
          <p:cNvPicPr>
            <a:picLocks noChangeAspect="1"/>
          </p:cNvPicPr>
          <p:nvPr/>
        </p:nvPicPr>
        <p:blipFill>
          <a:blip r:embed="rId7"/>
          <a:stretch>
            <a:fillRect/>
          </a:stretch>
        </p:blipFill>
        <p:spPr>
          <a:xfrm>
            <a:off x="7299655" y="102413"/>
            <a:ext cx="1602943" cy="475488"/>
          </a:xfrm>
          <a:prstGeom prst="rect">
            <a:avLst/>
          </a:prstGeom>
        </p:spPr>
      </p:pic>
    </p:spTree>
  </p:cSld>
  <p:clrMapOvr>
    <a:masterClrMapping/>
  </p:clrMapOvr>
  <p:transition spd="med">
    <p:push dir="u"/>
  </p:transition>
</p:sld>
</file>

<file path=ppt/slides/slide6.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65192"/>
            <a:ext cx="9144000" cy="178308"/>
          </a:xfrm>
          <a:prstGeom prst="rect">
            <a:avLst/>
          </a:prstGeom>
          <a:solidFill>
            <a:srgbClr val="ED2E45"/>
          </a:solidFill>
          <a:ln w="12700">
            <a:solidFill>
              <a:srgbClr val="ED2E45"/>
            </a:solidFill>
            <a:prstDash val="solid"/>
          </a:ln>
        </p:spPr>
        <p:txBody>
          <a:bodyPr/>
          <a:lstStyle/>
          <a:p>
            <a:endParaRPr lang="es-PE"/>
          </a:p>
        </p:txBody>
      </p:sp>
      <p:sp>
        <p:nvSpPr>
          <p:cNvPr id="3" name="Text 1"/>
          <p:cNvSpPr txBox="1"/>
          <p:nvPr/>
        </p:nvSpPr>
        <p:spPr>
          <a:xfrm>
            <a:off x="548640" y="4965192"/>
            <a:ext cx="2011680" cy="178308"/>
          </a:xfrm>
          <a:prstGeom prst="rect">
            <a:avLst/>
          </a:prstGeom>
          <a:noFill/>
          <a:ln/>
        </p:spPr>
        <p:txBody>
          <a:bodyPr wrap="square" lIns="0" tIns="0" rIns="0" bIns="0" rtlCol="0" anchor="ctr"/>
          <a:lstStyle/>
          <a:p>
            <a:pPr marL="0" indent="0">
              <a:buNone/>
            </a:pPr>
            <a:r>
              <a:rPr lang="en-US" sz="750" b="1" kern="0" spc="100" dirty="0">
                <a:solidFill>
                  <a:srgbClr val="FFFFFF"/>
                </a:solidFill>
                <a:latin typeface="Calibri" pitchFamily="34" charset="0"/>
                <a:ea typeface="Calibri" pitchFamily="34" charset="-122"/>
                <a:cs typeface="Calibri" pitchFamily="34" charset="-120"/>
              </a:rPr>
              <a:t>I · COMPRENDER</a:t>
            </a:r>
            <a:endParaRPr lang="en-US" sz="750" dirty="0"/>
          </a:p>
        </p:txBody>
      </p:sp>
      <p:sp>
        <p:nvSpPr>
          <p:cNvPr id="4" name="Text 2"/>
          <p:cNvSpPr txBox="1"/>
          <p:nvPr/>
        </p:nvSpPr>
        <p:spPr>
          <a:xfrm>
            <a:off x="256032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II · DISEÑAR</a:t>
            </a:r>
            <a:endParaRPr lang="en-US" sz="750" dirty="0"/>
          </a:p>
        </p:txBody>
      </p:sp>
      <p:sp>
        <p:nvSpPr>
          <p:cNvPr id="5" name="Text 3"/>
          <p:cNvSpPr txBox="1"/>
          <p:nvPr/>
        </p:nvSpPr>
        <p:spPr>
          <a:xfrm>
            <a:off x="457200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III · VALIDAR</a:t>
            </a:r>
            <a:endParaRPr lang="en-US" sz="750" dirty="0"/>
          </a:p>
        </p:txBody>
      </p:sp>
      <p:sp>
        <p:nvSpPr>
          <p:cNvPr id="6" name="Text 4"/>
          <p:cNvSpPr txBox="1"/>
          <p:nvPr/>
        </p:nvSpPr>
        <p:spPr>
          <a:xfrm>
            <a:off x="658368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IV · COMUNICAR</a:t>
            </a:r>
            <a:endParaRPr lang="en-US" sz="750" dirty="0"/>
          </a:p>
        </p:txBody>
      </p:sp>
      <p:sp>
        <p:nvSpPr>
          <p:cNvPr id="8" name="Text 5"/>
          <p:cNvSpPr txBox="1"/>
          <p:nvPr/>
        </p:nvSpPr>
        <p:spPr>
          <a:xfrm>
            <a:off x="548640" y="731520"/>
            <a:ext cx="8046720" cy="502920"/>
          </a:xfrm>
          <a:prstGeom prst="rect">
            <a:avLst/>
          </a:prstGeom>
          <a:noFill/>
          <a:ln/>
        </p:spPr>
        <p:txBody>
          <a:bodyPr wrap="square" lIns="0" tIns="0" rIns="0" bIns="0" rtlCol="0" anchor="ctr"/>
          <a:lstStyle/>
          <a:p>
            <a:pPr marL="0" indent="0">
              <a:buNone/>
            </a:pPr>
            <a:r>
              <a:rPr lang="en-US" sz="2200" b="1" dirty="0">
                <a:solidFill>
                  <a:srgbClr val="ED2E45"/>
                </a:solidFill>
                <a:latin typeface="Montserrat" pitchFamily="34" charset="0"/>
                <a:ea typeface="Montserrat" pitchFamily="34" charset="-122"/>
                <a:cs typeface="Montserrat" pitchFamily="34" charset="-120"/>
              </a:rPr>
              <a:t>Partir del problema, no de la tecnología</a:t>
            </a:r>
            <a:endParaRPr lang="en-US" sz="2200" dirty="0"/>
          </a:p>
        </p:txBody>
      </p:sp>
      <p:sp>
        <p:nvSpPr>
          <p:cNvPr id="9" name="Text 6"/>
          <p:cNvSpPr txBox="1"/>
          <p:nvPr/>
        </p:nvSpPr>
        <p:spPr>
          <a:xfrm>
            <a:off x="548640" y="1216152"/>
            <a:ext cx="8046720" cy="274320"/>
          </a:xfrm>
          <a:prstGeom prst="rect">
            <a:avLst/>
          </a:prstGeom>
          <a:noFill/>
          <a:ln/>
        </p:spPr>
        <p:txBody>
          <a:bodyPr wrap="square" lIns="0" tIns="0" rIns="0" bIns="0" rtlCol="0" anchor="ctr"/>
          <a:lstStyle/>
          <a:p>
            <a:pPr marL="0" indent="0">
              <a:buNone/>
            </a:pPr>
            <a:r>
              <a:rPr lang="en-US" sz="1250" dirty="0">
                <a:solidFill>
                  <a:srgbClr val="6B6B6B"/>
                </a:solidFill>
                <a:latin typeface="Calibri" pitchFamily="34" charset="0"/>
                <a:ea typeface="Calibri" pitchFamily="34" charset="-122"/>
                <a:cs typeface="Calibri" pitchFamily="34" charset="-120"/>
              </a:rPr>
              <a:t>Antes de preguntarnos "¿qué herramienta podemos desarrollar?", preguntémonos:</a:t>
            </a:r>
            <a:endParaRPr lang="en-US" sz="1250" dirty="0"/>
          </a:p>
        </p:txBody>
      </p:sp>
      <p:sp>
        <p:nvSpPr>
          <p:cNvPr id="10" name="Shape 7"/>
          <p:cNvSpPr/>
          <p:nvPr/>
        </p:nvSpPr>
        <p:spPr>
          <a:xfrm>
            <a:off x="548640" y="1664208"/>
            <a:ext cx="292608" cy="292608"/>
          </a:xfrm>
          <a:prstGeom prst="ellipse">
            <a:avLst/>
          </a:prstGeom>
          <a:solidFill>
            <a:srgbClr val="ED2E45"/>
          </a:solidFill>
          <a:ln w="12700">
            <a:solidFill>
              <a:srgbClr val="ED2E45"/>
            </a:solidFill>
            <a:prstDash val="solid"/>
          </a:ln>
        </p:spPr>
        <p:txBody>
          <a:bodyPr/>
          <a:lstStyle/>
          <a:p>
            <a:endParaRPr lang="es-PE"/>
          </a:p>
        </p:txBody>
      </p:sp>
      <p:sp>
        <p:nvSpPr>
          <p:cNvPr id="11" name="Text 8"/>
          <p:cNvSpPr txBox="1"/>
          <p:nvPr/>
        </p:nvSpPr>
        <p:spPr>
          <a:xfrm>
            <a:off x="548640" y="1664208"/>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2" name="Text 9"/>
          <p:cNvSpPr txBox="1"/>
          <p:nvPr/>
        </p:nvSpPr>
        <p:spPr>
          <a:xfrm>
            <a:off x="960120" y="1627632"/>
            <a:ext cx="4480560" cy="365760"/>
          </a:xfrm>
          <a:prstGeom prst="rect">
            <a:avLst/>
          </a:prstGeom>
          <a:noFill/>
          <a:ln/>
        </p:spPr>
        <p:txBody>
          <a:bodyPr wrap="square" lIns="0" tIns="0" rIns="0" bIns="0" rtlCol="0" anchor="ctr"/>
          <a:lstStyle/>
          <a:p>
            <a:pPr marL="0" indent="0">
              <a:buNone/>
            </a:pPr>
            <a:r>
              <a:rPr lang="en-US" sz="1250" dirty="0">
                <a:solidFill>
                  <a:srgbClr val="404040"/>
                </a:solidFill>
                <a:latin typeface="Calibri" pitchFamily="34" charset="0"/>
                <a:ea typeface="Calibri" pitchFamily="34" charset="-122"/>
                <a:cs typeface="Calibri" pitchFamily="34" charset="-120"/>
              </a:rPr>
              <a:t>¿Cuál es el problema público?</a:t>
            </a:r>
            <a:endParaRPr lang="en-US" sz="1250" dirty="0"/>
          </a:p>
        </p:txBody>
      </p:sp>
      <p:sp>
        <p:nvSpPr>
          <p:cNvPr id="13" name="Shape 10"/>
          <p:cNvSpPr/>
          <p:nvPr/>
        </p:nvSpPr>
        <p:spPr>
          <a:xfrm>
            <a:off x="548640" y="2093976"/>
            <a:ext cx="292608" cy="292608"/>
          </a:xfrm>
          <a:prstGeom prst="ellipse">
            <a:avLst/>
          </a:prstGeom>
          <a:solidFill>
            <a:srgbClr val="ED2E45"/>
          </a:solidFill>
          <a:ln w="12700">
            <a:solidFill>
              <a:srgbClr val="ED2E45"/>
            </a:solidFill>
            <a:prstDash val="solid"/>
          </a:ln>
        </p:spPr>
        <p:txBody>
          <a:bodyPr/>
          <a:lstStyle/>
          <a:p>
            <a:endParaRPr lang="es-PE"/>
          </a:p>
        </p:txBody>
      </p:sp>
      <p:sp>
        <p:nvSpPr>
          <p:cNvPr id="14" name="Text 11"/>
          <p:cNvSpPr txBox="1"/>
          <p:nvPr/>
        </p:nvSpPr>
        <p:spPr>
          <a:xfrm>
            <a:off x="548640" y="2093976"/>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5" name="Text 12"/>
          <p:cNvSpPr txBox="1"/>
          <p:nvPr/>
        </p:nvSpPr>
        <p:spPr>
          <a:xfrm>
            <a:off x="960120" y="2057400"/>
            <a:ext cx="4480560" cy="365760"/>
          </a:xfrm>
          <a:prstGeom prst="rect">
            <a:avLst/>
          </a:prstGeom>
          <a:noFill/>
          <a:ln/>
        </p:spPr>
        <p:txBody>
          <a:bodyPr wrap="square" lIns="0" tIns="0" rIns="0" bIns="0" rtlCol="0" anchor="ctr"/>
          <a:lstStyle/>
          <a:p>
            <a:pPr marL="0" indent="0">
              <a:buNone/>
            </a:pPr>
            <a:r>
              <a:rPr lang="en-US" sz="1250" dirty="0">
                <a:solidFill>
                  <a:srgbClr val="404040"/>
                </a:solidFill>
                <a:latin typeface="Calibri" pitchFamily="34" charset="0"/>
                <a:ea typeface="Calibri" pitchFamily="34" charset="-122"/>
                <a:cs typeface="Calibri" pitchFamily="34" charset="-120"/>
              </a:rPr>
              <a:t>¿A quién afecta?</a:t>
            </a:r>
            <a:endParaRPr lang="en-US" sz="1250" dirty="0"/>
          </a:p>
        </p:txBody>
      </p:sp>
      <p:sp>
        <p:nvSpPr>
          <p:cNvPr id="16" name="Shape 13"/>
          <p:cNvSpPr/>
          <p:nvPr/>
        </p:nvSpPr>
        <p:spPr>
          <a:xfrm>
            <a:off x="548640" y="2523744"/>
            <a:ext cx="292608" cy="292608"/>
          </a:xfrm>
          <a:prstGeom prst="ellipse">
            <a:avLst/>
          </a:prstGeom>
          <a:solidFill>
            <a:srgbClr val="ED2E45"/>
          </a:solidFill>
          <a:ln w="12700">
            <a:solidFill>
              <a:srgbClr val="ED2E45"/>
            </a:solidFill>
            <a:prstDash val="solid"/>
          </a:ln>
        </p:spPr>
        <p:txBody>
          <a:bodyPr/>
          <a:lstStyle/>
          <a:p>
            <a:endParaRPr lang="es-PE"/>
          </a:p>
        </p:txBody>
      </p:sp>
      <p:sp>
        <p:nvSpPr>
          <p:cNvPr id="17" name="Text 14"/>
          <p:cNvSpPr txBox="1"/>
          <p:nvPr/>
        </p:nvSpPr>
        <p:spPr>
          <a:xfrm>
            <a:off x="548640" y="2523744"/>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18" name="Text 15"/>
          <p:cNvSpPr txBox="1"/>
          <p:nvPr/>
        </p:nvSpPr>
        <p:spPr>
          <a:xfrm>
            <a:off x="960120" y="2487168"/>
            <a:ext cx="4480560" cy="365760"/>
          </a:xfrm>
          <a:prstGeom prst="rect">
            <a:avLst/>
          </a:prstGeom>
          <a:noFill/>
          <a:ln/>
        </p:spPr>
        <p:txBody>
          <a:bodyPr wrap="square" lIns="0" tIns="0" rIns="0" bIns="0" rtlCol="0" anchor="ctr"/>
          <a:lstStyle/>
          <a:p>
            <a:pPr marL="0" indent="0">
              <a:buNone/>
            </a:pPr>
            <a:r>
              <a:rPr lang="en-US" sz="1250" dirty="0">
                <a:solidFill>
                  <a:srgbClr val="404040"/>
                </a:solidFill>
                <a:latin typeface="Calibri" pitchFamily="34" charset="0"/>
                <a:ea typeface="Calibri" pitchFamily="34" charset="-122"/>
                <a:cs typeface="Calibri" pitchFamily="34" charset="-120"/>
              </a:rPr>
              <a:t>¿Dónde se concentra?</a:t>
            </a:r>
            <a:endParaRPr lang="en-US" sz="1250" dirty="0"/>
          </a:p>
        </p:txBody>
      </p:sp>
      <p:sp>
        <p:nvSpPr>
          <p:cNvPr id="19" name="Shape 16"/>
          <p:cNvSpPr/>
          <p:nvPr/>
        </p:nvSpPr>
        <p:spPr>
          <a:xfrm>
            <a:off x="548640" y="2953512"/>
            <a:ext cx="292608" cy="292608"/>
          </a:xfrm>
          <a:prstGeom prst="ellipse">
            <a:avLst/>
          </a:prstGeom>
          <a:solidFill>
            <a:srgbClr val="ED2E45"/>
          </a:solidFill>
          <a:ln w="12700">
            <a:solidFill>
              <a:srgbClr val="ED2E45"/>
            </a:solidFill>
            <a:prstDash val="solid"/>
          </a:ln>
        </p:spPr>
        <p:txBody>
          <a:bodyPr/>
          <a:lstStyle/>
          <a:p>
            <a:endParaRPr lang="es-PE"/>
          </a:p>
        </p:txBody>
      </p:sp>
      <p:sp>
        <p:nvSpPr>
          <p:cNvPr id="20" name="Text 17"/>
          <p:cNvSpPr txBox="1"/>
          <p:nvPr/>
        </p:nvSpPr>
        <p:spPr>
          <a:xfrm>
            <a:off x="548640" y="2953512"/>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1" name="Text 18"/>
          <p:cNvSpPr txBox="1"/>
          <p:nvPr/>
        </p:nvSpPr>
        <p:spPr>
          <a:xfrm>
            <a:off x="960120" y="2916936"/>
            <a:ext cx="4480560" cy="365760"/>
          </a:xfrm>
          <a:prstGeom prst="rect">
            <a:avLst/>
          </a:prstGeom>
          <a:noFill/>
          <a:ln/>
        </p:spPr>
        <p:txBody>
          <a:bodyPr wrap="square" lIns="0" tIns="0" rIns="0" bIns="0" rtlCol="0" anchor="ctr"/>
          <a:lstStyle/>
          <a:p>
            <a:pPr marL="0" indent="0">
              <a:buNone/>
            </a:pPr>
            <a:r>
              <a:rPr lang="en-US" sz="1250" dirty="0">
                <a:solidFill>
                  <a:srgbClr val="404040"/>
                </a:solidFill>
                <a:latin typeface="Calibri" pitchFamily="34" charset="0"/>
                <a:ea typeface="Calibri" pitchFamily="34" charset="-122"/>
                <a:cs typeface="Calibri" pitchFamily="34" charset="-120"/>
              </a:rPr>
              <a:t>¿Qué dimensiones del problema estamos observando?</a:t>
            </a:r>
            <a:endParaRPr lang="en-US" sz="1250" dirty="0"/>
          </a:p>
        </p:txBody>
      </p:sp>
      <p:sp>
        <p:nvSpPr>
          <p:cNvPr id="22" name="Shape 19"/>
          <p:cNvSpPr/>
          <p:nvPr/>
        </p:nvSpPr>
        <p:spPr>
          <a:xfrm>
            <a:off x="548640" y="3383280"/>
            <a:ext cx="292608" cy="292608"/>
          </a:xfrm>
          <a:prstGeom prst="ellipse">
            <a:avLst/>
          </a:prstGeom>
          <a:solidFill>
            <a:srgbClr val="ED2E45"/>
          </a:solidFill>
          <a:ln w="12700">
            <a:solidFill>
              <a:srgbClr val="ED2E45"/>
            </a:solidFill>
            <a:prstDash val="solid"/>
          </a:ln>
        </p:spPr>
        <p:txBody>
          <a:bodyPr/>
          <a:lstStyle/>
          <a:p>
            <a:endParaRPr lang="es-PE"/>
          </a:p>
        </p:txBody>
      </p:sp>
      <p:sp>
        <p:nvSpPr>
          <p:cNvPr id="23" name="Text 20"/>
          <p:cNvSpPr txBox="1"/>
          <p:nvPr/>
        </p:nvSpPr>
        <p:spPr>
          <a:xfrm>
            <a:off x="548640" y="3383280"/>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24" name="Text 21"/>
          <p:cNvSpPr txBox="1"/>
          <p:nvPr/>
        </p:nvSpPr>
        <p:spPr>
          <a:xfrm>
            <a:off x="960120" y="3346704"/>
            <a:ext cx="4480560" cy="365760"/>
          </a:xfrm>
          <a:prstGeom prst="rect">
            <a:avLst/>
          </a:prstGeom>
          <a:noFill/>
          <a:ln/>
        </p:spPr>
        <p:txBody>
          <a:bodyPr wrap="square" lIns="0" tIns="0" rIns="0" bIns="0" rtlCol="0" anchor="ctr"/>
          <a:lstStyle/>
          <a:p>
            <a:pPr marL="0" indent="0">
              <a:buNone/>
            </a:pPr>
            <a:r>
              <a:rPr lang="en-US" sz="1250" dirty="0">
                <a:solidFill>
                  <a:srgbClr val="404040"/>
                </a:solidFill>
                <a:latin typeface="Calibri" pitchFamily="34" charset="0"/>
                <a:ea typeface="Calibri" pitchFamily="34" charset="-122"/>
                <a:cs typeface="Calibri" pitchFamily="34" charset="-120"/>
              </a:rPr>
              <a:t>¿Qué factores pueden estar relacionados?</a:t>
            </a:r>
            <a:endParaRPr lang="en-US" sz="1250" dirty="0"/>
          </a:p>
        </p:txBody>
      </p:sp>
      <p:sp>
        <p:nvSpPr>
          <p:cNvPr id="25" name="Shape 22"/>
          <p:cNvSpPr/>
          <p:nvPr/>
        </p:nvSpPr>
        <p:spPr>
          <a:xfrm>
            <a:off x="548640" y="3813048"/>
            <a:ext cx="292608" cy="292608"/>
          </a:xfrm>
          <a:prstGeom prst="ellipse">
            <a:avLst/>
          </a:prstGeom>
          <a:solidFill>
            <a:srgbClr val="ED2E45"/>
          </a:solidFill>
          <a:ln w="12700">
            <a:solidFill>
              <a:srgbClr val="ED2E45"/>
            </a:solidFill>
            <a:prstDash val="solid"/>
          </a:ln>
        </p:spPr>
        <p:txBody>
          <a:bodyPr/>
          <a:lstStyle/>
          <a:p>
            <a:endParaRPr lang="es-PE"/>
          </a:p>
        </p:txBody>
      </p:sp>
      <p:sp>
        <p:nvSpPr>
          <p:cNvPr id="26" name="Text 23"/>
          <p:cNvSpPr txBox="1"/>
          <p:nvPr/>
        </p:nvSpPr>
        <p:spPr>
          <a:xfrm>
            <a:off x="548640" y="3813048"/>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27" name="Text 24"/>
          <p:cNvSpPr txBox="1"/>
          <p:nvPr/>
        </p:nvSpPr>
        <p:spPr>
          <a:xfrm>
            <a:off x="960120" y="3776472"/>
            <a:ext cx="4480560" cy="365760"/>
          </a:xfrm>
          <a:prstGeom prst="rect">
            <a:avLst/>
          </a:prstGeom>
          <a:noFill/>
          <a:ln/>
        </p:spPr>
        <p:txBody>
          <a:bodyPr wrap="square" lIns="0" tIns="0" rIns="0" bIns="0" rtlCol="0" anchor="ctr"/>
          <a:lstStyle/>
          <a:p>
            <a:pPr marL="0" indent="0">
              <a:buNone/>
            </a:pPr>
            <a:r>
              <a:rPr lang="en-US" sz="1250" dirty="0">
                <a:solidFill>
                  <a:srgbClr val="404040"/>
                </a:solidFill>
                <a:latin typeface="Calibri" pitchFamily="34" charset="0"/>
                <a:ea typeface="Calibri" pitchFamily="34" charset="-122"/>
                <a:cs typeface="Calibri" pitchFamily="34" charset="-120"/>
              </a:rPr>
              <a:t>¿Qué brechas hemos identificado?</a:t>
            </a:r>
            <a:endParaRPr lang="en-US" sz="1250" dirty="0"/>
          </a:p>
        </p:txBody>
      </p:sp>
      <p:sp>
        <p:nvSpPr>
          <p:cNvPr id="28" name="Shape 25"/>
          <p:cNvSpPr/>
          <p:nvPr/>
        </p:nvSpPr>
        <p:spPr>
          <a:xfrm>
            <a:off x="548640" y="4242816"/>
            <a:ext cx="292608" cy="292608"/>
          </a:xfrm>
          <a:prstGeom prst="ellipse">
            <a:avLst/>
          </a:prstGeom>
          <a:solidFill>
            <a:srgbClr val="ED2E45"/>
          </a:solidFill>
          <a:ln w="12700">
            <a:solidFill>
              <a:srgbClr val="ED2E45"/>
            </a:solidFill>
            <a:prstDash val="solid"/>
          </a:ln>
        </p:spPr>
        <p:txBody>
          <a:bodyPr/>
          <a:lstStyle/>
          <a:p>
            <a:endParaRPr lang="es-PE"/>
          </a:p>
        </p:txBody>
      </p:sp>
      <p:sp>
        <p:nvSpPr>
          <p:cNvPr id="29" name="Text 26"/>
          <p:cNvSpPr txBox="1"/>
          <p:nvPr/>
        </p:nvSpPr>
        <p:spPr>
          <a:xfrm>
            <a:off x="548640" y="4242816"/>
            <a:ext cx="292608" cy="2926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7</a:t>
            </a:r>
            <a:endParaRPr lang="en-US" sz="1050" dirty="0"/>
          </a:p>
        </p:txBody>
      </p:sp>
      <p:sp>
        <p:nvSpPr>
          <p:cNvPr id="30" name="Text 27"/>
          <p:cNvSpPr txBox="1"/>
          <p:nvPr/>
        </p:nvSpPr>
        <p:spPr>
          <a:xfrm>
            <a:off x="960120" y="4206240"/>
            <a:ext cx="4480560" cy="365760"/>
          </a:xfrm>
          <a:prstGeom prst="rect">
            <a:avLst/>
          </a:prstGeom>
          <a:noFill/>
          <a:ln/>
        </p:spPr>
        <p:txBody>
          <a:bodyPr wrap="square" lIns="0" tIns="0" rIns="0" bIns="0" rtlCol="0" anchor="ctr"/>
          <a:lstStyle/>
          <a:p>
            <a:pPr marL="0" indent="0">
              <a:buNone/>
            </a:pPr>
            <a:r>
              <a:rPr lang="en-US" sz="1250" dirty="0">
                <a:solidFill>
                  <a:srgbClr val="404040"/>
                </a:solidFill>
                <a:latin typeface="Calibri" pitchFamily="34" charset="0"/>
                <a:ea typeface="Calibri" pitchFamily="34" charset="-122"/>
                <a:cs typeface="Calibri" pitchFamily="34" charset="-120"/>
              </a:rPr>
              <a:t>¿Qué decisión o intervención podría mejorar esta situación?</a:t>
            </a:r>
            <a:endParaRPr lang="en-US" sz="1250" dirty="0"/>
          </a:p>
        </p:txBody>
      </p:sp>
      <p:sp>
        <p:nvSpPr>
          <p:cNvPr id="31" name="Shape 28"/>
          <p:cNvSpPr/>
          <p:nvPr/>
        </p:nvSpPr>
        <p:spPr>
          <a:xfrm>
            <a:off x="5669280" y="1691640"/>
            <a:ext cx="2926080" cy="1143000"/>
          </a:xfrm>
          <a:prstGeom prst="roundRect">
            <a:avLst>
              <a:gd name="adj" fmla="val 6400"/>
            </a:avLst>
          </a:prstGeom>
          <a:solidFill>
            <a:srgbClr val="FFFFFF"/>
          </a:solidFill>
          <a:ln w="12700">
            <a:solidFill>
              <a:srgbClr val="ED2E45"/>
            </a:solidFill>
            <a:prstDash val="solid"/>
          </a:ln>
        </p:spPr>
        <p:txBody>
          <a:bodyPr/>
          <a:lstStyle/>
          <a:p>
            <a:endParaRPr lang="es-PE"/>
          </a:p>
        </p:txBody>
      </p:sp>
      <p:sp>
        <p:nvSpPr>
          <p:cNvPr id="32" name="Shape 29"/>
          <p:cNvSpPr/>
          <p:nvPr/>
        </p:nvSpPr>
        <p:spPr>
          <a:xfrm>
            <a:off x="5779008" y="1572768"/>
            <a:ext cx="868680" cy="237744"/>
          </a:xfrm>
          <a:prstGeom prst="roundRect">
            <a:avLst>
              <a:gd name="adj" fmla="val 50000"/>
            </a:avLst>
          </a:prstGeom>
          <a:solidFill>
            <a:srgbClr val="ED2E45"/>
          </a:solidFill>
          <a:ln w="12700">
            <a:solidFill>
              <a:srgbClr val="ED2E45"/>
            </a:solidFill>
            <a:prstDash val="solid"/>
          </a:ln>
        </p:spPr>
        <p:txBody>
          <a:bodyPr/>
          <a:lstStyle/>
          <a:p>
            <a:endParaRPr lang="es-PE"/>
          </a:p>
        </p:txBody>
      </p:sp>
      <p:sp>
        <p:nvSpPr>
          <p:cNvPr id="33" name="Text 30"/>
          <p:cNvSpPr txBox="1"/>
          <p:nvPr/>
        </p:nvSpPr>
        <p:spPr>
          <a:xfrm>
            <a:off x="5779008" y="1572768"/>
            <a:ext cx="868680" cy="237744"/>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¿QUÉ ES?</a:t>
            </a:r>
            <a:endParaRPr lang="en-US" sz="850" dirty="0"/>
          </a:p>
        </p:txBody>
      </p:sp>
      <p:sp>
        <p:nvSpPr>
          <p:cNvPr id="34" name="Text 31"/>
          <p:cNvSpPr txBox="1"/>
          <p:nvPr/>
        </p:nvSpPr>
        <p:spPr>
          <a:xfrm>
            <a:off x="5806440" y="1764792"/>
            <a:ext cx="2651760" cy="1033272"/>
          </a:xfrm>
          <a:prstGeom prst="rect">
            <a:avLst/>
          </a:prstGeom>
          <a:noFill/>
          <a:ln/>
        </p:spPr>
        <p:txBody>
          <a:bodyPr wrap="square" lIns="0" tIns="0" rIns="0" bIns="0" rtlCol="0" anchor="ctr"/>
          <a:lstStyle/>
          <a:p>
            <a:pPr marL="0" indent="0">
              <a:buNone/>
            </a:pPr>
            <a:r>
              <a:rPr lang="en-US" sz="1050" b="1" dirty="0">
                <a:solidFill>
                  <a:srgbClr val="ED2E45"/>
                </a:solidFill>
                <a:latin typeface="Calibri" pitchFamily="34" charset="0"/>
                <a:ea typeface="Calibri" pitchFamily="34" charset="-122"/>
                <a:cs typeface="Calibri" pitchFamily="34" charset="-120"/>
              </a:rPr>
              <a:t>Problema público: </a:t>
            </a:r>
            <a:r>
              <a:rPr lang="en-US" sz="1050" dirty="0">
                <a:solidFill>
                  <a:srgbClr val="404040"/>
                </a:solidFill>
                <a:latin typeface="Calibri" pitchFamily="34" charset="0"/>
                <a:ea typeface="Calibri" pitchFamily="34" charset="-122"/>
                <a:cs typeface="Calibri" pitchFamily="34" charset="-120"/>
              </a:rPr>
              <a:t>situación que afecta los derechos o el bienestar de un grupo de la población y que requiere la acción del Estado.</a:t>
            </a:r>
            <a:endParaRPr lang="en-US" sz="1050" dirty="0"/>
          </a:p>
        </p:txBody>
      </p:sp>
      <p:sp>
        <p:nvSpPr>
          <p:cNvPr id="35" name="Shape 32"/>
          <p:cNvSpPr/>
          <p:nvPr/>
        </p:nvSpPr>
        <p:spPr>
          <a:xfrm>
            <a:off x="5669280" y="3063240"/>
            <a:ext cx="2926080" cy="777240"/>
          </a:xfrm>
          <a:prstGeom prst="roundRect">
            <a:avLst>
              <a:gd name="adj" fmla="val 9412"/>
            </a:avLst>
          </a:prstGeom>
          <a:solidFill>
            <a:srgbClr val="FFFFFF"/>
          </a:solidFill>
          <a:ln w="12700">
            <a:solidFill>
              <a:srgbClr val="ED2E45"/>
            </a:solidFill>
            <a:prstDash val="solid"/>
          </a:ln>
        </p:spPr>
        <p:txBody>
          <a:bodyPr/>
          <a:lstStyle/>
          <a:p>
            <a:endParaRPr lang="es-PE"/>
          </a:p>
        </p:txBody>
      </p:sp>
      <p:sp>
        <p:nvSpPr>
          <p:cNvPr id="36" name="Shape 33"/>
          <p:cNvSpPr/>
          <p:nvPr/>
        </p:nvSpPr>
        <p:spPr>
          <a:xfrm>
            <a:off x="5779008" y="2944368"/>
            <a:ext cx="868680" cy="237744"/>
          </a:xfrm>
          <a:prstGeom prst="roundRect">
            <a:avLst>
              <a:gd name="adj" fmla="val 50000"/>
            </a:avLst>
          </a:prstGeom>
          <a:solidFill>
            <a:srgbClr val="ED2E45"/>
          </a:solidFill>
          <a:ln w="12700">
            <a:solidFill>
              <a:srgbClr val="ED2E45"/>
            </a:solidFill>
            <a:prstDash val="solid"/>
          </a:ln>
        </p:spPr>
        <p:txBody>
          <a:bodyPr/>
          <a:lstStyle/>
          <a:p>
            <a:endParaRPr lang="es-PE"/>
          </a:p>
        </p:txBody>
      </p:sp>
      <p:sp>
        <p:nvSpPr>
          <p:cNvPr id="37" name="Text 34"/>
          <p:cNvSpPr txBox="1"/>
          <p:nvPr/>
        </p:nvSpPr>
        <p:spPr>
          <a:xfrm>
            <a:off x="5779008" y="2944368"/>
            <a:ext cx="868680" cy="237744"/>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¿QUÉ ES?</a:t>
            </a:r>
            <a:endParaRPr lang="en-US" sz="850" dirty="0"/>
          </a:p>
        </p:txBody>
      </p:sp>
      <p:sp>
        <p:nvSpPr>
          <p:cNvPr id="38" name="Text 35"/>
          <p:cNvSpPr txBox="1"/>
          <p:nvPr/>
        </p:nvSpPr>
        <p:spPr>
          <a:xfrm>
            <a:off x="5806440" y="3136392"/>
            <a:ext cx="2651760" cy="667512"/>
          </a:xfrm>
          <a:prstGeom prst="rect">
            <a:avLst/>
          </a:prstGeom>
          <a:noFill/>
          <a:ln/>
        </p:spPr>
        <p:txBody>
          <a:bodyPr wrap="square" lIns="0" tIns="0" rIns="0" bIns="0" rtlCol="0" anchor="ctr"/>
          <a:lstStyle/>
          <a:p>
            <a:pPr marL="0" indent="0">
              <a:buNone/>
            </a:pPr>
            <a:r>
              <a:rPr lang="en-US" sz="1050" b="1" dirty="0">
                <a:solidFill>
                  <a:srgbClr val="ED2E45"/>
                </a:solidFill>
                <a:latin typeface="Calibri" pitchFamily="34" charset="0"/>
                <a:ea typeface="Calibri" pitchFamily="34" charset="-122"/>
                <a:cs typeface="Calibri" pitchFamily="34" charset="-120"/>
              </a:rPr>
              <a:t>Brecha: </a:t>
            </a:r>
            <a:r>
              <a:rPr lang="en-US" sz="1050" dirty="0">
                <a:solidFill>
                  <a:srgbClr val="404040"/>
                </a:solidFill>
                <a:latin typeface="Calibri" pitchFamily="34" charset="0"/>
                <a:ea typeface="Calibri" pitchFamily="34" charset="-122"/>
                <a:cs typeface="Calibri" pitchFamily="34" charset="-120"/>
              </a:rPr>
              <a:t>diferencia entre la situación de un grupo y la de otro, o frente a una meta.</a:t>
            </a:r>
            <a:endParaRPr lang="en-US" sz="1050" dirty="0"/>
          </a:p>
        </p:txBody>
      </p:sp>
      <p:sp>
        <p:nvSpPr>
          <p:cNvPr id="39" name="Shape 36"/>
          <p:cNvSpPr/>
          <p:nvPr/>
        </p:nvSpPr>
        <p:spPr>
          <a:xfrm>
            <a:off x="5669280" y="4023360"/>
            <a:ext cx="2926080" cy="777240"/>
          </a:xfrm>
          <a:prstGeom prst="roundRect">
            <a:avLst>
              <a:gd name="adj" fmla="val 9412"/>
            </a:avLst>
          </a:prstGeom>
          <a:solidFill>
            <a:srgbClr val="ED2E45"/>
          </a:solidFill>
          <a:ln w="12700">
            <a:solidFill>
              <a:srgbClr val="ED2E45"/>
            </a:solidFill>
            <a:prstDash val="solid"/>
          </a:ln>
        </p:spPr>
        <p:txBody>
          <a:bodyPr/>
          <a:lstStyle/>
          <a:p>
            <a:endParaRPr lang="es-PE"/>
          </a:p>
        </p:txBody>
      </p:sp>
      <p:sp>
        <p:nvSpPr>
          <p:cNvPr id="40" name="Text 37"/>
          <p:cNvSpPr txBox="1"/>
          <p:nvPr/>
        </p:nvSpPr>
        <p:spPr>
          <a:xfrm>
            <a:off x="5806440" y="4023360"/>
            <a:ext cx="2697480" cy="7772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La tecnología debe responder a una necesidad pública identificada, no al revés.</a:t>
            </a:r>
            <a:endParaRPr lang="en-US" sz="1100" dirty="0"/>
          </a:p>
        </p:txBody>
      </p:sp>
      <p:pic>
        <p:nvPicPr>
          <p:cNvPr id="41" name="Image 0" descr="a/logo_mimp_h.png"/>
          <p:cNvPicPr>
            <a:picLocks noChangeAspect="1"/>
          </p:cNvPicPr>
          <p:nvPr/>
        </p:nvPicPr>
        <p:blipFill>
          <a:blip r:embed="rId4"/>
          <a:stretch>
            <a:fillRect/>
          </a:stretch>
        </p:blipFill>
        <p:spPr>
          <a:xfrm>
            <a:off x="184709" y="110642"/>
            <a:ext cx="1790395" cy="417881"/>
          </a:xfrm>
          <a:prstGeom prst="rect">
            <a:avLst/>
          </a:prstGeom>
        </p:spPr>
      </p:pic>
      <p:pic>
        <p:nvPicPr>
          <p:cNvPr id="42" name="Image 1" descr="a/logo_30.png"/>
          <p:cNvPicPr>
            <a:picLocks noChangeAspect="1"/>
          </p:cNvPicPr>
          <p:nvPr/>
        </p:nvPicPr>
        <p:blipFill>
          <a:blip r:embed="rId5"/>
          <a:stretch>
            <a:fillRect/>
          </a:stretch>
        </p:blipFill>
        <p:spPr>
          <a:xfrm>
            <a:off x="3611880" y="2743"/>
            <a:ext cx="1158545" cy="622706"/>
          </a:xfrm>
          <a:prstGeom prst="rect">
            <a:avLst/>
          </a:prstGeom>
        </p:spPr>
      </p:pic>
      <p:pic>
        <p:nvPicPr>
          <p:cNvPr id="43" name="Image 2" descr="a/logo_peru_responde.png"/>
          <p:cNvPicPr>
            <a:picLocks noChangeAspect="1"/>
          </p:cNvPicPr>
          <p:nvPr/>
        </p:nvPicPr>
        <p:blipFill>
          <a:blip r:embed="rId6"/>
          <a:stretch>
            <a:fillRect/>
          </a:stretch>
        </p:blipFill>
        <p:spPr>
          <a:xfrm>
            <a:off x="7299655" y="102413"/>
            <a:ext cx="1602943" cy="475488"/>
          </a:xfrm>
          <a:prstGeom prst="rect">
            <a:avLst/>
          </a:prstGeom>
        </p:spPr>
      </p:pic>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65192"/>
            <a:ext cx="9144000" cy="178308"/>
          </a:xfrm>
          <a:prstGeom prst="rect">
            <a:avLst/>
          </a:prstGeom>
          <a:solidFill>
            <a:srgbClr val="ED2E45"/>
          </a:solidFill>
          <a:ln w="12700">
            <a:solidFill>
              <a:srgbClr val="ED2E45"/>
            </a:solidFill>
            <a:prstDash val="solid"/>
          </a:ln>
        </p:spPr>
        <p:txBody>
          <a:bodyPr/>
          <a:lstStyle/>
          <a:p>
            <a:endParaRPr lang="es-PE"/>
          </a:p>
        </p:txBody>
      </p:sp>
      <p:sp>
        <p:nvSpPr>
          <p:cNvPr id="3" name="Text 1"/>
          <p:cNvSpPr txBox="1"/>
          <p:nvPr/>
        </p:nvSpPr>
        <p:spPr>
          <a:xfrm>
            <a:off x="548640" y="4965192"/>
            <a:ext cx="2011680" cy="178308"/>
          </a:xfrm>
          <a:prstGeom prst="rect">
            <a:avLst/>
          </a:prstGeom>
          <a:noFill/>
          <a:ln/>
        </p:spPr>
        <p:txBody>
          <a:bodyPr wrap="square" lIns="0" tIns="0" rIns="0" bIns="0" rtlCol="0" anchor="ctr"/>
          <a:lstStyle/>
          <a:p>
            <a:pPr marL="0" indent="0">
              <a:buNone/>
            </a:pPr>
            <a:r>
              <a:rPr lang="en-US" sz="750" b="1" kern="0" spc="100" dirty="0">
                <a:solidFill>
                  <a:srgbClr val="FFFFFF"/>
                </a:solidFill>
                <a:latin typeface="Calibri" pitchFamily="34" charset="0"/>
                <a:ea typeface="Calibri" pitchFamily="34" charset="-122"/>
                <a:cs typeface="Calibri" pitchFamily="34" charset="-120"/>
              </a:rPr>
              <a:t>I · COMPRENDER</a:t>
            </a:r>
            <a:endParaRPr lang="en-US" sz="750" dirty="0"/>
          </a:p>
        </p:txBody>
      </p:sp>
      <p:sp>
        <p:nvSpPr>
          <p:cNvPr id="4" name="Text 2"/>
          <p:cNvSpPr txBox="1"/>
          <p:nvPr/>
        </p:nvSpPr>
        <p:spPr>
          <a:xfrm>
            <a:off x="256032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II · DISEÑAR</a:t>
            </a:r>
            <a:endParaRPr lang="en-US" sz="750" dirty="0"/>
          </a:p>
        </p:txBody>
      </p:sp>
      <p:sp>
        <p:nvSpPr>
          <p:cNvPr id="5" name="Text 3"/>
          <p:cNvSpPr txBox="1"/>
          <p:nvPr/>
        </p:nvSpPr>
        <p:spPr>
          <a:xfrm>
            <a:off x="457200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III · VALIDAR</a:t>
            </a:r>
            <a:endParaRPr lang="en-US" sz="750" dirty="0"/>
          </a:p>
        </p:txBody>
      </p:sp>
      <p:sp>
        <p:nvSpPr>
          <p:cNvPr id="6" name="Text 4"/>
          <p:cNvSpPr txBox="1"/>
          <p:nvPr/>
        </p:nvSpPr>
        <p:spPr>
          <a:xfrm>
            <a:off x="658368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IV · COMUNICAR</a:t>
            </a:r>
            <a:endParaRPr lang="en-US" sz="750" dirty="0"/>
          </a:p>
        </p:txBody>
      </p:sp>
      <p:sp>
        <p:nvSpPr>
          <p:cNvPr id="8" name="Text 5"/>
          <p:cNvSpPr txBox="1"/>
          <p:nvPr/>
        </p:nvSpPr>
        <p:spPr>
          <a:xfrm>
            <a:off x="548640" y="731520"/>
            <a:ext cx="8046720" cy="502920"/>
          </a:xfrm>
          <a:prstGeom prst="rect">
            <a:avLst/>
          </a:prstGeom>
          <a:noFill/>
          <a:ln/>
        </p:spPr>
        <p:txBody>
          <a:bodyPr wrap="square" lIns="0" tIns="0" rIns="0" bIns="0" rtlCol="0" anchor="ctr"/>
          <a:lstStyle/>
          <a:p>
            <a:pPr marL="0" indent="0">
              <a:buNone/>
            </a:pPr>
            <a:r>
              <a:rPr lang="en-US" sz="2200" b="1" dirty="0">
                <a:solidFill>
                  <a:srgbClr val="ED2E45"/>
                </a:solidFill>
                <a:latin typeface="Montserrat" pitchFamily="34" charset="0"/>
                <a:ea typeface="Montserrat" pitchFamily="34" charset="-122"/>
                <a:cs typeface="Montserrat" pitchFamily="34" charset="-120"/>
              </a:rPr>
              <a:t>Definir el problema público</a:t>
            </a:r>
            <a:endParaRPr lang="en-US" sz="2200" dirty="0"/>
          </a:p>
        </p:txBody>
      </p:sp>
      <p:sp>
        <p:nvSpPr>
          <p:cNvPr id="9" name="Text 6"/>
          <p:cNvSpPr txBox="1"/>
          <p:nvPr/>
        </p:nvSpPr>
        <p:spPr>
          <a:xfrm>
            <a:off x="548640" y="1216152"/>
            <a:ext cx="8046720" cy="274320"/>
          </a:xfrm>
          <a:prstGeom prst="rect">
            <a:avLst/>
          </a:prstGeom>
          <a:noFill/>
          <a:ln/>
        </p:spPr>
        <p:txBody>
          <a:bodyPr wrap="square" lIns="0" tIns="0" rIns="0" bIns="0" rtlCol="0" anchor="ctr"/>
          <a:lstStyle/>
          <a:p>
            <a:pPr marL="0" indent="0">
              <a:buNone/>
            </a:pPr>
            <a:r>
              <a:rPr lang="en-US" sz="1250" dirty="0">
                <a:solidFill>
                  <a:srgbClr val="6B6B6B"/>
                </a:solidFill>
                <a:latin typeface="Calibri" pitchFamily="34" charset="0"/>
                <a:ea typeface="Calibri" pitchFamily="34" charset="-122"/>
                <a:cs typeface="Calibri" pitchFamily="34" charset="-120"/>
              </a:rPr>
              <a:t>Una fórmula sencilla para formularlo en una sola frase</a:t>
            </a:r>
            <a:endParaRPr lang="en-US" sz="1250" dirty="0"/>
          </a:p>
        </p:txBody>
      </p:sp>
      <p:sp>
        <p:nvSpPr>
          <p:cNvPr id="10" name="Shape 7"/>
          <p:cNvSpPr/>
          <p:nvPr/>
        </p:nvSpPr>
        <p:spPr>
          <a:xfrm>
            <a:off x="548640" y="1600200"/>
            <a:ext cx="1426464" cy="731520"/>
          </a:xfrm>
          <a:prstGeom prst="roundRect">
            <a:avLst>
              <a:gd name="adj" fmla="val 10000"/>
            </a:avLst>
          </a:prstGeom>
          <a:solidFill>
            <a:srgbClr val="ED2E45"/>
          </a:solidFill>
          <a:ln w="12700">
            <a:solidFill>
              <a:srgbClr val="ED2E45"/>
            </a:solidFill>
            <a:prstDash val="solid"/>
          </a:ln>
        </p:spPr>
        <p:txBody>
          <a:bodyPr/>
          <a:lstStyle/>
          <a:p>
            <a:endParaRPr lang="es-PE"/>
          </a:p>
        </p:txBody>
      </p:sp>
      <p:sp>
        <p:nvSpPr>
          <p:cNvPr id="11" name="Text 8"/>
          <p:cNvSpPr txBox="1"/>
          <p:nvPr/>
        </p:nvSpPr>
        <p:spPr>
          <a:xfrm>
            <a:off x="594360" y="1600200"/>
            <a:ext cx="1335024" cy="7315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Situación problemática</a:t>
            </a:r>
            <a:endParaRPr lang="en-US" sz="1100" dirty="0"/>
          </a:p>
          <a:p>
            <a:pPr marL="0" indent="0" algn="ctr">
              <a:buNone/>
            </a:pPr>
            <a:r>
              <a:rPr lang="en-US" sz="1000" i="1" dirty="0">
                <a:solidFill>
                  <a:srgbClr val="FFFFFF"/>
                </a:solidFill>
                <a:latin typeface="Calibri" pitchFamily="34" charset="0"/>
                <a:ea typeface="Calibri" pitchFamily="34" charset="-122"/>
                <a:cs typeface="Calibri" pitchFamily="34" charset="-120"/>
              </a:rPr>
              <a:t>qué ocurre</a:t>
            </a:r>
            <a:endParaRPr lang="en-US" sz="1100" dirty="0"/>
          </a:p>
        </p:txBody>
      </p:sp>
      <p:sp>
        <p:nvSpPr>
          <p:cNvPr id="12" name="Text 9"/>
          <p:cNvSpPr txBox="1"/>
          <p:nvPr/>
        </p:nvSpPr>
        <p:spPr>
          <a:xfrm>
            <a:off x="1975104" y="1600200"/>
            <a:ext cx="228600" cy="731520"/>
          </a:xfrm>
          <a:prstGeom prst="rect">
            <a:avLst/>
          </a:prstGeom>
          <a:noFill/>
          <a:ln/>
        </p:spPr>
        <p:txBody>
          <a:bodyPr wrap="square" lIns="0" tIns="0" rIns="0" bIns="0" rtlCol="0" anchor="ctr"/>
          <a:lstStyle/>
          <a:p>
            <a:pPr marL="0" indent="0" algn="ctr">
              <a:buNone/>
            </a:pPr>
            <a:r>
              <a:rPr lang="en-US" sz="1800" b="1" dirty="0">
                <a:solidFill>
                  <a:srgbClr val="ED2E45"/>
                </a:solidFill>
                <a:latin typeface="Montserrat" pitchFamily="34" charset="0"/>
                <a:ea typeface="Montserrat" pitchFamily="34" charset="-122"/>
                <a:cs typeface="Montserrat" pitchFamily="34" charset="-120"/>
              </a:rPr>
              <a:t>+</a:t>
            </a:r>
            <a:endParaRPr lang="en-US" sz="1800" dirty="0"/>
          </a:p>
        </p:txBody>
      </p:sp>
      <p:sp>
        <p:nvSpPr>
          <p:cNvPr id="13" name="Shape 10"/>
          <p:cNvSpPr/>
          <p:nvPr/>
        </p:nvSpPr>
        <p:spPr>
          <a:xfrm>
            <a:off x="2203704" y="1600200"/>
            <a:ext cx="1426464" cy="731520"/>
          </a:xfrm>
          <a:prstGeom prst="roundRect">
            <a:avLst>
              <a:gd name="adj" fmla="val 10000"/>
            </a:avLst>
          </a:prstGeom>
          <a:solidFill>
            <a:srgbClr val="58595B"/>
          </a:solidFill>
          <a:ln w="12700">
            <a:solidFill>
              <a:srgbClr val="58595B"/>
            </a:solidFill>
            <a:prstDash val="solid"/>
          </a:ln>
        </p:spPr>
        <p:txBody>
          <a:bodyPr/>
          <a:lstStyle/>
          <a:p>
            <a:endParaRPr lang="es-PE"/>
          </a:p>
        </p:txBody>
      </p:sp>
      <p:sp>
        <p:nvSpPr>
          <p:cNvPr id="14" name="Text 11"/>
          <p:cNvSpPr txBox="1"/>
          <p:nvPr/>
        </p:nvSpPr>
        <p:spPr>
          <a:xfrm>
            <a:off x="2249424" y="1600200"/>
            <a:ext cx="1335024" cy="7315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Población afectada</a:t>
            </a:r>
            <a:endParaRPr lang="en-US" sz="1100" dirty="0"/>
          </a:p>
          <a:p>
            <a:pPr marL="0" indent="0" algn="ctr">
              <a:buNone/>
            </a:pPr>
            <a:r>
              <a:rPr lang="en-US" sz="1000" i="1" dirty="0">
                <a:solidFill>
                  <a:srgbClr val="FFFFFF"/>
                </a:solidFill>
                <a:latin typeface="Calibri" pitchFamily="34" charset="0"/>
                <a:ea typeface="Calibri" pitchFamily="34" charset="-122"/>
                <a:cs typeface="Calibri" pitchFamily="34" charset="-120"/>
              </a:rPr>
              <a:t>a quiénes</a:t>
            </a:r>
            <a:endParaRPr lang="en-US" sz="1100" dirty="0"/>
          </a:p>
        </p:txBody>
      </p:sp>
      <p:sp>
        <p:nvSpPr>
          <p:cNvPr id="15" name="Text 12"/>
          <p:cNvSpPr txBox="1"/>
          <p:nvPr/>
        </p:nvSpPr>
        <p:spPr>
          <a:xfrm>
            <a:off x="3630168" y="1600200"/>
            <a:ext cx="228600" cy="731520"/>
          </a:xfrm>
          <a:prstGeom prst="rect">
            <a:avLst/>
          </a:prstGeom>
          <a:noFill/>
          <a:ln/>
        </p:spPr>
        <p:txBody>
          <a:bodyPr wrap="square" lIns="0" tIns="0" rIns="0" bIns="0" rtlCol="0" anchor="ctr"/>
          <a:lstStyle/>
          <a:p>
            <a:pPr marL="0" indent="0" algn="ctr">
              <a:buNone/>
            </a:pPr>
            <a:r>
              <a:rPr lang="en-US" sz="1800" b="1" dirty="0">
                <a:solidFill>
                  <a:srgbClr val="ED2E45"/>
                </a:solidFill>
                <a:latin typeface="Montserrat" pitchFamily="34" charset="0"/>
                <a:ea typeface="Montserrat" pitchFamily="34" charset="-122"/>
                <a:cs typeface="Montserrat" pitchFamily="34" charset="-120"/>
              </a:rPr>
              <a:t>+</a:t>
            </a:r>
            <a:endParaRPr lang="en-US" sz="1800" dirty="0"/>
          </a:p>
        </p:txBody>
      </p:sp>
      <p:sp>
        <p:nvSpPr>
          <p:cNvPr id="16" name="Shape 13"/>
          <p:cNvSpPr/>
          <p:nvPr/>
        </p:nvSpPr>
        <p:spPr>
          <a:xfrm>
            <a:off x="3858768" y="1600200"/>
            <a:ext cx="1426464" cy="731520"/>
          </a:xfrm>
          <a:prstGeom prst="roundRect">
            <a:avLst>
              <a:gd name="adj" fmla="val 10000"/>
            </a:avLst>
          </a:prstGeom>
          <a:solidFill>
            <a:srgbClr val="ED2E45"/>
          </a:solidFill>
          <a:ln w="12700">
            <a:solidFill>
              <a:srgbClr val="ED2E45"/>
            </a:solidFill>
            <a:prstDash val="solid"/>
          </a:ln>
        </p:spPr>
        <p:txBody>
          <a:bodyPr/>
          <a:lstStyle/>
          <a:p>
            <a:endParaRPr lang="es-PE"/>
          </a:p>
        </p:txBody>
      </p:sp>
      <p:sp>
        <p:nvSpPr>
          <p:cNvPr id="17" name="Text 14"/>
          <p:cNvSpPr txBox="1"/>
          <p:nvPr/>
        </p:nvSpPr>
        <p:spPr>
          <a:xfrm>
            <a:off x="3904488" y="1600200"/>
            <a:ext cx="1335024" cy="7315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Territorio / contexto</a:t>
            </a:r>
            <a:endParaRPr lang="en-US" sz="1100" dirty="0"/>
          </a:p>
          <a:p>
            <a:pPr marL="0" indent="0" algn="ctr">
              <a:buNone/>
            </a:pPr>
            <a:r>
              <a:rPr lang="en-US" sz="1000" i="1" dirty="0">
                <a:solidFill>
                  <a:srgbClr val="FFFFFF"/>
                </a:solidFill>
                <a:latin typeface="Calibri" pitchFamily="34" charset="0"/>
                <a:ea typeface="Calibri" pitchFamily="34" charset="-122"/>
                <a:cs typeface="Calibri" pitchFamily="34" charset="-120"/>
              </a:rPr>
              <a:t>dónde</a:t>
            </a:r>
            <a:endParaRPr lang="en-US" sz="1100" dirty="0"/>
          </a:p>
        </p:txBody>
      </p:sp>
      <p:sp>
        <p:nvSpPr>
          <p:cNvPr id="18" name="Text 15"/>
          <p:cNvSpPr txBox="1"/>
          <p:nvPr/>
        </p:nvSpPr>
        <p:spPr>
          <a:xfrm>
            <a:off x="5285232" y="1600200"/>
            <a:ext cx="228600" cy="731520"/>
          </a:xfrm>
          <a:prstGeom prst="rect">
            <a:avLst/>
          </a:prstGeom>
          <a:noFill/>
          <a:ln/>
        </p:spPr>
        <p:txBody>
          <a:bodyPr wrap="square" lIns="0" tIns="0" rIns="0" bIns="0" rtlCol="0" anchor="ctr"/>
          <a:lstStyle/>
          <a:p>
            <a:pPr marL="0" indent="0" algn="ctr">
              <a:buNone/>
            </a:pPr>
            <a:r>
              <a:rPr lang="en-US" sz="1800" b="1" dirty="0">
                <a:solidFill>
                  <a:srgbClr val="ED2E45"/>
                </a:solidFill>
                <a:latin typeface="Montserrat" pitchFamily="34" charset="0"/>
                <a:ea typeface="Montserrat" pitchFamily="34" charset="-122"/>
                <a:cs typeface="Montserrat" pitchFamily="34" charset="-120"/>
              </a:rPr>
              <a:t>+</a:t>
            </a:r>
            <a:endParaRPr lang="en-US" sz="1800" dirty="0"/>
          </a:p>
        </p:txBody>
      </p:sp>
      <p:sp>
        <p:nvSpPr>
          <p:cNvPr id="19" name="Shape 16"/>
          <p:cNvSpPr/>
          <p:nvPr/>
        </p:nvSpPr>
        <p:spPr>
          <a:xfrm>
            <a:off x="5513832" y="1600200"/>
            <a:ext cx="1426464" cy="731520"/>
          </a:xfrm>
          <a:prstGeom prst="roundRect">
            <a:avLst>
              <a:gd name="adj" fmla="val 10000"/>
            </a:avLst>
          </a:prstGeom>
          <a:solidFill>
            <a:srgbClr val="58595B"/>
          </a:solidFill>
          <a:ln w="12700">
            <a:solidFill>
              <a:srgbClr val="58595B"/>
            </a:solidFill>
            <a:prstDash val="solid"/>
          </a:ln>
        </p:spPr>
        <p:txBody>
          <a:bodyPr/>
          <a:lstStyle/>
          <a:p>
            <a:endParaRPr lang="es-PE"/>
          </a:p>
        </p:txBody>
      </p:sp>
      <p:sp>
        <p:nvSpPr>
          <p:cNvPr id="20" name="Text 17"/>
          <p:cNvSpPr txBox="1"/>
          <p:nvPr/>
        </p:nvSpPr>
        <p:spPr>
          <a:xfrm>
            <a:off x="5559552" y="1600200"/>
            <a:ext cx="1335024" cy="7315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Magnitud</a:t>
            </a:r>
            <a:endParaRPr lang="en-US" sz="1100" dirty="0"/>
          </a:p>
          <a:p>
            <a:pPr marL="0" indent="0" algn="ctr">
              <a:buNone/>
            </a:pPr>
            <a:r>
              <a:rPr lang="en-US" sz="1000" i="1" dirty="0">
                <a:solidFill>
                  <a:srgbClr val="FFFFFF"/>
                </a:solidFill>
                <a:latin typeface="Calibri" pitchFamily="34" charset="0"/>
                <a:ea typeface="Calibri" pitchFamily="34" charset="-122"/>
                <a:cs typeface="Calibri" pitchFamily="34" charset="-120"/>
              </a:rPr>
              <a:t>cuánto, con dato</a:t>
            </a:r>
            <a:endParaRPr lang="en-US" sz="1100" dirty="0"/>
          </a:p>
        </p:txBody>
      </p:sp>
      <p:sp>
        <p:nvSpPr>
          <p:cNvPr id="21" name="Text 18"/>
          <p:cNvSpPr txBox="1"/>
          <p:nvPr/>
        </p:nvSpPr>
        <p:spPr>
          <a:xfrm>
            <a:off x="6940296" y="1600200"/>
            <a:ext cx="228600" cy="731520"/>
          </a:xfrm>
          <a:prstGeom prst="rect">
            <a:avLst/>
          </a:prstGeom>
          <a:noFill/>
          <a:ln/>
        </p:spPr>
        <p:txBody>
          <a:bodyPr wrap="square" lIns="0" tIns="0" rIns="0" bIns="0" rtlCol="0" anchor="ctr"/>
          <a:lstStyle/>
          <a:p>
            <a:pPr marL="0" indent="0" algn="ctr">
              <a:buNone/>
            </a:pPr>
            <a:r>
              <a:rPr lang="en-US" sz="1800" b="1" dirty="0">
                <a:solidFill>
                  <a:srgbClr val="ED2E45"/>
                </a:solidFill>
                <a:latin typeface="Montserrat" pitchFamily="34" charset="0"/>
                <a:ea typeface="Montserrat" pitchFamily="34" charset="-122"/>
                <a:cs typeface="Montserrat" pitchFamily="34" charset="-120"/>
              </a:rPr>
              <a:t>+</a:t>
            </a:r>
            <a:endParaRPr lang="en-US" sz="1800" dirty="0"/>
          </a:p>
        </p:txBody>
      </p:sp>
      <p:sp>
        <p:nvSpPr>
          <p:cNvPr id="22" name="Shape 19"/>
          <p:cNvSpPr/>
          <p:nvPr/>
        </p:nvSpPr>
        <p:spPr>
          <a:xfrm>
            <a:off x="7168896" y="1600200"/>
            <a:ext cx="1426464" cy="731520"/>
          </a:xfrm>
          <a:prstGeom prst="roundRect">
            <a:avLst>
              <a:gd name="adj" fmla="val 10000"/>
            </a:avLst>
          </a:prstGeom>
          <a:solidFill>
            <a:srgbClr val="ED2E45"/>
          </a:solidFill>
          <a:ln w="12700">
            <a:solidFill>
              <a:srgbClr val="ED2E45"/>
            </a:solidFill>
            <a:prstDash val="solid"/>
          </a:ln>
        </p:spPr>
        <p:txBody>
          <a:bodyPr/>
          <a:lstStyle/>
          <a:p>
            <a:endParaRPr lang="es-PE"/>
          </a:p>
        </p:txBody>
      </p:sp>
      <p:sp>
        <p:nvSpPr>
          <p:cNvPr id="23" name="Text 20"/>
          <p:cNvSpPr txBox="1"/>
          <p:nvPr/>
        </p:nvSpPr>
        <p:spPr>
          <a:xfrm>
            <a:off x="7214616" y="1600200"/>
            <a:ext cx="1335024" cy="7315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Consecuencias</a:t>
            </a:r>
            <a:endParaRPr lang="en-US" sz="1100" dirty="0"/>
          </a:p>
          <a:p>
            <a:pPr marL="0" indent="0" algn="ctr">
              <a:buNone/>
            </a:pPr>
            <a:r>
              <a:rPr lang="en-US" sz="1000" i="1" dirty="0">
                <a:solidFill>
                  <a:srgbClr val="FFFFFF"/>
                </a:solidFill>
                <a:latin typeface="Calibri" pitchFamily="34" charset="0"/>
                <a:ea typeface="Calibri" pitchFamily="34" charset="-122"/>
                <a:cs typeface="Calibri" pitchFamily="34" charset="-120"/>
              </a:rPr>
              <a:t>qué provoca</a:t>
            </a:r>
            <a:endParaRPr lang="en-US" sz="1100" dirty="0"/>
          </a:p>
        </p:txBody>
      </p:sp>
      <p:sp>
        <p:nvSpPr>
          <p:cNvPr id="24" name="Text 21"/>
          <p:cNvSpPr txBox="1"/>
          <p:nvPr/>
        </p:nvSpPr>
        <p:spPr>
          <a:xfrm>
            <a:off x="548640" y="2514600"/>
            <a:ext cx="4572000" cy="228600"/>
          </a:xfrm>
          <a:prstGeom prst="rect">
            <a:avLst/>
          </a:prstGeom>
          <a:noFill/>
          <a:ln/>
        </p:spPr>
        <p:txBody>
          <a:bodyPr wrap="square" lIns="0" tIns="0" rIns="0" bIns="0" rtlCol="0" anchor="t"/>
          <a:lstStyle/>
          <a:p>
            <a:pPr marL="0" indent="0">
              <a:buNone/>
            </a:pPr>
            <a:r>
              <a:rPr lang="en-US" sz="1000" b="1" kern="0" spc="100" dirty="0">
                <a:solidFill>
                  <a:srgbClr val="6B6B6B"/>
                </a:solidFill>
                <a:latin typeface="Calibri" pitchFamily="34" charset="0"/>
                <a:ea typeface="Calibri" pitchFamily="34" charset="-122"/>
                <a:cs typeface="Calibri" pitchFamily="34" charset="-120"/>
              </a:rPr>
              <a:t>EJEMPLO CON CIFRAS OFICIALES</a:t>
            </a:r>
            <a:endParaRPr lang="en-US" sz="1000" dirty="0"/>
          </a:p>
        </p:txBody>
      </p:sp>
      <p:sp>
        <p:nvSpPr>
          <p:cNvPr id="25" name="Shape 22"/>
          <p:cNvSpPr/>
          <p:nvPr/>
        </p:nvSpPr>
        <p:spPr>
          <a:xfrm>
            <a:off x="548640" y="2788920"/>
            <a:ext cx="1920240" cy="1554480"/>
          </a:xfrm>
          <a:prstGeom prst="roundRect">
            <a:avLst>
              <a:gd name="adj" fmla="val 4706"/>
            </a:avLst>
          </a:prstGeom>
          <a:solidFill>
            <a:srgbClr val="F2F2F2"/>
          </a:solidFill>
          <a:ln w="12700">
            <a:solidFill>
              <a:srgbClr val="F2F2F2"/>
            </a:solidFill>
            <a:prstDash val="solid"/>
          </a:ln>
        </p:spPr>
        <p:txBody>
          <a:bodyPr/>
          <a:lstStyle/>
          <a:p>
            <a:endParaRPr lang="es-PE"/>
          </a:p>
        </p:txBody>
      </p:sp>
      <p:sp>
        <p:nvSpPr>
          <p:cNvPr id="26" name="Text 23"/>
          <p:cNvSpPr txBox="1"/>
          <p:nvPr/>
        </p:nvSpPr>
        <p:spPr>
          <a:xfrm>
            <a:off x="658368" y="2834640"/>
            <a:ext cx="1737360" cy="530352"/>
          </a:xfrm>
          <a:prstGeom prst="rect">
            <a:avLst/>
          </a:prstGeom>
          <a:noFill/>
          <a:ln/>
        </p:spPr>
        <p:txBody>
          <a:bodyPr wrap="square" lIns="0" tIns="0" rIns="0" bIns="0" rtlCol="0" anchor="t"/>
          <a:lstStyle/>
          <a:p>
            <a:pPr marL="0" indent="0">
              <a:buNone/>
            </a:pPr>
            <a:r>
              <a:rPr lang="en-US" sz="2500" b="1" dirty="0">
                <a:solidFill>
                  <a:srgbClr val="ED2E45"/>
                </a:solidFill>
                <a:latin typeface="Montserrat" pitchFamily="34" charset="0"/>
                <a:ea typeface="Montserrat" pitchFamily="34" charset="-122"/>
                <a:cs typeface="Montserrat" pitchFamily="34" charset="-120"/>
              </a:rPr>
              <a:t>49.1%</a:t>
            </a:r>
            <a:endParaRPr lang="en-US" sz="2500" dirty="0"/>
          </a:p>
        </p:txBody>
      </p:sp>
      <p:sp>
        <p:nvSpPr>
          <p:cNvPr id="27" name="Text 24"/>
          <p:cNvSpPr txBox="1"/>
          <p:nvPr/>
        </p:nvSpPr>
        <p:spPr>
          <a:xfrm>
            <a:off x="658368" y="3364992"/>
            <a:ext cx="1737360" cy="685800"/>
          </a:xfrm>
          <a:prstGeom prst="rect">
            <a:avLst/>
          </a:prstGeom>
          <a:noFill/>
          <a:ln/>
        </p:spPr>
        <p:txBody>
          <a:bodyPr wrap="square" lIns="0" tIns="0" rIns="0" bIns="0" rtlCol="0" anchor="t"/>
          <a:lstStyle/>
          <a:p>
            <a:pPr marL="0" indent="0">
              <a:buNone/>
            </a:pPr>
            <a:r>
              <a:rPr lang="en-US" sz="1050" dirty="0">
                <a:solidFill>
                  <a:srgbClr val="404040"/>
                </a:solidFill>
                <a:latin typeface="Calibri" pitchFamily="34" charset="0"/>
                <a:ea typeface="Calibri" pitchFamily="34" charset="-122"/>
                <a:cs typeface="Calibri" pitchFamily="34" charset="-120"/>
              </a:rPr>
              <a:t>de mujeres de 15 a 49 años sufrió violencia de su pareja alguna vez</a:t>
            </a:r>
            <a:endParaRPr lang="en-US" sz="1050" dirty="0"/>
          </a:p>
        </p:txBody>
      </p:sp>
      <p:sp>
        <p:nvSpPr>
          <p:cNvPr id="28" name="Text 25"/>
          <p:cNvSpPr txBox="1"/>
          <p:nvPr/>
        </p:nvSpPr>
        <p:spPr>
          <a:xfrm>
            <a:off x="658368" y="4069080"/>
            <a:ext cx="1737360" cy="201168"/>
          </a:xfrm>
          <a:prstGeom prst="rect">
            <a:avLst/>
          </a:prstGeom>
          <a:noFill/>
          <a:ln/>
        </p:spPr>
        <p:txBody>
          <a:bodyPr wrap="square" lIns="0" tIns="0" rIns="0" bIns="0" rtlCol="0" anchor="t"/>
          <a:lstStyle/>
          <a:p>
            <a:pPr marL="0" indent="0">
              <a:buNone/>
            </a:pPr>
            <a:r>
              <a:rPr lang="en-US" sz="900" i="1" dirty="0">
                <a:solidFill>
                  <a:srgbClr val="6B6B6B"/>
                </a:solidFill>
                <a:latin typeface="Calibri" pitchFamily="34" charset="0"/>
                <a:ea typeface="Calibri" pitchFamily="34" charset="-122"/>
                <a:cs typeface="Calibri" pitchFamily="34" charset="-120"/>
              </a:rPr>
              <a:t>ENDES 2025</a:t>
            </a:r>
            <a:endParaRPr lang="en-US" sz="900" dirty="0"/>
          </a:p>
        </p:txBody>
      </p:sp>
      <p:sp>
        <p:nvSpPr>
          <p:cNvPr id="29" name="Shape 26"/>
          <p:cNvSpPr/>
          <p:nvPr/>
        </p:nvSpPr>
        <p:spPr>
          <a:xfrm>
            <a:off x="2606040" y="2788920"/>
            <a:ext cx="1920240" cy="1554480"/>
          </a:xfrm>
          <a:prstGeom prst="roundRect">
            <a:avLst>
              <a:gd name="adj" fmla="val 4706"/>
            </a:avLst>
          </a:prstGeom>
          <a:solidFill>
            <a:srgbClr val="F2F2F2"/>
          </a:solidFill>
          <a:ln w="12700">
            <a:solidFill>
              <a:srgbClr val="F2F2F2"/>
            </a:solidFill>
            <a:prstDash val="solid"/>
          </a:ln>
        </p:spPr>
        <p:txBody>
          <a:bodyPr/>
          <a:lstStyle/>
          <a:p>
            <a:endParaRPr lang="es-PE"/>
          </a:p>
        </p:txBody>
      </p:sp>
      <p:sp>
        <p:nvSpPr>
          <p:cNvPr id="30" name="Text 27"/>
          <p:cNvSpPr txBox="1"/>
          <p:nvPr/>
        </p:nvSpPr>
        <p:spPr>
          <a:xfrm>
            <a:off x="2715768" y="2834640"/>
            <a:ext cx="1737360" cy="530352"/>
          </a:xfrm>
          <a:prstGeom prst="rect">
            <a:avLst/>
          </a:prstGeom>
          <a:noFill/>
          <a:ln/>
        </p:spPr>
        <p:txBody>
          <a:bodyPr wrap="square" lIns="0" tIns="0" rIns="0" bIns="0" rtlCol="0" anchor="t"/>
          <a:lstStyle/>
          <a:p>
            <a:pPr marL="0" indent="0">
              <a:buNone/>
            </a:pPr>
            <a:r>
              <a:rPr lang="en-US" sz="2500" b="1" dirty="0">
                <a:solidFill>
                  <a:srgbClr val="ED2E45"/>
                </a:solidFill>
                <a:latin typeface="Montserrat" pitchFamily="34" charset="0"/>
                <a:ea typeface="Montserrat" pitchFamily="34" charset="-122"/>
                <a:cs typeface="Montserrat" pitchFamily="34" charset="-120"/>
              </a:rPr>
              <a:t>−8.6 pp</a:t>
            </a:r>
            <a:endParaRPr lang="en-US" sz="2500" dirty="0"/>
          </a:p>
        </p:txBody>
      </p:sp>
      <p:sp>
        <p:nvSpPr>
          <p:cNvPr id="31" name="Text 28"/>
          <p:cNvSpPr txBox="1"/>
          <p:nvPr/>
        </p:nvSpPr>
        <p:spPr>
          <a:xfrm>
            <a:off x="2715768" y="3364992"/>
            <a:ext cx="1737360" cy="685800"/>
          </a:xfrm>
          <a:prstGeom prst="rect">
            <a:avLst/>
          </a:prstGeom>
          <a:noFill/>
          <a:ln/>
        </p:spPr>
        <p:txBody>
          <a:bodyPr wrap="square" lIns="0" tIns="0" rIns="0" bIns="0" rtlCol="0" anchor="t"/>
          <a:lstStyle/>
          <a:p>
            <a:pPr marL="0" indent="0">
              <a:buNone/>
            </a:pPr>
            <a:r>
              <a:rPr lang="en-US" sz="1050" dirty="0">
                <a:solidFill>
                  <a:srgbClr val="404040"/>
                </a:solidFill>
                <a:latin typeface="Calibri" pitchFamily="34" charset="0"/>
                <a:ea typeface="Calibri" pitchFamily="34" charset="-122"/>
                <a:cs typeface="Calibri" pitchFamily="34" charset="-120"/>
              </a:rPr>
              <a:t>solo bajó el indicador entre 2019 y 2025, pese a la Ley N.° 30364</a:t>
            </a:r>
            <a:endParaRPr lang="en-US" sz="1050" dirty="0"/>
          </a:p>
        </p:txBody>
      </p:sp>
      <p:sp>
        <p:nvSpPr>
          <p:cNvPr id="32" name="Text 29"/>
          <p:cNvSpPr txBox="1"/>
          <p:nvPr/>
        </p:nvSpPr>
        <p:spPr>
          <a:xfrm>
            <a:off x="2715768" y="4069080"/>
            <a:ext cx="1737360" cy="201168"/>
          </a:xfrm>
          <a:prstGeom prst="rect">
            <a:avLst/>
          </a:prstGeom>
          <a:noFill/>
          <a:ln/>
        </p:spPr>
        <p:txBody>
          <a:bodyPr wrap="square" lIns="0" tIns="0" rIns="0" bIns="0" rtlCol="0" anchor="t"/>
          <a:lstStyle/>
          <a:p>
            <a:pPr marL="0" indent="0">
              <a:buNone/>
            </a:pPr>
            <a:r>
              <a:rPr lang="en-US" sz="900" i="1" dirty="0">
                <a:solidFill>
                  <a:srgbClr val="6B6B6B"/>
                </a:solidFill>
                <a:latin typeface="Calibri" pitchFamily="34" charset="0"/>
                <a:ea typeface="Calibri" pitchFamily="34" charset="-122"/>
                <a:cs typeface="Calibri" pitchFamily="34" charset="-120"/>
              </a:rPr>
              <a:t>ENDES 2019–2025</a:t>
            </a:r>
            <a:endParaRPr lang="en-US" sz="900" dirty="0"/>
          </a:p>
        </p:txBody>
      </p:sp>
      <p:sp>
        <p:nvSpPr>
          <p:cNvPr id="33" name="Shape 30"/>
          <p:cNvSpPr/>
          <p:nvPr/>
        </p:nvSpPr>
        <p:spPr>
          <a:xfrm>
            <a:off x="4663440" y="2788920"/>
            <a:ext cx="1920240" cy="1554480"/>
          </a:xfrm>
          <a:prstGeom prst="roundRect">
            <a:avLst>
              <a:gd name="adj" fmla="val 4706"/>
            </a:avLst>
          </a:prstGeom>
          <a:solidFill>
            <a:srgbClr val="F2F2F2"/>
          </a:solidFill>
          <a:ln w="12700">
            <a:solidFill>
              <a:srgbClr val="F2F2F2"/>
            </a:solidFill>
            <a:prstDash val="solid"/>
          </a:ln>
        </p:spPr>
        <p:txBody>
          <a:bodyPr/>
          <a:lstStyle/>
          <a:p>
            <a:endParaRPr lang="es-PE"/>
          </a:p>
        </p:txBody>
      </p:sp>
      <p:sp>
        <p:nvSpPr>
          <p:cNvPr id="34" name="Text 31"/>
          <p:cNvSpPr txBox="1"/>
          <p:nvPr/>
        </p:nvSpPr>
        <p:spPr>
          <a:xfrm>
            <a:off x="4773168" y="2834640"/>
            <a:ext cx="1737360" cy="530352"/>
          </a:xfrm>
          <a:prstGeom prst="rect">
            <a:avLst/>
          </a:prstGeom>
          <a:noFill/>
          <a:ln/>
        </p:spPr>
        <p:txBody>
          <a:bodyPr wrap="square" lIns="0" tIns="0" rIns="0" bIns="0" rtlCol="0" anchor="t"/>
          <a:lstStyle/>
          <a:p>
            <a:pPr marL="0" indent="0">
              <a:buNone/>
            </a:pPr>
            <a:r>
              <a:rPr lang="en-US" sz="2500" b="1" dirty="0">
                <a:solidFill>
                  <a:srgbClr val="ED2E45"/>
                </a:solidFill>
                <a:latin typeface="Montserrat" pitchFamily="34" charset="0"/>
                <a:ea typeface="Montserrat" pitchFamily="34" charset="-122"/>
                <a:cs typeface="Montserrat" pitchFamily="34" charset="-120"/>
              </a:rPr>
              <a:t>75.7%</a:t>
            </a:r>
            <a:endParaRPr lang="en-US" sz="2500" dirty="0"/>
          </a:p>
        </p:txBody>
      </p:sp>
      <p:sp>
        <p:nvSpPr>
          <p:cNvPr id="35" name="Text 32"/>
          <p:cNvSpPr txBox="1"/>
          <p:nvPr/>
        </p:nvSpPr>
        <p:spPr>
          <a:xfrm>
            <a:off x="4773168" y="3364992"/>
            <a:ext cx="1737360" cy="685800"/>
          </a:xfrm>
          <a:prstGeom prst="rect">
            <a:avLst/>
          </a:prstGeom>
          <a:noFill/>
          <a:ln/>
        </p:spPr>
        <p:txBody>
          <a:bodyPr wrap="square" lIns="0" tIns="0" rIns="0" bIns="0" rtlCol="0" anchor="t"/>
          <a:lstStyle/>
          <a:p>
            <a:pPr marL="0" indent="0">
              <a:buNone/>
            </a:pPr>
            <a:r>
              <a:rPr lang="en-US" sz="1050" dirty="0">
                <a:solidFill>
                  <a:srgbClr val="404040"/>
                </a:solidFill>
                <a:latin typeface="Calibri" pitchFamily="34" charset="0"/>
                <a:ea typeface="Calibri" pitchFamily="34" charset="-122"/>
                <a:cs typeface="Calibri" pitchFamily="34" charset="-120"/>
              </a:rPr>
              <a:t>de la población justificaba la violencia hacia las mujeres</a:t>
            </a:r>
            <a:endParaRPr lang="en-US" sz="1050" dirty="0"/>
          </a:p>
        </p:txBody>
      </p:sp>
      <p:sp>
        <p:nvSpPr>
          <p:cNvPr id="36" name="Text 33"/>
          <p:cNvSpPr txBox="1"/>
          <p:nvPr/>
        </p:nvSpPr>
        <p:spPr>
          <a:xfrm>
            <a:off x="4773168" y="4069080"/>
            <a:ext cx="1737360" cy="201168"/>
          </a:xfrm>
          <a:prstGeom prst="rect">
            <a:avLst/>
          </a:prstGeom>
          <a:noFill/>
          <a:ln/>
        </p:spPr>
        <p:txBody>
          <a:bodyPr wrap="square" lIns="0" tIns="0" rIns="0" bIns="0" rtlCol="0" anchor="t"/>
          <a:lstStyle/>
          <a:p>
            <a:pPr marL="0" indent="0">
              <a:buNone/>
            </a:pPr>
            <a:r>
              <a:rPr lang="en-US" sz="900" i="1" dirty="0">
                <a:solidFill>
                  <a:srgbClr val="6B6B6B"/>
                </a:solidFill>
                <a:latin typeface="Calibri" pitchFamily="34" charset="0"/>
                <a:ea typeface="Calibri" pitchFamily="34" charset="-122"/>
                <a:cs typeface="Calibri" pitchFamily="34" charset="-120"/>
              </a:rPr>
              <a:t>ENARES 2024</a:t>
            </a:r>
            <a:endParaRPr lang="en-US" sz="900" dirty="0"/>
          </a:p>
        </p:txBody>
      </p:sp>
      <p:sp>
        <p:nvSpPr>
          <p:cNvPr id="37" name="Shape 34"/>
          <p:cNvSpPr/>
          <p:nvPr/>
        </p:nvSpPr>
        <p:spPr>
          <a:xfrm>
            <a:off x="6720840" y="2788920"/>
            <a:ext cx="1920240" cy="1554480"/>
          </a:xfrm>
          <a:prstGeom prst="roundRect">
            <a:avLst>
              <a:gd name="adj" fmla="val 4706"/>
            </a:avLst>
          </a:prstGeom>
          <a:solidFill>
            <a:srgbClr val="F2F2F2"/>
          </a:solidFill>
          <a:ln w="12700">
            <a:solidFill>
              <a:srgbClr val="F2F2F2"/>
            </a:solidFill>
            <a:prstDash val="solid"/>
          </a:ln>
        </p:spPr>
        <p:txBody>
          <a:bodyPr/>
          <a:lstStyle/>
          <a:p>
            <a:endParaRPr lang="es-PE"/>
          </a:p>
        </p:txBody>
      </p:sp>
      <p:sp>
        <p:nvSpPr>
          <p:cNvPr id="38" name="Text 35"/>
          <p:cNvSpPr txBox="1"/>
          <p:nvPr/>
        </p:nvSpPr>
        <p:spPr>
          <a:xfrm>
            <a:off x="6830568" y="2834640"/>
            <a:ext cx="1737360" cy="530352"/>
          </a:xfrm>
          <a:prstGeom prst="rect">
            <a:avLst/>
          </a:prstGeom>
          <a:noFill/>
          <a:ln/>
        </p:spPr>
        <p:txBody>
          <a:bodyPr wrap="square" lIns="0" tIns="0" rIns="0" bIns="0" rtlCol="0" anchor="t"/>
          <a:lstStyle/>
          <a:p>
            <a:pPr marL="0" indent="0">
              <a:buNone/>
            </a:pPr>
            <a:r>
              <a:rPr lang="en-US" sz="2500" b="1" dirty="0">
                <a:solidFill>
                  <a:srgbClr val="ED2E45"/>
                </a:solidFill>
                <a:latin typeface="Montserrat" pitchFamily="34" charset="0"/>
                <a:ea typeface="Montserrat" pitchFamily="34" charset="-122"/>
                <a:cs typeface="Montserrat" pitchFamily="34" charset="-120"/>
              </a:rPr>
              <a:t>69.7%</a:t>
            </a:r>
            <a:endParaRPr lang="en-US" sz="2500" dirty="0"/>
          </a:p>
        </p:txBody>
      </p:sp>
      <p:sp>
        <p:nvSpPr>
          <p:cNvPr id="39" name="Text 36"/>
          <p:cNvSpPr txBox="1"/>
          <p:nvPr/>
        </p:nvSpPr>
        <p:spPr>
          <a:xfrm>
            <a:off x="6830568" y="3364992"/>
            <a:ext cx="1737360" cy="685800"/>
          </a:xfrm>
          <a:prstGeom prst="rect">
            <a:avLst/>
          </a:prstGeom>
          <a:noFill/>
          <a:ln/>
        </p:spPr>
        <p:txBody>
          <a:bodyPr wrap="square" lIns="0" tIns="0" rIns="0" bIns="0" rtlCol="0" anchor="t"/>
          <a:lstStyle/>
          <a:p>
            <a:pPr marL="0" indent="0">
              <a:buNone/>
            </a:pPr>
            <a:r>
              <a:rPr lang="en-US" sz="1050" dirty="0">
                <a:solidFill>
                  <a:srgbClr val="404040"/>
                </a:solidFill>
                <a:latin typeface="Calibri" pitchFamily="34" charset="0"/>
                <a:ea typeface="Calibri" pitchFamily="34" charset="-122"/>
                <a:cs typeface="Calibri" pitchFamily="34" charset="-120"/>
              </a:rPr>
              <a:t>de hombres mayores de 18 años justifica la violencia sexual contra mujeres</a:t>
            </a:r>
            <a:endParaRPr lang="en-US" sz="1050" dirty="0"/>
          </a:p>
        </p:txBody>
      </p:sp>
      <p:sp>
        <p:nvSpPr>
          <p:cNvPr id="40" name="Text 37"/>
          <p:cNvSpPr txBox="1"/>
          <p:nvPr/>
        </p:nvSpPr>
        <p:spPr>
          <a:xfrm>
            <a:off x="6830568" y="4069080"/>
            <a:ext cx="1737360" cy="201168"/>
          </a:xfrm>
          <a:prstGeom prst="rect">
            <a:avLst/>
          </a:prstGeom>
          <a:noFill/>
          <a:ln/>
        </p:spPr>
        <p:txBody>
          <a:bodyPr wrap="square" lIns="0" tIns="0" rIns="0" bIns="0" rtlCol="0" anchor="t"/>
          <a:lstStyle/>
          <a:p>
            <a:pPr marL="0" indent="0">
              <a:buNone/>
            </a:pPr>
            <a:r>
              <a:rPr lang="en-US" sz="900" i="1" dirty="0">
                <a:solidFill>
                  <a:srgbClr val="6B6B6B"/>
                </a:solidFill>
                <a:latin typeface="Calibri" pitchFamily="34" charset="0"/>
                <a:ea typeface="Calibri" pitchFamily="34" charset="-122"/>
                <a:cs typeface="Calibri" pitchFamily="34" charset="-120"/>
              </a:rPr>
              <a:t>ENARES 2024</a:t>
            </a:r>
            <a:endParaRPr lang="en-US" sz="900" dirty="0"/>
          </a:p>
        </p:txBody>
      </p:sp>
      <p:sp>
        <p:nvSpPr>
          <p:cNvPr id="41" name="Text 38"/>
          <p:cNvSpPr txBox="1"/>
          <p:nvPr/>
        </p:nvSpPr>
        <p:spPr>
          <a:xfrm>
            <a:off x="548640" y="4462272"/>
            <a:ext cx="8046720" cy="320040"/>
          </a:xfrm>
          <a:prstGeom prst="rect">
            <a:avLst/>
          </a:prstGeom>
          <a:noFill/>
          <a:ln/>
        </p:spPr>
        <p:txBody>
          <a:bodyPr wrap="square" lIns="0" tIns="0" rIns="0" bIns="0" rtlCol="0" anchor="t"/>
          <a:lstStyle/>
          <a:p>
            <a:pPr marL="0" indent="0">
              <a:buNone/>
            </a:pPr>
            <a:r>
              <a:rPr lang="en-US" sz="1150" i="1" dirty="0">
                <a:solidFill>
                  <a:srgbClr val="58595B"/>
                </a:solidFill>
                <a:latin typeface="Calibri" pitchFamily="34" charset="0"/>
                <a:ea typeface="Calibri" pitchFamily="34" charset="-122"/>
                <a:cs typeface="Calibri" pitchFamily="34" charset="-120"/>
              </a:rPr>
              <a:t>Cada equipo formula su problema en una sola frase, con el recorte que su propio análisis de datos permita sostener.</a:t>
            </a:r>
            <a:endParaRPr lang="en-US" sz="1150" dirty="0"/>
          </a:p>
        </p:txBody>
      </p:sp>
      <p:pic>
        <p:nvPicPr>
          <p:cNvPr id="42" name="Image 0" descr="a/logo_mimp_h.png"/>
          <p:cNvPicPr>
            <a:picLocks noChangeAspect="1"/>
          </p:cNvPicPr>
          <p:nvPr/>
        </p:nvPicPr>
        <p:blipFill>
          <a:blip r:embed="rId4"/>
          <a:stretch>
            <a:fillRect/>
          </a:stretch>
        </p:blipFill>
        <p:spPr>
          <a:xfrm>
            <a:off x="184709" y="110642"/>
            <a:ext cx="1790395" cy="417881"/>
          </a:xfrm>
          <a:prstGeom prst="rect">
            <a:avLst/>
          </a:prstGeom>
        </p:spPr>
      </p:pic>
      <p:pic>
        <p:nvPicPr>
          <p:cNvPr id="43" name="Image 1" descr="a/logo_30.png"/>
          <p:cNvPicPr>
            <a:picLocks noChangeAspect="1"/>
          </p:cNvPicPr>
          <p:nvPr/>
        </p:nvPicPr>
        <p:blipFill>
          <a:blip r:embed="rId5"/>
          <a:stretch>
            <a:fillRect/>
          </a:stretch>
        </p:blipFill>
        <p:spPr>
          <a:xfrm>
            <a:off x="3611880" y="2743"/>
            <a:ext cx="1158545" cy="622706"/>
          </a:xfrm>
          <a:prstGeom prst="rect">
            <a:avLst/>
          </a:prstGeom>
        </p:spPr>
      </p:pic>
      <p:pic>
        <p:nvPicPr>
          <p:cNvPr id="44" name="Image 2" descr="a/logo_peru_responde.png"/>
          <p:cNvPicPr>
            <a:picLocks noChangeAspect="1"/>
          </p:cNvPicPr>
          <p:nvPr/>
        </p:nvPicPr>
        <p:blipFill>
          <a:blip r:embed="rId6"/>
          <a:stretch>
            <a:fillRect/>
          </a:stretch>
        </p:blipFill>
        <p:spPr>
          <a:xfrm>
            <a:off x="7299655" y="102413"/>
            <a:ext cx="1602943" cy="475488"/>
          </a:xfrm>
          <a:prstGeom prst="rect">
            <a:avLst/>
          </a:prstGeom>
        </p:spPr>
      </p:pic>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65192"/>
            <a:ext cx="9144000" cy="178308"/>
          </a:xfrm>
          <a:prstGeom prst="rect">
            <a:avLst/>
          </a:prstGeom>
          <a:solidFill>
            <a:srgbClr val="ED2E45"/>
          </a:solidFill>
          <a:ln w="12700">
            <a:solidFill>
              <a:srgbClr val="ED2E45"/>
            </a:solidFill>
            <a:prstDash val="solid"/>
          </a:ln>
        </p:spPr>
        <p:txBody>
          <a:bodyPr/>
          <a:lstStyle/>
          <a:p>
            <a:endParaRPr lang="es-PE"/>
          </a:p>
        </p:txBody>
      </p:sp>
      <p:sp>
        <p:nvSpPr>
          <p:cNvPr id="3" name="Text 1"/>
          <p:cNvSpPr txBox="1"/>
          <p:nvPr/>
        </p:nvSpPr>
        <p:spPr>
          <a:xfrm>
            <a:off x="548640" y="4965192"/>
            <a:ext cx="2011680" cy="178308"/>
          </a:xfrm>
          <a:prstGeom prst="rect">
            <a:avLst/>
          </a:prstGeom>
          <a:noFill/>
          <a:ln/>
        </p:spPr>
        <p:txBody>
          <a:bodyPr wrap="square" lIns="0" tIns="0" rIns="0" bIns="0" rtlCol="0" anchor="ctr"/>
          <a:lstStyle/>
          <a:p>
            <a:pPr marL="0" indent="0">
              <a:buNone/>
            </a:pPr>
            <a:r>
              <a:rPr lang="en-US" sz="750" b="1" kern="0" spc="100" dirty="0">
                <a:solidFill>
                  <a:srgbClr val="FFFFFF"/>
                </a:solidFill>
                <a:latin typeface="Calibri" pitchFamily="34" charset="0"/>
                <a:ea typeface="Calibri" pitchFamily="34" charset="-122"/>
                <a:cs typeface="Calibri" pitchFamily="34" charset="-120"/>
              </a:rPr>
              <a:t>I · COMPRENDER</a:t>
            </a:r>
            <a:endParaRPr lang="en-US" sz="750" dirty="0"/>
          </a:p>
        </p:txBody>
      </p:sp>
      <p:sp>
        <p:nvSpPr>
          <p:cNvPr id="4" name="Text 2"/>
          <p:cNvSpPr txBox="1"/>
          <p:nvPr/>
        </p:nvSpPr>
        <p:spPr>
          <a:xfrm>
            <a:off x="256032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II · DISEÑAR</a:t>
            </a:r>
            <a:endParaRPr lang="en-US" sz="750" dirty="0"/>
          </a:p>
        </p:txBody>
      </p:sp>
      <p:sp>
        <p:nvSpPr>
          <p:cNvPr id="5" name="Text 3"/>
          <p:cNvSpPr txBox="1"/>
          <p:nvPr/>
        </p:nvSpPr>
        <p:spPr>
          <a:xfrm>
            <a:off x="457200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III · VALIDAR</a:t>
            </a:r>
            <a:endParaRPr lang="en-US" sz="750" dirty="0"/>
          </a:p>
        </p:txBody>
      </p:sp>
      <p:sp>
        <p:nvSpPr>
          <p:cNvPr id="6" name="Text 4"/>
          <p:cNvSpPr txBox="1"/>
          <p:nvPr/>
        </p:nvSpPr>
        <p:spPr>
          <a:xfrm>
            <a:off x="658368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IV · COMUNICAR</a:t>
            </a:r>
            <a:endParaRPr lang="en-US" sz="750" dirty="0"/>
          </a:p>
        </p:txBody>
      </p:sp>
      <p:sp>
        <p:nvSpPr>
          <p:cNvPr id="8" name="Text 5"/>
          <p:cNvSpPr txBox="1"/>
          <p:nvPr/>
        </p:nvSpPr>
        <p:spPr>
          <a:xfrm>
            <a:off x="548640" y="731520"/>
            <a:ext cx="8046720" cy="502920"/>
          </a:xfrm>
          <a:prstGeom prst="rect">
            <a:avLst/>
          </a:prstGeom>
          <a:noFill/>
          <a:ln/>
        </p:spPr>
        <p:txBody>
          <a:bodyPr wrap="square" lIns="0" tIns="0" rIns="0" bIns="0" rtlCol="0" anchor="ctr"/>
          <a:lstStyle/>
          <a:p>
            <a:pPr marL="0" indent="0">
              <a:buNone/>
            </a:pPr>
            <a:r>
              <a:rPr lang="en-US" sz="2200" b="1" dirty="0">
                <a:solidFill>
                  <a:srgbClr val="ED2E45"/>
                </a:solidFill>
                <a:latin typeface="Montserrat" pitchFamily="34" charset="0"/>
                <a:ea typeface="Montserrat" pitchFamily="34" charset="-122"/>
                <a:cs typeface="Montserrat" pitchFamily="34" charset="-120"/>
              </a:rPr>
              <a:t>La evidencia: lo que dicen las cifras</a:t>
            </a:r>
            <a:endParaRPr lang="en-US" sz="2200" dirty="0"/>
          </a:p>
        </p:txBody>
      </p:sp>
      <p:graphicFrame>
        <p:nvGraphicFramePr>
          <p:cNvPr id="9" name="Chart 0"/>
          <p:cNvGraphicFramePr/>
          <p:nvPr/>
        </p:nvGraphicFramePr>
        <p:xfrm>
          <a:off x="457200" y="1234440"/>
          <a:ext cx="5120640" cy="2651760"/>
        </p:xfrm>
        <a:graphic>
          <a:graphicData uri="http://schemas.openxmlformats.org/drawingml/2006/chart">
            <c:chart xmlns:c="http://schemas.openxmlformats.org/drawingml/2006/chart" xmlns:r="http://schemas.openxmlformats.org/officeDocument/2006/relationships" r:id="rId4"/>
          </a:graphicData>
        </a:graphic>
      </p:graphicFrame>
      <p:sp>
        <p:nvSpPr>
          <p:cNvPr id="10" name="Shape 6"/>
          <p:cNvSpPr/>
          <p:nvPr/>
        </p:nvSpPr>
        <p:spPr>
          <a:xfrm>
            <a:off x="5852160" y="1280160"/>
            <a:ext cx="2743200" cy="822960"/>
          </a:xfrm>
          <a:prstGeom prst="roundRect">
            <a:avLst>
              <a:gd name="adj" fmla="val 8889"/>
            </a:avLst>
          </a:prstGeom>
          <a:solidFill>
            <a:srgbClr val="FDEBEE"/>
          </a:solidFill>
          <a:ln w="12700">
            <a:solidFill>
              <a:srgbClr val="FDEBEE"/>
            </a:solidFill>
            <a:prstDash val="solid"/>
          </a:ln>
        </p:spPr>
        <p:txBody>
          <a:bodyPr/>
          <a:lstStyle/>
          <a:p>
            <a:endParaRPr lang="es-PE"/>
          </a:p>
        </p:txBody>
      </p:sp>
      <p:sp>
        <p:nvSpPr>
          <p:cNvPr id="11" name="Text 7"/>
          <p:cNvSpPr txBox="1"/>
          <p:nvPr/>
        </p:nvSpPr>
        <p:spPr>
          <a:xfrm>
            <a:off x="5961888" y="1316736"/>
            <a:ext cx="1280160" cy="749808"/>
          </a:xfrm>
          <a:prstGeom prst="rect">
            <a:avLst/>
          </a:prstGeom>
          <a:noFill/>
          <a:ln/>
        </p:spPr>
        <p:txBody>
          <a:bodyPr wrap="square" lIns="0" tIns="0" rIns="0" bIns="0" rtlCol="0" anchor="ctr"/>
          <a:lstStyle/>
          <a:p>
            <a:pPr marL="0" indent="0">
              <a:buNone/>
            </a:pPr>
            <a:r>
              <a:rPr lang="en-US" sz="2000" b="1" dirty="0">
                <a:solidFill>
                  <a:srgbClr val="ED2E45"/>
                </a:solidFill>
                <a:latin typeface="Montserrat" pitchFamily="34" charset="0"/>
                <a:ea typeface="Montserrat" pitchFamily="34" charset="-122"/>
                <a:cs typeface="Montserrat" pitchFamily="34" charset="-120"/>
              </a:rPr>
              <a:t>−8.6 pp</a:t>
            </a:r>
            <a:endParaRPr lang="en-US" sz="2000" dirty="0"/>
          </a:p>
        </p:txBody>
      </p:sp>
      <p:sp>
        <p:nvSpPr>
          <p:cNvPr id="12" name="Text 8"/>
          <p:cNvSpPr txBox="1"/>
          <p:nvPr/>
        </p:nvSpPr>
        <p:spPr>
          <a:xfrm>
            <a:off x="7178040" y="1316736"/>
            <a:ext cx="1353312" cy="749808"/>
          </a:xfrm>
          <a:prstGeom prst="rect">
            <a:avLst/>
          </a:prstGeom>
          <a:noFill/>
          <a:ln/>
        </p:spPr>
        <p:txBody>
          <a:bodyPr wrap="square" lIns="0" tIns="0" rIns="0" bIns="0" rtlCol="0" anchor="ctr"/>
          <a:lstStyle/>
          <a:p>
            <a:pPr marL="0" indent="0">
              <a:buNone/>
            </a:pPr>
            <a:r>
              <a:rPr lang="en-US" sz="950" dirty="0">
                <a:solidFill>
                  <a:srgbClr val="404040"/>
                </a:solidFill>
                <a:latin typeface="Calibri" pitchFamily="34" charset="0"/>
                <a:ea typeface="Calibri" pitchFamily="34" charset="-122"/>
                <a:cs typeface="Calibri" pitchFamily="34" charset="-120"/>
              </a:rPr>
              <a:t>de 57.7% (2019) a 49.1% (2025): baja, pero lenta</a:t>
            </a:r>
            <a:endParaRPr lang="en-US" sz="950" dirty="0"/>
          </a:p>
        </p:txBody>
      </p:sp>
      <p:sp>
        <p:nvSpPr>
          <p:cNvPr id="13" name="Shape 9"/>
          <p:cNvSpPr/>
          <p:nvPr/>
        </p:nvSpPr>
        <p:spPr>
          <a:xfrm>
            <a:off x="5852160" y="2185416"/>
            <a:ext cx="2743200" cy="822960"/>
          </a:xfrm>
          <a:prstGeom prst="roundRect">
            <a:avLst>
              <a:gd name="adj" fmla="val 8889"/>
            </a:avLst>
          </a:prstGeom>
          <a:solidFill>
            <a:srgbClr val="F2F2F2"/>
          </a:solidFill>
          <a:ln w="12700">
            <a:solidFill>
              <a:srgbClr val="F2F2F2"/>
            </a:solidFill>
            <a:prstDash val="solid"/>
          </a:ln>
        </p:spPr>
        <p:txBody>
          <a:bodyPr/>
          <a:lstStyle/>
          <a:p>
            <a:endParaRPr lang="es-PE"/>
          </a:p>
        </p:txBody>
      </p:sp>
      <p:sp>
        <p:nvSpPr>
          <p:cNvPr id="14" name="Text 10"/>
          <p:cNvSpPr txBox="1"/>
          <p:nvPr/>
        </p:nvSpPr>
        <p:spPr>
          <a:xfrm>
            <a:off x="5961888" y="2221992"/>
            <a:ext cx="1280160" cy="749808"/>
          </a:xfrm>
          <a:prstGeom prst="rect">
            <a:avLst/>
          </a:prstGeom>
          <a:noFill/>
          <a:ln/>
        </p:spPr>
        <p:txBody>
          <a:bodyPr wrap="square" lIns="0" tIns="0" rIns="0" bIns="0" rtlCol="0" anchor="ctr"/>
          <a:lstStyle/>
          <a:p>
            <a:pPr marL="0" indent="0">
              <a:buNone/>
            </a:pPr>
            <a:r>
              <a:rPr lang="en-US" sz="2000" b="1" dirty="0">
                <a:solidFill>
                  <a:srgbClr val="ED2E45"/>
                </a:solidFill>
                <a:latin typeface="Montserrat" pitchFamily="34" charset="0"/>
                <a:ea typeface="Montserrat" pitchFamily="34" charset="-122"/>
                <a:cs typeface="Montserrat" pitchFamily="34" charset="-120"/>
              </a:rPr>
              <a:t>75.7%</a:t>
            </a:r>
            <a:endParaRPr lang="en-US" sz="2000" dirty="0"/>
          </a:p>
        </p:txBody>
      </p:sp>
      <p:sp>
        <p:nvSpPr>
          <p:cNvPr id="15" name="Text 11"/>
          <p:cNvSpPr txBox="1"/>
          <p:nvPr/>
        </p:nvSpPr>
        <p:spPr>
          <a:xfrm>
            <a:off x="7178040" y="2221992"/>
            <a:ext cx="1353312" cy="749808"/>
          </a:xfrm>
          <a:prstGeom prst="rect">
            <a:avLst/>
          </a:prstGeom>
          <a:noFill/>
          <a:ln/>
        </p:spPr>
        <p:txBody>
          <a:bodyPr wrap="square" lIns="0" tIns="0" rIns="0" bIns="0" rtlCol="0" anchor="ctr"/>
          <a:lstStyle/>
          <a:p>
            <a:pPr marL="0" indent="0">
              <a:buNone/>
            </a:pPr>
            <a:r>
              <a:rPr lang="en-US" sz="950" dirty="0">
                <a:solidFill>
                  <a:srgbClr val="404040"/>
                </a:solidFill>
                <a:latin typeface="Calibri" pitchFamily="34" charset="0"/>
                <a:ea typeface="Calibri" pitchFamily="34" charset="-122"/>
                <a:cs typeface="Calibri" pitchFamily="34" charset="-120"/>
              </a:rPr>
              <a:t>de la población justificaba la violencia hacia las mujeres · ENARES 2024</a:t>
            </a:r>
            <a:endParaRPr lang="en-US" sz="950" dirty="0"/>
          </a:p>
        </p:txBody>
      </p:sp>
      <p:sp>
        <p:nvSpPr>
          <p:cNvPr id="16" name="Shape 12"/>
          <p:cNvSpPr/>
          <p:nvPr/>
        </p:nvSpPr>
        <p:spPr>
          <a:xfrm>
            <a:off x="5852160" y="3090672"/>
            <a:ext cx="2743200" cy="822960"/>
          </a:xfrm>
          <a:prstGeom prst="roundRect">
            <a:avLst>
              <a:gd name="adj" fmla="val 8889"/>
            </a:avLst>
          </a:prstGeom>
          <a:solidFill>
            <a:srgbClr val="F2F2F2"/>
          </a:solidFill>
          <a:ln w="12700">
            <a:solidFill>
              <a:srgbClr val="F2F2F2"/>
            </a:solidFill>
            <a:prstDash val="solid"/>
          </a:ln>
        </p:spPr>
        <p:txBody>
          <a:bodyPr/>
          <a:lstStyle/>
          <a:p>
            <a:endParaRPr lang="es-PE"/>
          </a:p>
        </p:txBody>
      </p:sp>
      <p:sp>
        <p:nvSpPr>
          <p:cNvPr id="17" name="Text 13"/>
          <p:cNvSpPr txBox="1"/>
          <p:nvPr/>
        </p:nvSpPr>
        <p:spPr>
          <a:xfrm>
            <a:off x="5961888" y="3127248"/>
            <a:ext cx="1280160" cy="749808"/>
          </a:xfrm>
          <a:prstGeom prst="rect">
            <a:avLst/>
          </a:prstGeom>
          <a:noFill/>
          <a:ln/>
        </p:spPr>
        <p:txBody>
          <a:bodyPr wrap="square" lIns="0" tIns="0" rIns="0" bIns="0" rtlCol="0" anchor="ctr"/>
          <a:lstStyle/>
          <a:p>
            <a:pPr marL="0" indent="0">
              <a:buNone/>
            </a:pPr>
            <a:r>
              <a:rPr lang="en-US" sz="2000" b="1" dirty="0">
                <a:solidFill>
                  <a:srgbClr val="ED2E45"/>
                </a:solidFill>
                <a:latin typeface="Montserrat" pitchFamily="34" charset="0"/>
                <a:ea typeface="Montserrat" pitchFamily="34" charset="-122"/>
                <a:cs typeface="Montserrat" pitchFamily="34" charset="-120"/>
              </a:rPr>
              <a:t>69.7%</a:t>
            </a:r>
            <a:endParaRPr lang="en-US" sz="2000" dirty="0"/>
          </a:p>
        </p:txBody>
      </p:sp>
      <p:sp>
        <p:nvSpPr>
          <p:cNvPr id="18" name="Text 14"/>
          <p:cNvSpPr txBox="1"/>
          <p:nvPr/>
        </p:nvSpPr>
        <p:spPr>
          <a:xfrm>
            <a:off x="7178040" y="3127248"/>
            <a:ext cx="1353312" cy="749808"/>
          </a:xfrm>
          <a:prstGeom prst="rect">
            <a:avLst/>
          </a:prstGeom>
          <a:noFill/>
          <a:ln/>
        </p:spPr>
        <p:txBody>
          <a:bodyPr wrap="square" lIns="0" tIns="0" rIns="0" bIns="0" rtlCol="0" anchor="ctr"/>
          <a:lstStyle/>
          <a:p>
            <a:pPr marL="0" indent="0">
              <a:buNone/>
            </a:pPr>
            <a:r>
              <a:rPr lang="en-US" sz="950" dirty="0">
                <a:solidFill>
                  <a:srgbClr val="404040"/>
                </a:solidFill>
                <a:latin typeface="Calibri" pitchFamily="34" charset="0"/>
                <a:ea typeface="Calibri" pitchFamily="34" charset="-122"/>
                <a:cs typeface="Calibri" pitchFamily="34" charset="-120"/>
              </a:rPr>
              <a:t>de hombres de 18+ justifica la violencia sexual contra mujeres · ENARES 2024</a:t>
            </a:r>
            <a:endParaRPr lang="en-US" sz="950" dirty="0"/>
          </a:p>
        </p:txBody>
      </p:sp>
      <p:sp>
        <p:nvSpPr>
          <p:cNvPr id="19" name="Shape 15"/>
          <p:cNvSpPr/>
          <p:nvPr/>
        </p:nvSpPr>
        <p:spPr>
          <a:xfrm>
            <a:off x="548640" y="4160520"/>
            <a:ext cx="2578608" cy="658368"/>
          </a:xfrm>
          <a:prstGeom prst="roundRect">
            <a:avLst>
              <a:gd name="adj" fmla="val 11111"/>
            </a:avLst>
          </a:prstGeom>
          <a:solidFill>
            <a:srgbClr val="FFFFFF"/>
          </a:solidFill>
          <a:ln w="12700">
            <a:solidFill>
              <a:srgbClr val="ED2E45"/>
            </a:solidFill>
            <a:prstDash val="solid"/>
          </a:ln>
        </p:spPr>
        <p:txBody>
          <a:bodyPr/>
          <a:lstStyle/>
          <a:p>
            <a:endParaRPr lang="es-PE"/>
          </a:p>
        </p:txBody>
      </p:sp>
      <p:sp>
        <p:nvSpPr>
          <p:cNvPr id="20" name="Shape 16"/>
          <p:cNvSpPr/>
          <p:nvPr/>
        </p:nvSpPr>
        <p:spPr>
          <a:xfrm>
            <a:off x="658368" y="4041648"/>
            <a:ext cx="868680" cy="237744"/>
          </a:xfrm>
          <a:prstGeom prst="roundRect">
            <a:avLst>
              <a:gd name="adj" fmla="val 50000"/>
            </a:avLst>
          </a:prstGeom>
          <a:solidFill>
            <a:srgbClr val="ED2E45"/>
          </a:solidFill>
          <a:ln w="12700">
            <a:solidFill>
              <a:srgbClr val="ED2E45"/>
            </a:solidFill>
            <a:prstDash val="solid"/>
          </a:ln>
        </p:spPr>
        <p:txBody>
          <a:bodyPr/>
          <a:lstStyle/>
          <a:p>
            <a:endParaRPr lang="es-PE"/>
          </a:p>
        </p:txBody>
      </p:sp>
      <p:sp>
        <p:nvSpPr>
          <p:cNvPr id="21" name="Text 17"/>
          <p:cNvSpPr txBox="1"/>
          <p:nvPr/>
        </p:nvSpPr>
        <p:spPr>
          <a:xfrm>
            <a:off x="658368" y="4041648"/>
            <a:ext cx="868680" cy="237744"/>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¿QUÉ ES?</a:t>
            </a:r>
            <a:endParaRPr lang="en-US" sz="850" dirty="0"/>
          </a:p>
        </p:txBody>
      </p:sp>
      <p:sp>
        <p:nvSpPr>
          <p:cNvPr id="22" name="Text 18"/>
          <p:cNvSpPr txBox="1"/>
          <p:nvPr/>
        </p:nvSpPr>
        <p:spPr>
          <a:xfrm>
            <a:off x="685800" y="4233672"/>
            <a:ext cx="2304288" cy="548640"/>
          </a:xfrm>
          <a:prstGeom prst="rect">
            <a:avLst/>
          </a:prstGeom>
          <a:noFill/>
          <a:ln/>
        </p:spPr>
        <p:txBody>
          <a:bodyPr wrap="square" lIns="0" tIns="0" rIns="0" bIns="0" rtlCol="0" anchor="ctr"/>
          <a:lstStyle/>
          <a:p>
            <a:pPr marL="0" indent="0">
              <a:buNone/>
            </a:pPr>
            <a:r>
              <a:rPr lang="en-US" sz="950" b="1" dirty="0">
                <a:solidFill>
                  <a:srgbClr val="ED2E45"/>
                </a:solidFill>
                <a:latin typeface="Calibri" pitchFamily="34" charset="0"/>
                <a:ea typeface="Calibri" pitchFamily="34" charset="-122"/>
                <a:cs typeface="Calibri" pitchFamily="34" charset="-120"/>
              </a:rPr>
              <a:t>pp (puntos porcentuales): </a:t>
            </a:r>
            <a:r>
              <a:rPr lang="en-US" sz="950" dirty="0">
                <a:solidFill>
                  <a:srgbClr val="404040"/>
                </a:solidFill>
                <a:latin typeface="Calibri" pitchFamily="34" charset="0"/>
                <a:ea typeface="Calibri" pitchFamily="34" charset="-122"/>
                <a:cs typeface="Calibri" pitchFamily="34" charset="-120"/>
              </a:rPr>
              <a:t>diferencia entre dos porcentajes: de 57.7% a 49.1% son 8.6 pp.</a:t>
            </a:r>
            <a:endParaRPr lang="en-US" sz="950" dirty="0"/>
          </a:p>
        </p:txBody>
      </p:sp>
      <p:sp>
        <p:nvSpPr>
          <p:cNvPr id="23" name="Shape 19"/>
          <p:cNvSpPr/>
          <p:nvPr/>
        </p:nvSpPr>
        <p:spPr>
          <a:xfrm>
            <a:off x="3264408" y="4160520"/>
            <a:ext cx="2578608" cy="658368"/>
          </a:xfrm>
          <a:prstGeom prst="roundRect">
            <a:avLst>
              <a:gd name="adj" fmla="val 11111"/>
            </a:avLst>
          </a:prstGeom>
          <a:solidFill>
            <a:srgbClr val="FFFFFF"/>
          </a:solidFill>
          <a:ln w="12700">
            <a:solidFill>
              <a:srgbClr val="ED2E45"/>
            </a:solidFill>
            <a:prstDash val="solid"/>
          </a:ln>
        </p:spPr>
        <p:txBody>
          <a:bodyPr/>
          <a:lstStyle/>
          <a:p>
            <a:endParaRPr lang="es-PE"/>
          </a:p>
        </p:txBody>
      </p:sp>
      <p:sp>
        <p:nvSpPr>
          <p:cNvPr id="24" name="Shape 20"/>
          <p:cNvSpPr/>
          <p:nvPr/>
        </p:nvSpPr>
        <p:spPr>
          <a:xfrm>
            <a:off x="3374136" y="4041648"/>
            <a:ext cx="868680" cy="237744"/>
          </a:xfrm>
          <a:prstGeom prst="roundRect">
            <a:avLst>
              <a:gd name="adj" fmla="val 50000"/>
            </a:avLst>
          </a:prstGeom>
          <a:solidFill>
            <a:srgbClr val="ED2E45"/>
          </a:solidFill>
          <a:ln w="12700">
            <a:solidFill>
              <a:srgbClr val="ED2E45"/>
            </a:solidFill>
            <a:prstDash val="solid"/>
          </a:ln>
        </p:spPr>
        <p:txBody>
          <a:bodyPr/>
          <a:lstStyle/>
          <a:p>
            <a:endParaRPr lang="es-PE"/>
          </a:p>
        </p:txBody>
      </p:sp>
      <p:sp>
        <p:nvSpPr>
          <p:cNvPr id="25" name="Text 21"/>
          <p:cNvSpPr txBox="1"/>
          <p:nvPr/>
        </p:nvSpPr>
        <p:spPr>
          <a:xfrm>
            <a:off x="3374136" y="4041648"/>
            <a:ext cx="868680" cy="237744"/>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¿QUÉ ES?</a:t>
            </a:r>
            <a:endParaRPr lang="en-US" sz="850" dirty="0"/>
          </a:p>
        </p:txBody>
      </p:sp>
      <p:sp>
        <p:nvSpPr>
          <p:cNvPr id="26" name="Text 22"/>
          <p:cNvSpPr txBox="1"/>
          <p:nvPr/>
        </p:nvSpPr>
        <p:spPr>
          <a:xfrm>
            <a:off x="3401568" y="4233672"/>
            <a:ext cx="2304288" cy="548640"/>
          </a:xfrm>
          <a:prstGeom prst="rect">
            <a:avLst/>
          </a:prstGeom>
          <a:noFill/>
          <a:ln/>
        </p:spPr>
        <p:txBody>
          <a:bodyPr wrap="square" lIns="0" tIns="0" rIns="0" bIns="0" rtlCol="0" anchor="ctr"/>
          <a:lstStyle/>
          <a:p>
            <a:pPr marL="0" indent="0">
              <a:buNone/>
            </a:pPr>
            <a:r>
              <a:rPr lang="en-US" sz="950" b="1" dirty="0">
                <a:solidFill>
                  <a:srgbClr val="ED2E45"/>
                </a:solidFill>
                <a:latin typeface="Calibri" pitchFamily="34" charset="0"/>
                <a:ea typeface="Calibri" pitchFamily="34" charset="-122"/>
                <a:cs typeface="Calibri" pitchFamily="34" charset="-120"/>
              </a:rPr>
              <a:t>ENDES: </a:t>
            </a:r>
            <a:r>
              <a:rPr lang="en-US" sz="950" dirty="0">
                <a:solidFill>
                  <a:srgbClr val="404040"/>
                </a:solidFill>
                <a:latin typeface="Calibri" pitchFamily="34" charset="0"/>
                <a:ea typeface="Calibri" pitchFamily="34" charset="-122"/>
                <a:cs typeface="Calibri" pitchFamily="34" charset="-120"/>
              </a:rPr>
              <a:t>Encuesta Demográfica y de Salud Familiar (INEI).</a:t>
            </a:r>
            <a:endParaRPr lang="en-US" sz="950" dirty="0"/>
          </a:p>
        </p:txBody>
      </p:sp>
      <p:sp>
        <p:nvSpPr>
          <p:cNvPr id="27" name="Shape 23"/>
          <p:cNvSpPr/>
          <p:nvPr/>
        </p:nvSpPr>
        <p:spPr>
          <a:xfrm>
            <a:off x="5980176" y="4160520"/>
            <a:ext cx="2578608" cy="658368"/>
          </a:xfrm>
          <a:prstGeom prst="roundRect">
            <a:avLst>
              <a:gd name="adj" fmla="val 11111"/>
            </a:avLst>
          </a:prstGeom>
          <a:solidFill>
            <a:srgbClr val="FFFFFF"/>
          </a:solidFill>
          <a:ln w="12700">
            <a:solidFill>
              <a:srgbClr val="ED2E45"/>
            </a:solidFill>
            <a:prstDash val="solid"/>
          </a:ln>
        </p:spPr>
        <p:txBody>
          <a:bodyPr/>
          <a:lstStyle/>
          <a:p>
            <a:endParaRPr lang="es-PE"/>
          </a:p>
        </p:txBody>
      </p:sp>
      <p:sp>
        <p:nvSpPr>
          <p:cNvPr id="28" name="Shape 24"/>
          <p:cNvSpPr/>
          <p:nvPr/>
        </p:nvSpPr>
        <p:spPr>
          <a:xfrm>
            <a:off x="6089904" y="4041648"/>
            <a:ext cx="868680" cy="237744"/>
          </a:xfrm>
          <a:prstGeom prst="roundRect">
            <a:avLst>
              <a:gd name="adj" fmla="val 50000"/>
            </a:avLst>
          </a:prstGeom>
          <a:solidFill>
            <a:srgbClr val="ED2E45"/>
          </a:solidFill>
          <a:ln w="12700">
            <a:solidFill>
              <a:srgbClr val="ED2E45"/>
            </a:solidFill>
            <a:prstDash val="solid"/>
          </a:ln>
        </p:spPr>
        <p:txBody>
          <a:bodyPr/>
          <a:lstStyle/>
          <a:p>
            <a:endParaRPr lang="es-PE"/>
          </a:p>
        </p:txBody>
      </p:sp>
      <p:sp>
        <p:nvSpPr>
          <p:cNvPr id="29" name="Text 25"/>
          <p:cNvSpPr txBox="1"/>
          <p:nvPr/>
        </p:nvSpPr>
        <p:spPr>
          <a:xfrm>
            <a:off x="6089904" y="4041648"/>
            <a:ext cx="868680" cy="237744"/>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¿QUÉ ES?</a:t>
            </a:r>
            <a:endParaRPr lang="en-US" sz="850" dirty="0"/>
          </a:p>
        </p:txBody>
      </p:sp>
      <p:sp>
        <p:nvSpPr>
          <p:cNvPr id="30" name="Text 26"/>
          <p:cNvSpPr txBox="1"/>
          <p:nvPr/>
        </p:nvSpPr>
        <p:spPr>
          <a:xfrm>
            <a:off x="6117336" y="4233672"/>
            <a:ext cx="2304288" cy="548640"/>
          </a:xfrm>
          <a:prstGeom prst="rect">
            <a:avLst/>
          </a:prstGeom>
          <a:noFill/>
          <a:ln/>
        </p:spPr>
        <p:txBody>
          <a:bodyPr wrap="square" lIns="0" tIns="0" rIns="0" bIns="0" rtlCol="0" anchor="ctr"/>
          <a:lstStyle/>
          <a:p>
            <a:pPr marL="0" indent="0">
              <a:buNone/>
            </a:pPr>
            <a:r>
              <a:rPr lang="en-US" sz="950" b="1" dirty="0">
                <a:solidFill>
                  <a:srgbClr val="ED2E45"/>
                </a:solidFill>
                <a:latin typeface="Calibri" pitchFamily="34" charset="0"/>
                <a:ea typeface="Calibri" pitchFamily="34" charset="-122"/>
                <a:cs typeface="Calibri" pitchFamily="34" charset="-120"/>
              </a:rPr>
              <a:t>ENARES: </a:t>
            </a:r>
            <a:r>
              <a:rPr lang="en-US" sz="950" dirty="0">
                <a:solidFill>
                  <a:srgbClr val="404040"/>
                </a:solidFill>
                <a:latin typeface="Calibri" pitchFamily="34" charset="0"/>
                <a:ea typeface="Calibri" pitchFamily="34" charset="-122"/>
                <a:cs typeface="Calibri" pitchFamily="34" charset="-120"/>
              </a:rPr>
              <a:t>Encuesta Nacional sobre Relaciones Sociales (INEI).</a:t>
            </a:r>
            <a:endParaRPr lang="en-US" sz="950" dirty="0"/>
          </a:p>
        </p:txBody>
      </p:sp>
      <p:pic>
        <p:nvPicPr>
          <p:cNvPr id="31" name="Image 0" descr="a/logo_mimp_h.png"/>
          <p:cNvPicPr>
            <a:picLocks noChangeAspect="1"/>
          </p:cNvPicPr>
          <p:nvPr/>
        </p:nvPicPr>
        <p:blipFill>
          <a:blip r:embed="rId5"/>
          <a:stretch>
            <a:fillRect/>
          </a:stretch>
        </p:blipFill>
        <p:spPr>
          <a:xfrm>
            <a:off x="184709" y="110642"/>
            <a:ext cx="1790395" cy="417881"/>
          </a:xfrm>
          <a:prstGeom prst="rect">
            <a:avLst/>
          </a:prstGeom>
        </p:spPr>
      </p:pic>
      <p:pic>
        <p:nvPicPr>
          <p:cNvPr id="32" name="Image 1" descr="a/logo_30.png"/>
          <p:cNvPicPr>
            <a:picLocks noChangeAspect="1"/>
          </p:cNvPicPr>
          <p:nvPr/>
        </p:nvPicPr>
        <p:blipFill>
          <a:blip r:embed="rId6"/>
          <a:stretch>
            <a:fillRect/>
          </a:stretch>
        </p:blipFill>
        <p:spPr>
          <a:xfrm>
            <a:off x="3611880" y="2743"/>
            <a:ext cx="1158545" cy="622706"/>
          </a:xfrm>
          <a:prstGeom prst="rect">
            <a:avLst/>
          </a:prstGeom>
        </p:spPr>
      </p:pic>
      <p:pic>
        <p:nvPicPr>
          <p:cNvPr id="33" name="Image 2" descr="a/logo_peru_responde.png"/>
          <p:cNvPicPr>
            <a:picLocks noChangeAspect="1"/>
          </p:cNvPicPr>
          <p:nvPr/>
        </p:nvPicPr>
        <p:blipFill>
          <a:blip r:embed="rId7"/>
          <a:stretch>
            <a:fillRect/>
          </a:stretch>
        </p:blipFill>
        <p:spPr>
          <a:xfrm>
            <a:off x="7299655" y="102413"/>
            <a:ext cx="1602943" cy="475488"/>
          </a:xfrm>
          <a:prstGeom prst="rect">
            <a:avLst/>
          </a:prstGeom>
        </p:spPr>
      </p:pic>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65192"/>
            <a:ext cx="9144000" cy="178308"/>
          </a:xfrm>
          <a:prstGeom prst="rect">
            <a:avLst/>
          </a:prstGeom>
          <a:solidFill>
            <a:srgbClr val="ED2E45"/>
          </a:solidFill>
          <a:ln w="12700">
            <a:solidFill>
              <a:srgbClr val="ED2E45"/>
            </a:solidFill>
            <a:prstDash val="solid"/>
          </a:ln>
        </p:spPr>
        <p:txBody>
          <a:bodyPr/>
          <a:lstStyle/>
          <a:p>
            <a:endParaRPr lang="es-PE"/>
          </a:p>
        </p:txBody>
      </p:sp>
      <p:sp>
        <p:nvSpPr>
          <p:cNvPr id="3" name="Text 1"/>
          <p:cNvSpPr txBox="1"/>
          <p:nvPr/>
        </p:nvSpPr>
        <p:spPr>
          <a:xfrm>
            <a:off x="548640" y="4965192"/>
            <a:ext cx="2011680" cy="178308"/>
          </a:xfrm>
          <a:prstGeom prst="rect">
            <a:avLst/>
          </a:prstGeom>
          <a:noFill/>
          <a:ln/>
        </p:spPr>
        <p:txBody>
          <a:bodyPr wrap="square" lIns="0" tIns="0" rIns="0" bIns="0" rtlCol="0" anchor="ctr"/>
          <a:lstStyle/>
          <a:p>
            <a:pPr marL="0" indent="0">
              <a:buNone/>
            </a:pPr>
            <a:r>
              <a:rPr lang="en-US" sz="750" b="1" kern="0" spc="100" dirty="0">
                <a:solidFill>
                  <a:srgbClr val="FFFFFF"/>
                </a:solidFill>
                <a:latin typeface="Calibri" pitchFamily="34" charset="0"/>
                <a:ea typeface="Calibri" pitchFamily="34" charset="-122"/>
                <a:cs typeface="Calibri" pitchFamily="34" charset="-120"/>
              </a:rPr>
              <a:t>I · COMPRENDER</a:t>
            </a:r>
            <a:endParaRPr lang="en-US" sz="750" dirty="0"/>
          </a:p>
        </p:txBody>
      </p:sp>
      <p:sp>
        <p:nvSpPr>
          <p:cNvPr id="4" name="Text 2"/>
          <p:cNvSpPr txBox="1"/>
          <p:nvPr/>
        </p:nvSpPr>
        <p:spPr>
          <a:xfrm>
            <a:off x="256032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II · DISEÑAR</a:t>
            </a:r>
            <a:endParaRPr lang="en-US" sz="750" dirty="0"/>
          </a:p>
        </p:txBody>
      </p:sp>
      <p:sp>
        <p:nvSpPr>
          <p:cNvPr id="5" name="Text 3"/>
          <p:cNvSpPr txBox="1"/>
          <p:nvPr/>
        </p:nvSpPr>
        <p:spPr>
          <a:xfrm>
            <a:off x="457200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III · VALIDAR</a:t>
            </a:r>
            <a:endParaRPr lang="en-US" sz="750" dirty="0"/>
          </a:p>
        </p:txBody>
      </p:sp>
      <p:sp>
        <p:nvSpPr>
          <p:cNvPr id="6" name="Text 4"/>
          <p:cNvSpPr txBox="1"/>
          <p:nvPr/>
        </p:nvSpPr>
        <p:spPr>
          <a:xfrm>
            <a:off x="658368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IV · COMUNICAR</a:t>
            </a:r>
            <a:endParaRPr lang="en-US" sz="750" dirty="0"/>
          </a:p>
        </p:txBody>
      </p:sp>
      <p:sp>
        <p:nvSpPr>
          <p:cNvPr id="8" name="Text 5"/>
          <p:cNvSpPr txBox="1"/>
          <p:nvPr/>
        </p:nvSpPr>
        <p:spPr>
          <a:xfrm>
            <a:off x="548640" y="731520"/>
            <a:ext cx="8046720" cy="502920"/>
          </a:xfrm>
          <a:prstGeom prst="rect">
            <a:avLst/>
          </a:prstGeom>
          <a:noFill/>
          <a:ln/>
        </p:spPr>
        <p:txBody>
          <a:bodyPr wrap="square" lIns="0" tIns="0" rIns="0" bIns="0" rtlCol="0" anchor="ctr"/>
          <a:lstStyle/>
          <a:p>
            <a:pPr marL="0" indent="0">
              <a:buNone/>
            </a:pPr>
            <a:r>
              <a:rPr lang="en-US" sz="2200" b="1" dirty="0">
                <a:solidFill>
                  <a:srgbClr val="ED2E45"/>
                </a:solidFill>
                <a:latin typeface="Montserrat" pitchFamily="34" charset="0"/>
                <a:ea typeface="Montserrat" pitchFamily="34" charset="-122"/>
                <a:cs typeface="Montserrat" pitchFamily="34" charset="-120"/>
              </a:rPr>
              <a:t>¿Qué nos dicen realmente los datos?</a:t>
            </a:r>
            <a:endParaRPr lang="en-US" sz="2200" dirty="0"/>
          </a:p>
        </p:txBody>
      </p:sp>
      <p:sp>
        <p:nvSpPr>
          <p:cNvPr id="9" name="Text 6"/>
          <p:cNvSpPr txBox="1"/>
          <p:nvPr/>
        </p:nvSpPr>
        <p:spPr>
          <a:xfrm>
            <a:off x="548640" y="1216152"/>
            <a:ext cx="8046720" cy="274320"/>
          </a:xfrm>
          <a:prstGeom prst="rect">
            <a:avLst/>
          </a:prstGeom>
          <a:noFill/>
          <a:ln/>
        </p:spPr>
        <p:txBody>
          <a:bodyPr wrap="square" lIns="0" tIns="0" rIns="0" bIns="0" rtlCol="0" anchor="ctr"/>
          <a:lstStyle/>
          <a:p>
            <a:pPr marL="0" indent="0">
              <a:buNone/>
            </a:pPr>
            <a:r>
              <a:rPr lang="en-US" sz="1250" dirty="0">
                <a:solidFill>
                  <a:srgbClr val="6B6B6B"/>
                </a:solidFill>
                <a:latin typeface="Calibri" pitchFamily="34" charset="0"/>
                <a:ea typeface="Calibri" pitchFamily="34" charset="-122"/>
                <a:cs typeface="Calibri" pitchFamily="34" charset="-120"/>
              </a:rPr>
              <a:t>Hallazgo → Evidencia → Interpretación → Implicancia</a:t>
            </a:r>
            <a:endParaRPr lang="en-US" sz="1250" dirty="0"/>
          </a:p>
        </p:txBody>
      </p:sp>
      <p:sp>
        <p:nvSpPr>
          <p:cNvPr id="10" name="Shape 7"/>
          <p:cNvSpPr/>
          <p:nvPr/>
        </p:nvSpPr>
        <p:spPr>
          <a:xfrm>
            <a:off x="548640" y="1600200"/>
            <a:ext cx="1828800" cy="411480"/>
          </a:xfrm>
          <a:prstGeom prst="rect">
            <a:avLst/>
          </a:prstGeom>
          <a:solidFill>
            <a:srgbClr val="ED2E45"/>
          </a:solidFill>
          <a:ln w="12700">
            <a:solidFill>
              <a:srgbClr val="ED2E45"/>
            </a:solidFill>
            <a:prstDash val="solid"/>
          </a:ln>
        </p:spPr>
        <p:txBody>
          <a:bodyPr/>
          <a:lstStyle/>
          <a:p>
            <a:endParaRPr lang="es-PE"/>
          </a:p>
        </p:txBody>
      </p:sp>
      <p:sp>
        <p:nvSpPr>
          <p:cNvPr id="11" name="Text 8"/>
          <p:cNvSpPr txBox="1"/>
          <p:nvPr/>
        </p:nvSpPr>
        <p:spPr>
          <a:xfrm>
            <a:off x="548640" y="1600200"/>
            <a:ext cx="182880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Montserrat" pitchFamily="34" charset="0"/>
                <a:ea typeface="Montserrat" pitchFamily="34" charset="-122"/>
                <a:cs typeface="Montserrat" pitchFamily="34" charset="-120"/>
              </a:rPr>
              <a:t>Hallazgo</a:t>
            </a:r>
            <a:endParaRPr lang="en-US" sz="1300" dirty="0"/>
          </a:p>
        </p:txBody>
      </p:sp>
      <p:sp>
        <p:nvSpPr>
          <p:cNvPr id="12" name="Shape 9"/>
          <p:cNvSpPr/>
          <p:nvPr/>
        </p:nvSpPr>
        <p:spPr>
          <a:xfrm>
            <a:off x="548640" y="2011680"/>
            <a:ext cx="1828800" cy="457200"/>
          </a:xfrm>
          <a:prstGeom prst="rect">
            <a:avLst/>
          </a:prstGeom>
          <a:solidFill>
            <a:srgbClr val="FDEBEE"/>
          </a:solidFill>
          <a:ln w="12700">
            <a:solidFill>
              <a:srgbClr val="FDEBEE"/>
            </a:solidFill>
            <a:prstDash val="solid"/>
          </a:ln>
        </p:spPr>
        <p:txBody>
          <a:bodyPr/>
          <a:lstStyle/>
          <a:p>
            <a:endParaRPr lang="es-PE"/>
          </a:p>
        </p:txBody>
      </p:sp>
      <p:sp>
        <p:nvSpPr>
          <p:cNvPr id="13" name="Text 10"/>
          <p:cNvSpPr txBox="1"/>
          <p:nvPr/>
        </p:nvSpPr>
        <p:spPr>
          <a:xfrm>
            <a:off x="640080" y="2011680"/>
            <a:ext cx="1645920" cy="457200"/>
          </a:xfrm>
          <a:prstGeom prst="rect">
            <a:avLst/>
          </a:prstGeom>
          <a:noFill/>
          <a:ln/>
        </p:spPr>
        <p:txBody>
          <a:bodyPr wrap="square" lIns="0" tIns="0" rIns="0" bIns="0" rtlCol="0" anchor="ctr"/>
          <a:lstStyle/>
          <a:p>
            <a:pPr marL="0" indent="0" algn="ctr">
              <a:buNone/>
            </a:pPr>
            <a:r>
              <a:rPr lang="en-US" sz="1000" i="1" dirty="0">
                <a:solidFill>
                  <a:srgbClr val="C4122F"/>
                </a:solidFill>
                <a:latin typeface="Calibri" pitchFamily="34" charset="0"/>
                <a:ea typeface="Calibri" pitchFamily="34" charset="-122"/>
                <a:cs typeface="Calibri" pitchFamily="34" charset="-120"/>
              </a:rPr>
              <a:t>Lo que encontramos en los datos</a:t>
            </a:r>
            <a:endParaRPr lang="en-US" sz="1000" dirty="0"/>
          </a:p>
        </p:txBody>
      </p:sp>
      <p:sp>
        <p:nvSpPr>
          <p:cNvPr id="14" name="Shape 11"/>
          <p:cNvSpPr/>
          <p:nvPr/>
        </p:nvSpPr>
        <p:spPr>
          <a:xfrm>
            <a:off x="548640" y="2468880"/>
            <a:ext cx="1828800" cy="1691640"/>
          </a:xfrm>
          <a:prstGeom prst="rect">
            <a:avLst/>
          </a:prstGeom>
          <a:solidFill>
            <a:srgbClr val="F2F2F2"/>
          </a:solidFill>
          <a:ln w="12700">
            <a:solidFill>
              <a:srgbClr val="F2F2F2"/>
            </a:solidFill>
            <a:prstDash val="solid"/>
          </a:ln>
        </p:spPr>
        <p:txBody>
          <a:bodyPr/>
          <a:lstStyle/>
          <a:p>
            <a:endParaRPr lang="es-PE"/>
          </a:p>
        </p:txBody>
      </p:sp>
      <p:sp>
        <p:nvSpPr>
          <p:cNvPr id="15" name="Text 12"/>
          <p:cNvSpPr txBox="1"/>
          <p:nvPr/>
        </p:nvSpPr>
        <p:spPr>
          <a:xfrm>
            <a:off x="667512" y="2560320"/>
            <a:ext cx="1591056" cy="1554480"/>
          </a:xfrm>
          <a:prstGeom prst="rect">
            <a:avLst/>
          </a:prstGeom>
          <a:noFill/>
          <a:ln/>
        </p:spPr>
        <p:txBody>
          <a:bodyPr wrap="square" lIns="0" tIns="0" rIns="0" bIns="0" rtlCol="0" anchor="t"/>
          <a:lstStyle/>
          <a:p>
            <a:pPr marL="0" indent="0">
              <a:buNone/>
            </a:pPr>
            <a:r>
              <a:rPr lang="en-US" sz="1100" dirty="0">
                <a:solidFill>
                  <a:srgbClr val="404040"/>
                </a:solidFill>
                <a:latin typeface="Calibri" pitchFamily="34" charset="0"/>
                <a:ea typeface="Calibri" pitchFamily="34" charset="-122"/>
                <a:cs typeface="Calibri" pitchFamily="34" charset="-120"/>
              </a:rPr>
              <a:t>8.6 pp de reducción de la violencia de pareja entre 2019 y 2025, pero la prevalencia nacional (49.1%) sigue siendo alta.</a:t>
            </a:r>
            <a:endParaRPr lang="en-US" sz="1100" dirty="0"/>
          </a:p>
        </p:txBody>
      </p:sp>
      <p:sp>
        <p:nvSpPr>
          <p:cNvPr id="16" name="Shape 13"/>
          <p:cNvSpPr/>
          <p:nvPr/>
        </p:nvSpPr>
        <p:spPr>
          <a:xfrm>
            <a:off x="2414016" y="1700784"/>
            <a:ext cx="182880" cy="219456"/>
          </a:xfrm>
          <a:prstGeom prst="rightArrow">
            <a:avLst/>
          </a:prstGeom>
          <a:solidFill>
            <a:srgbClr val="ED2E45"/>
          </a:solidFill>
          <a:ln w="12700">
            <a:solidFill>
              <a:srgbClr val="ED2E45"/>
            </a:solidFill>
            <a:prstDash val="solid"/>
          </a:ln>
        </p:spPr>
        <p:txBody>
          <a:bodyPr/>
          <a:lstStyle/>
          <a:p>
            <a:endParaRPr lang="es-PE"/>
          </a:p>
        </p:txBody>
      </p:sp>
      <p:sp>
        <p:nvSpPr>
          <p:cNvPr id="17" name="Shape 14"/>
          <p:cNvSpPr/>
          <p:nvPr/>
        </p:nvSpPr>
        <p:spPr>
          <a:xfrm>
            <a:off x="2624328" y="1600200"/>
            <a:ext cx="1828800" cy="411480"/>
          </a:xfrm>
          <a:prstGeom prst="rect">
            <a:avLst/>
          </a:prstGeom>
          <a:solidFill>
            <a:srgbClr val="ED2E45"/>
          </a:solidFill>
          <a:ln w="12700">
            <a:solidFill>
              <a:srgbClr val="ED2E45"/>
            </a:solidFill>
            <a:prstDash val="solid"/>
          </a:ln>
        </p:spPr>
        <p:txBody>
          <a:bodyPr/>
          <a:lstStyle/>
          <a:p>
            <a:endParaRPr lang="es-PE"/>
          </a:p>
        </p:txBody>
      </p:sp>
      <p:sp>
        <p:nvSpPr>
          <p:cNvPr id="18" name="Text 15"/>
          <p:cNvSpPr txBox="1"/>
          <p:nvPr/>
        </p:nvSpPr>
        <p:spPr>
          <a:xfrm>
            <a:off x="2624328" y="1600200"/>
            <a:ext cx="182880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Montserrat" pitchFamily="34" charset="0"/>
                <a:ea typeface="Montserrat" pitchFamily="34" charset="-122"/>
                <a:cs typeface="Montserrat" pitchFamily="34" charset="-120"/>
              </a:rPr>
              <a:t>Evidencia</a:t>
            </a:r>
            <a:endParaRPr lang="en-US" sz="1300" dirty="0"/>
          </a:p>
        </p:txBody>
      </p:sp>
      <p:sp>
        <p:nvSpPr>
          <p:cNvPr id="19" name="Shape 16"/>
          <p:cNvSpPr/>
          <p:nvPr/>
        </p:nvSpPr>
        <p:spPr>
          <a:xfrm>
            <a:off x="2624328" y="2011680"/>
            <a:ext cx="1828800" cy="457200"/>
          </a:xfrm>
          <a:prstGeom prst="rect">
            <a:avLst/>
          </a:prstGeom>
          <a:solidFill>
            <a:srgbClr val="FDEBEE"/>
          </a:solidFill>
          <a:ln w="12700">
            <a:solidFill>
              <a:srgbClr val="FDEBEE"/>
            </a:solidFill>
            <a:prstDash val="solid"/>
          </a:ln>
        </p:spPr>
        <p:txBody>
          <a:bodyPr/>
          <a:lstStyle/>
          <a:p>
            <a:endParaRPr lang="es-PE"/>
          </a:p>
        </p:txBody>
      </p:sp>
      <p:sp>
        <p:nvSpPr>
          <p:cNvPr id="20" name="Text 17"/>
          <p:cNvSpPr txBox="1"/>
          <p:nvPr/>
        </p:nvSpPr>
        <p:spPr>
          <a:xfrm>
            <a:off x="2715768" y="2011680"/>
            <a:ext cx="1645920" cy="457200"/>
          </a:xfrm>
          <a:prstGeom prst="rect">
            <a:avLst/>
          </a:prstGeom>
          <a:noFill/>
          <a:ln/>
        </p:spPr>
        <p:txBody>
          <a:bodyPr wrap="square" lIns="0" tIns="0" rIns="0" bIns="0" rtlCol="0" anchor="ctr"/>
          <a:lstStyle/>
          <a:p>
            <a:pPr marL="0" indent="0" algn="ctr">
              <a:buNone/>
            </a:pPr>
            <a:r>
              <a:rPr lang="en-US" sz="1000" i="1" dirty="0">
                <a:solidFill>
                  <a:srgbClr val="C4122F"/>
                </a:solidFill>
                <a:latin typeface="Calibri" pitchFamily="34" charset="0"/>
                <a:ea typeface="Calibri" pitchFamily="34" charset="-122"/>
                <a:cs typeface="Calibri" pitchFamily="34" charset="-120"/>
              </a:rPr>
              <a:t>El dato y la fuente que lo respaldan</a:t>
            </a:r>
            <a:endParaRPr lang="en-US" sz="1000" dirty="0"/>
          </a:p>
        </p:txBody>
      </p:sp>
      <p:sp>
        <p:nvSpPr>
          <p:cNvPr id="21" name="Shape 18"/>
          <p:cNvSpPr/>
          <p:nvPr/>
        </p:nvSpPr>
        <p:spPr>
          <a:xfrm>
            <a:off x="2624328" y="2468880"/>
            <a:ext cx="1828800" cy="1691640"/>
          </a:xfrm>
          <a:prstGeom prst="rect">
            <a:avLst/>
          </a:prstGeom>
          <a:solidFill>
            <a:srgbClr val="F2F2F2"/>
          </a:solidFill>
          <a:ln w="12700">
            <a:solidFill>
              <a:srgbClr val="F2F2F2"/>
            </a:solidFill>
            <a:prstDash val="solid"/>
          </a:ln>
        </p:spPr>
        <p:txBody>
          <a:bodyPr/>
          <a:lstStyle/>
          <a:p>
            <a:endParaRPr lang="es-PE"/>
          </a:p>
        </p:txBody>
      </p:sp>
      <p:sp>
        <p:nvSpPr>
          <p:cNvPr id="22" name="Text 19"/>
          <p:cNvSpPr txBox="1"/>
          <p:nvPr/>
        </p:nvSpPr>
        <p:spPr>
          <a:xfrm>
            <a:off x="2743200" y="2560320"/>
            <a:ext cx="1591056" cy="1554480"/>
          </a:xfrm>
          <a:prstGeom prst="rect">
            <a:avLst/>
          </a:prstGeom>
          <a:noFill/>
          <a:ln/>
        </p:spPr>
        <p:txBody>
          <a:bodyPr wrap="square" lIns="0" tIns="0" rIns="0" bIns="0" rtlCol="0" anchor="t"/>
          <a:lstStyle/>
          <a:p>
            <a:pPr marL="0" indent="0">
              <a:buNone/>
            </a:pPr>
            <a:r>
              <a:rPr lang="en-US" sz="1100" dirty="0">
                <a:solidFill>
                  <a:srgbClr val="404040"/>
                </a:solidFill>
                <a:latin typeface="Calibri" pitchFamily="34" charset="0"/>
                <a:ea typeface="Calibri" pitchFamily="34" charset="-122"/>
                <a:cs typeface="Calibri" pitchFamily="34" charset="-120"/>
              </a:rPr>
              <a:t>ENDES 2019 y ENDES 2025: violencia de pareja en mujeres de 15 a 49 años, serie nacional y por departamento.</a:t>
            </a:r>
            <a:endParaRPr lang="en-US" sz="1100" dirty="0"/>
          </a:p>
        </p:txBody>
      </p:sp>
      <p:sp>
        <p:nvSpPr>
          <p:cNvPr id="23" name="Shape 20"/>
          <p:cNvSpPr/>
          <p:nvPr/>
        </p:nvSpPr>
        <p:spPr>
          <a:xfrm>
            <a:off x="4489704" y="1700784"/>
            <a:ext cx="182880" cy="219456"/>
          </a:xfrm>
          <a:prstGeom prst="rightArrow">
            <a:avLst/>
          </a:prstGeom>
          <a:solidFill>
            <a:srgbClr val="ED2E45"/>
          </a:solidFill>
          <a:ln w="12700">
            <a:solidFill>
              <a:srgbClr val="ED2E45"/>
            </a:solidFill>
            <a:prstDash val="solid"/>
          </a:ln>
        </p:spPr>
        <p:txBody>
          <a:bodyPr/>
          <a:lstStyle/>
          <a:p>
            <a:endParaRPr lang="es-PE"/>
          </a:p>
        </p:txBody>
      </p:sp>
      <p:sp>
        <p:nvSpPr>
          <p:cNvPr id="24" name="Shape 21"/>
          <p:cNvSpPr/>
          <p:nvPr/>
        </p:nvSpPr>
        <p:spPr>
          <a:xfrm>
            <a:off x="4700016" y="1600200"/>
            <a:ext cx="1828800" cy="411480"/>
          </a:xfrm>
          <a:prstGeom prst="rect">
            <a:avLst/>
          </a:prstGeom>
          <a:solidFill>
            <a:srgbClr val="ED2E45"/>
          </a:solidFill>
          <a:ln w="12700">
            <a:solidFill>
              <a:srgbClr val="ED2E45"/>
            </a:solidFill>
            <a:prstDash val="solid"/>
          </a:ln>
        </p:spPr>
        <p:txBody>
          <a:bodyPr/>
          <a:lstStyle/>
          <a:p>
            <a:endParaRPr lang="es-PE"/>
          </a:p>
        </p:txBody>
      </p:sp>
      <p:sp>
        <p:nvSpPr>
          <p:cNvPr id="25" name="Text 22"/>
          <p:cNvSpPr txBox="1"/>
          <p:nvPr/>
        </p:nvSpPr>
        <p:spPr>
          <a:xfrm>
            <a:off x="4700016" y="1600200"/>
            <a:ext cx="182880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Montserrat" pitchFamily="34" charset="0"/>
                <a:ea typeface="Montserrat" pitchFamily="34" charset="-122"/>
                <a:cs typeface="Montserrat" pitchFamily="34" charset="-120"/>
              </a:rPr>
              <a:t>Interpretación</a:t>
            </a:r>
            <a:endParaRPr lang="en-US" sz="1300" dirty="0"/>
          </a:p>
        </p:txBody>
      </p:sp>
      <p:sp>
        <p:nvSpPr>
          <p:cNvPr id="26" name="Shape 23"/>
          <p:cNvSpPr/>
          <p:nvPr/>
        </p:nvSpPr>
        <p:spPr>
          <a:xfrm>
            <a:off x="4700016" y="2011680"/>
            <a:ext cx="1828800" cy="457200"/>
          </a:xfrm>
          <a:prstGeom prst="rect">
            <a:avLst/>
          </a:prstGeom>
          <a:solidFill>
            <a:srgbClr val="FDEBEE"/>
          </a:solidFill>
          <a:ln w="12700">
            <a:solidFill>
              <a:srgbClr val="FDEBEE"/>
            </a:solidFill>
            <a:prstDash val="solid"/>
          </a:ln>
        </p:spPr>
        <p:txBody>
          <a:bodyPr/>
          <a:lstStyle/>
          <a:p>
            <a:endParaRPr lang="es-PE"/>
          </a:p>
        </p:txBody>
      </p:sp>
      <p:sp>
        <p:nvSpPr>
          <p:cNvPr id="27" name="Text 24"/>
          <p:cNvSpPr txBox="1"/>
          <p:nvPr/>
        </p:nvSpPr>
        <p:spPr>
          <a:xfrm>
            <a:off x="4791456" y="2011680"/>
            <a:ext cx="1645920" cy="457200"/>
          </a:xfrm>
          <a:prstGeom prst="rect">
            <a:avLst/>
          </a:prstGeom>
          <a:noFill/>
          <a:ln/>
        </p:spPr>
        <p:txBody>
          <a:bodyPr wrap="square" lIns="0" tIns="0" rIns="0" bIns="0" rtlCol="0" anchor="ctr"/>
          <a:lstStyle/>
          <a:p>
            <a:pPr marL="0" indent="0" algn="ctr">
              <a:buNone/>
            </a:pPr>
            <a:r>
              <a:rPr lang="en-US" sz="1000" i="1" dirty="0">
                <a:solidFill>
                  <a:srgbClr val="C4122F"/>
                </a:solidFill>
                <a:latin typeface="Calibri" pitchFamily="34" charset="0"/>
                <a:ea typeface="Calibri" pitchFamily="34" charset="-122"/>
                <a:cs typeface="Calibri" pitchFamily="34" charset="-120"/>
              </a:rPr>
              <a:t>Qué significa y por qué podría ocurrir</a:t>
            </a:r>
            <a:endParaRPr lang="en-US" sz="1000" dirty="0"/>
          </a:p>
        </p:txBody>
      </p:sp>
      <p:sp>
        <p:nvSpPr>
          <p:cNvPr id="28" name="Shape 25"/>
          <p:cNvSpPr/>
          <p:nvPr/>
        </p:nvSpPr>
        <p:spPr>
          <a:xfrm>
            <a:off x="4700016" y="2468880"/>
            <a:ext cx="1828800" cy="1691640"/>
          </a:xfrm>
          <a:prstGeom prst="rect">
            <a:avLst/>
          </a:prstGeom>
          <a:solidFill>
            <a:srgbClr val="F2F2F2"/>
          </a:solidFill>
          <a:ln w="12700">
            <a:solidFill>
              <a:srgbClr val="F2F2F2"/>
            </a:solidFill>
            <a:prstDash val="solid"/>
          </a:ln>
        </p:spPr>
        <p:txBody>
          <a:bodyPr/>
          <a:lstStyle/>
          <a:p>
            <a:endParaRPr lang="es-PE"/>
          </a:p>
        </p:txBody>
      </p:sp>
      <p:sp>
        <p:nvSpPr>
          <p:cNvPr id="29" name="Text 26"/>
          <p:cNvSpPr txBox="1"/>
          <p:nvPr/>
        </p:nvSpPr>
        <p:spPr>
          <a:xfrm>
            <a:off x="4818888" y="2560320"/>
            <a:ext cx="1591056" cy="1554480"/>
          </a:xfrm>
          <a:prstGeom prst="rect">
            <a:avLst/>
          </a:prstGeom>
          <a:noFill/>
          <a:ln/>
        </p:spPr>
        <p:txBody>
          <a:bodyPr wrap="square" lIns="0" tIns="0" rIns="0" bIns="0" rtlCol="0" anchor="t"/>
          <a:lstStyle/>
          <a:p>
            <a:pPr marL="0" indent="0">
              <a:buNone/>
            </a:pPr>
            <a:r>
              <a:rPr lang="en-US" sz="1100" dirty="0">
                <a:solidFill>
                  <a:srgbClr val="404040"/>
                </a:solidFill>
                <a:latin typeface="Calibri" pitchFamily="34" charset="0"/>
                <a:ea typeface="Calibri" pitchFamily="34" charset="-122"/>
                <a:cs typeface="Calibri" pitchFamily="34" charset="-120"/>
              </a:rPr>
              <a:t>La Ley N.° 30364 sí ha tenido impacto, pero desigual: el promedio puede esconder territorios o grupos donde casi no bajó.</a:t>
            </a:r>
            <a:endParaRPr lang="en-US" sz="1100" dirty="0"/>
          </a:p>
        </p:txBody>
      </p:sp>
      <p:sp>
        <p:nvSpPr>
          <p:cNvPr id="30" name="Shape 27"/>
          <p:cNvSpPr/>
          <p:nvPr/>
        </p:nvSpPr>
        <p:spPr>
          <a:xfrm>
            <a:off x="6565392" y="1700784"/>
            <a:ext cx="182880" cy="219456"/>
          </a:xfrm>
          <a:prstGeom prst="rightArrow">
            <a:avLst/>
          </a:prstGeom>
          <a:solidFill>
            <a:srgbClr val="ED2E45"/>
          </a:solidFill>
          <a:ln w="12700">
            <a:solidFill>
              <a:srgbClr val="ED2E45"/>
            </a:solidFill>
            <a:prstDash val="solid"/>
          </a:ln>
        </p:spPr>
        <p:txBody>
          <a:bodyPr/>
          <a:lstStyle/>
          <a:p>
            <a:endParaRPr lang="es-PE"/>
          </a:p>
        </p:txBody>
      </p:sp>
      <p:sp>
        <p:nvSpPr>
          <p:cNvPr id="31" name="Shape 28"/>
          <p:cNvSpPr/>
          <p:nvPr/>
        </p:nvSpPr>
        <p:spPr>
          <a:xfrm>
            <a:off x="6775704" y="1600200"/>
            <a:ext cx="1828800" cy="411480"/>
          </a:xfrm>
          <a:prstGeom prst="rect">
            <a:avLst/>
          </a:prstGeom>
          <a:solidFill>
            <a:srgbClr val="C4122F"/>
          </a:solidFill>
          <a:ln w="12700">
            <a:solidFill>
              <a:srgbClr val="C4122F"/>
            </a:solidFill>
            <a:prstDash val="solid"/>
          </a:ln>
        </p:spPr>
        <p:txBody>
          <a:bodyPr/>
          <a:lstStyle/>
          <a:p>
            <a:endParaRPr lang="es-PE"/>
          </a:p>
        </p:txBody>
      </p:sp>
      <p:sp>
        <p:nvSpPr>
          <p:cNvPr id="32" name="Text 29"/>
          <p:cNvSpPr txBox="1"/>
          <p:nvPr/>
        </p:nvSpPr>
        <p:spPr>
          <a:xfrm>
            <a:off x="6775704" y="1600200"/>
            <a:ext cx="182880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Montserrat" pitchFamily="34" charset="0"/>
                <a:ea typeface="Montserrat" pitchFamily="34" charset="-122"/>
                <a:cs typeface="Montserrat" pitchFamily="34" charset="-120"/>
              </a:rPr>
              <a:t>Implicancia</a:t>
            </a:r>
            <a:endParaRPr lang="en-US" sz="1300" dirty="0"/>
          </a:p>
        </p:txBody>
      </p:sp>
      <p:sp>
        <p:nvSpPr>
          <p:cNvPr id="33" name="Shape 30"/>
          <p:cNvSpPr/>
          <p:nvPr/>
        </p:nvSpPr>
        <p:spPr>
          <a:xfrm>
            <a:off x="6775704" y="2011680"/>
            <a:ext cx="1828800" cy="457200"/>
          </a:xfrm>
          <a:prstGeom prst="rect">
            <a:avLst/>
          </a:prstGeom>
          <a:solidFill>
            <a:srgbClr val="FDEBEE"/>
          </a:solidFill>
          <a:ln w="12700">
            <a:solidFill>
              <a:srgbClr val="FDEBEE"/>
            </a:solidFill>
            <a:prstDash val="solid"/>
          </a:ln>
        </p:spPr>
        <p:txBody>
          <a:bodyPr/>
          <a:lstStyle/>
          <a:p>
            <a:endParaRPr lang="es-PE"/>
          </a:p>
        </p:txBody>
      </p:sp>
      <p:sp>
        <p:nvSpPr>
          <p:cNvPr id="34" name="Text 31"/>
          <p:cNvSpPr txBox="1"/>
          <p:nvPr/>
        </p:nvSpPr>
        <p:spPr>
          <a:xfrm>
            <a:off x="6867144" y="2011680"/>
            <a:ext cx="1645920" cy="457200"/>
          </a:xfrm>
          <a:prstGeom prst="rect">
            <a:avLst/>
          </a:prstGeom>
          <a:noFill/>
          <a:ln/>
        </p:spPr>
        <p:txBody>
          <a:bodyPr wrap="square" lIns="0" tIns="0" rIns="0" bIns="0" rtlCol="0" anchor="ctr"/>
          <a:lstStyle/>
          <a:p>
            <a:pPr marL="0" indent="0" algn="ctr">
              <a:buNone/>
            </a:pPr>
            <a:r>
              <a:rPr lang="en-US" sz="1000" i="1" dirty="0">
                <a:solidFill>
                  <a:srgbClr val="C4122F"/>
                </a:solidFill>
                <a:latin typeface="Calibri" pitchFamily="34" charset="0"/>
                <a:ea typeface="Calibri" pitchFamily="34" charset="-122"/>
                <a:cs typeface="Calibri" pitchFamily="34" charset="-120"/>
              </a:rPr>
              <a:t>Qué supone para la acción pública</a:t>
            </a:r>
            <a:endParaRPr lang="en-US" sz="1000" dirty="0"/>
          </a:p>
        </p:txBody>
      </p:sp>
      <p:sp>
        <p:nvSpPr>
          <p:cNvPr id="35" name="Shape 32"/>
          <p:cNvSpPr/>
          <p:nvPr/>
        </p:nvSpPr>
        <p:spPr>
          <a:xfrm>
            <a:off x="6775704" y="2468880"/>
            <a:ext cx="1828800" cy="1691640"/>
          </a:xfrm>
          <a:prstGeom prst="rect">
            <a:avLst/>
          </a:prstGeom>
          <a:solidFill>
            <a:srgbClr val="F2F2F2"/>
          </a:solidFill>
          <a:ln w="12700">
            <a:solidFill>
              <a:srgbClr val="F2F2F2"/>
            </a:solidFill>
            <a:prstDash val="solid"/>
          </a:ln>
        </p:spPr>
        <p:txBody>
          <a:bodyPr/>
          <a:lstStyle/>
          <a:p>
            <a:endParaRPr lang="es-PE"/>
          </a:p>
        </p:txBody>
      </p:sp>
      <p:sp>
        <p:nvSpPr>
          <p:cNvPr id="36" name="Text 33"/>
          <p:cNvSpPr txBox="1"/>
          <p:nvPr/>
        </p:nvSpPr>
        <p:spPr>
          <a:xfrm>
            <a:off x="6894576" y="2560320"/>
            <a:ext cx="1591056" cy="1554480"/>
          </a:xfrm>
          <a:prstGeom prst="rect">
            <a:avLst/>
          </a:prstGeom>
          <a:noFill/>
          <a:ln/>
        </p:spPr>
        <p:txBody>
          <a:bodyPr wrap="square" lIns="0" tIns="0" rIns="0" bIns="0" rtlCol="0" anchor="t"/>
          <a:lstStyle/>
          <a:p>
            <a:pPr marL="0" indent="0">
              <a:buNone/>
            </a:pPr>
            <a:r>
              <a:rPr lang="en-US" sz="1100" dirty="0">
                <a:solidFill>
                  <a:srgbClr val="404040"/>
                </a:solidFill>
                <a:latin typeface="Calibri" pitchFamily="34" charset="0"/>
                <a:ea typeface="Calibri" pitchFamily="34" charset="-122"/>
                <a:cs typeface="Calibri" pitchFamily="34" charset="-120"/>
              </a:rPr>
              <a:t>Una intervención uniforme no basta: hay que focalizar donde la brecha frente al promedio es mayor.</a:t>
            </a:r>
            <a:endParaRPr lang="en-US" sz="1100" dirty="0"/>
          </a:p>
        </p:txBody>
      </p:sp>
      <p:sp>
        <p:nvSpPr>
          <p:cNvPr id="37" name="Shape 34"/>
          <p:cNvSpPr/>
          <p:nvPr/>
        </p:nvSpPr>
        <p:spPr>
          <a:xfrm>
            <a:off x="548640" y="4343400"/>
            <a:ext cx="8046720" cy="475488"/>
          </a:xfrm>
          <a:prstGeom prst="roundRect">
            <a:avLst>
              <a:gd name="adj" fmla="val 15385"/>
            </a:avLst>
          </a:prstGeom>
          <a:solidFill>
            <a:srgbClr val="FFFFFF"/>
          </a:solidFill>
          <a:ln w="12700">
            <a:solidFill>
              <a:srgbClr val="ED2E45"/>
            </a:solidFill>
            <a:prstDash val="solid"/>
          </a:ln>
        </p:spPr>
        <p:txBody>
          <a:bodyPr/>
          <a:lstStyle/>
          <a:p>
            <a:endParaRPr lang="es-PE"/>
          </a:p>
        </p:txBody>
      </p:sp>
      <p:sp>
        <p:nvSpPr>
          <p:cNvPr id="38" name="Shape 35"/>
          <p:cNvSpPr/>
          <p:nvPr/>
        </p:nvSpPr>
        <p:spPr>
          <a:xfrm>
            <a:off x="658368" y="4224528"/>
            <a:ext cx="868680" cy="237744"/>
          </a:xfrm>
          <a:prstGeom prst="roundRect">
            <a:avLst>
              <a:gd name="adj" fmla="val 50000"/>
            </a:avLst>
          </a:prstGeom>
          <a:solidFill>
            <a:srgbClr val="ED2E45"/>
          </a:solidFill>
          <a:ln w="12700">
            <a:solidFill>
              <a:srgbClr val="ED2E45"/>
            </a:solidFill>
            <a:prstDash val="solid"/>
          </a:ln>
        </p:spPr>
        <p:txBody>
          <a:bodyPr/>
          <a:lstStyle/>
          <a:p>
            <a:endParaRPr lang="es-PE"/>
          </a:p>
        </p:txBody>
      </p:sp>
      <p:sp>
        <p:nvSpPr>
          <p:cNvPr id="39" name="Text 36"/>
          <p:cNvSpPr txBox="1"/>
          <p:nvPr/>
        </p:nvSpPr>
        <p:spPr>
          <a:xfrm>
            <a:off x="658368" y="4224528"/>
            <a:ext cx="868680" cy="237744"/>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¿QUÉ ES?</a:t>
            </a:r>
            <a:endParaRPr lang="en-US" sz="850" dirty="0"/>
          </a:p>
        </p:txBody>
      </p:sp>
      <p:sp>
        <p:nvSpPr>
          <p:cNvPr id="40" name="Text 37"/>
          <p:cNvSpPr txBox="1"/>
          <p:nvPr/>
        </p:nvSpPr>
        <p:spPr>
          <a:xfrm>
            <a:off x="685800" y="4416552"/>
            <a:ext cx="7772400" cy="365760"/>
          </a:xfrm>
          <a:prstGeom prst="rect">
            <a:avLst/>
          </a:prstGeom>
          <a:noFill/>
          <a:ln/>
        </p:spPr>
        <p:txBody>
          <a:bodyPr wrap="square" lIns="0" tIns="0" rIns="0" bIns="0" rtlCol="0" anchor="ctr"/>
          <a:lstStyle/>
          <a:p>
            <a:pPr marL="0" indent="0">
              <a:buNone/>
            </a:pPr>
            <a:r>
              <a:rPr lang="en-US" sz="1050" b="1" dirty="0">
                <a:solidFill>
                  <a:srgbClr val="ED2E45"/>
                </a:solidFill>
                <a:latin typeface="Calibri" pitchFamily="34" charset="0"/>
                <a:ea typeface="Calibri" pitchFamily="34" charset="-122"/>
                <a:cs typeface="Calibri" pitchFamily="34" charset="-120"/>
              </a:rPr>
              <a:t>Prevalencia: </a:t>
            </a:r>
            <a:r>
              <a:rPr lang="en-US" sz="1050" dirty="0">
                <a:solidFill>
                  <a:srgbClr val="404040"/>
                </a:solidFill>
                <a:latin typeface="Calibri" pitchFamily="34" charset="0"/>
                <a:ea typeface="Calibri" pitchFamily="34" charset="-122"/>
                <a:cs typeface="Calibri" pitchFamily="34" charset="-120"/>
              </a:rPr>
              <a:t>proporción de personas de una población que vivió una situación (aquí, violencia de pareja) en un periodo.</a:t>
            </a:r>
            <a:endParaRPr lang="en-US" sz="1050" dirty="0"/>
          </a:p>
        </p:txBody>
      </p:sp>
      <p:pic>
        <p:nvPicPr>
          <p:cNvPr id="41" name="Image 0" descr="a/logo_mimp_h.png"/>
          <p:cNvPicPr>
            <a:picLocks noChangeAspect="1"/>
          </p:cNvPicPr>
          <p:nvPr/>
        </p:nvPicPr>
        <p:blipFill>
          <a:blip r:embed="rId4"/>
          <a:stretch>
            <a:fillRect/>
          </a:stretch>
        </p:blipFill>
        <p:spPr>
          <a:xfrm>
            <a:off x="184709" y="110642"/>
            <a:ext cx="1790395" cy="417881"/>
          </a:xfrm>
          <a:prstGeom prst="rect">
            <a:avLst/>
          </a:prstGeom>
        </p:spPr>
      </p:pic>
      <p:pic>
        <p:nvPicPr>
          <p:cNvPr id="42" name="Image 1" descr="a/logo_30.png"/>
          <p:cNvPicPr>
            <a:picLocks noChangeAspect="1"/>
          </p:cNvPicPr>
          <p:nvPr/>
        </p:nvPicPr>
        <p:blipFill>
          <a:blip r:embed="rId5"/>
          <a:stretch>
            <a:fillRect/>
          </a:stretch>
        </p:blipFill>
        <p:spPr>
          <a:xfrm>
            <a:off x="3611880" y="2743"/>
            <a:ext cx="1158545" cy="622706"/>
          </a:xfrm>
          <a:prstGeom prst="rect">
            <a:avLst/>
          </a:prstGeom>
        </p:spPr>
      </p:pic>
      <p:pic>
        <p:nvPicPr>
          <p:cNvPr id="43" name="Image 2" descr="a/logo_peru_responde.png"/>
          <p:cNvPicPr>
            <a:picLocks noChangeAspect="1"/>
          </p:cNvPicPr>
          <p:nvPr/>
        </p:nvPicPr>
        <p:blipFill>
          <a:blip r:embed="rId6"/>
          <a:stretch>
            <a:fillRect/>
          </a:stretch>
        </p:blipFill>
        <p:spPr>
          <a:xfrm>
            <a:off x="7299655" y="102413"/>
            <a:ext cx="1602943" cy="475488"/>
          </a:xfrm>
          <a:prstGeom prst="rect">
            <a:avLst/>
          </a:prstGeom>
        </p:spPr>
      </p:pic>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a/fondo_rojo.png"/>
          <p:cNvPicPr>
            <a:picLocks noChangeAspect="1"/>
          </p:cNvPicPr>
          <p:nvPr/>
        </p:nvPicPr>
        <p:blipFill>
          <a:blip r:embed="rId3"/>
          <a:stretch>
            <a:fillRect/>
          </a:stretch>
        </p:blipFill>
        <p:spPr>
          <a:xfrm>
            <a:off x="0" y="685800"/>
            <a:ext cx="9144000" cy="4457700"/>
          </a:xfrm>
          <a:prstGeom prst="rect">
            <a:avLst/>
          </a:prstGeom>
        </p:spPr>
      </p:pic>
      <p:sp>
        <p:nvSpPr>
          <p:cNvPr id="3" name="Text 0"/>
          <p:cNvSpPr txBox="1"/>
          <p:nvPr/>
        </p:nvSpPr>
        <p:spPr>
          <a:xfrm>
            <a:off x="548640" y="4965192"/>
            <a:ext cx="2011680" cy="178308"/>
          </a:xfrm>
          <a:prstGeom prst="rect">
            <a:avLst/>
          </a:prstGeom>
          <a:noFill/>
          <a:ln/>
        </p:spPr>
        <p:txBody>
          <a:bodyPr wrap="square" lIns="0" tIns="0" rIns="0" bIns="0" rtlCol="0" anchor="ctr"/>
          <a:lstStyle/>
          <a:p>
            <a:pPr marL="0" indent="0">
              <a:buNone/>
            </a:pPr>
            <a:r>
              <a:rPr lang="en-US" sz="750" b="1" kern="0" spc="100" dirty="0">
                <a:solidFill>
                  <a:srgbClr val="FFFFFF"/>
                </a:solidFill>
                <a:latin typeface="Calibri" pitchFamily="34" charset="0"/>
                <a:ea typeface="Calibri" pitchFamily="34" charset="-122"/>
                <a:cs typeface="Calibri" pitchFamily="34" charset="-120"/>
              </a:rPr>
              <a:t>I · COMPRENDER</a:t>
            </a:r>
            <a:endParaRPr lang="en-US" sz="750" dirty="0"/>
          </a:p>
        </p:txBody>
      </p:sp>
      <p:sp>
        <p:nvSpPr>
          <p:cNvPr id="4" name="Text 1"/>
          <p:cNvSpPr txBox="1"/>
          <p:nvPr/>
        </p:nvSpPr>
        <p:spPr>
          <a:xfrm>
            <a:off x="256032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II · DISEÑAR</a:t>
            </a:r>
            <a:endParaRPr lang="en-US" sz="750" dirty="0"/>
          </a:p>
        </p:txBody>
      </p:sp>
      <p:sp>
        <p:nvSpPr>
          <p:cNvPr id="5" name="Text 2"/>
          <p:cNvSpPr txBox="1"/>
          <p:nvPr/>
        </p:nvSpPr>
        <p:spPr>
          <a:xfrm>
            <a:off x="457200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III · VALIDAR</a:t>
            </a:r>
            <a:endParaRPr lang="en-US" sz="750" dirty="0"/>
          </a:p>
        </p:txBody>
      </p:sp>
      <p:sp>
        <p:nvSpPr>
          <p:cNvPr id="6" name="Text 3"/>
          <p:cNvSpPr txBox="1"/>
          <p:nvPr/>
        </p:nvSpPr>
        <p:spPr>
          <a:xfrm>
            <a:off x="658368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IV · COMUNICAR</a:t>
            </a:r>
            <a:endParaRPr lang="en-US" sz="750" dirty="0"/>
          </a:p>
        </p:txBody>
      </p:sp>
      <p:sp>
        <p:nvSpPr>
          <p:cNvPr id="7" name="Shape 4"/>
          <p:cNvSpPr/>
          <p:nvPr/>
        </p:nvSpPr>
        <p:spPr>
          <a:xfrm>
            <a:off x="548640" y="868680"/>
            <a:ext cx="1984248" cy="384048"/>
          </a:xfrm>
          <a:prstGeom prst="roundRect">
            <a:avLst>
              <a:gd name="adj" fmla="val 50000"/>
            </a:avLst>
          </a:prstGeom>
          <a:solidFill>
            <a:srgbClr val="FFFFFF"/>
          </a:solidFill>
          <a:ln w="12700">
            <a:solidFill>
              <a:srgbClr val="FFFFFF"/>
            </a:solidFill>
            <a:prstDash val="solid"/>
          </a:ln>
        </p:spPr>
        <p:txBody>
          <a:bodyPr/>
          <a:lstStyle/>
          <a:p>
            <a:endParaRPr lang="es-PE"/>
          </a:p>
        </p:txBody>
      </p:sp>
      <p:sp>
        <p:nvSpPr>
          <p:cNvPr id="8" name="Shape 5"/>
          <p:cNvSpPr/>
          <p:nvPr/>
        </p:nvSpPr>
        <p:spPr>
          <a:xfrm>
            <a:off x="594360" y="905256"/>
            <a:ext cx="310896" cy="310896"/>
          </a:xfrm>
          <a:prstGeom prst="ellipse">
            <a:avLst/>
          </a:prstGeom>
          <a:solidFill>
            <a:srgbClr val="ED2E45"/>
          </a:solidFill>
          <a:ln w="12700">
            <a:solidFill>
              <a:srgbClr val="ED2E45"/>
            </a:solidFill>
            <a:prstDash val="solid"/>
          </a:ln>
        </p:spPr>
        <p:txBody>
          <a:bodyPr/>
          <a:lstStyle/>
          <a:p>
            <a:endParaRPr lang="es-PE"/>
          </a:p>
        </p:txBody>
      </p:sp>
      <p:pic>
        <p:nvPicPr>
          <p:cNvPr id="9" name="Image 1" descr="a/ic_bulb.png"/>
          <p:cNvPicPr>
            <a:picLocks noChangeAspect="1"/>
          </p:cNvPicPr>
          <p:nvPr/>
        </p:nvPicPr>
        <p:blipFill>
          <a:blip r:embed="rId4"/>
          <a:stretch>
            <a:fillRect/>
          </a:stretch>
        </p:blipFill>
        <p:spPr>
          <a:xfrm>
            <a:off x="649224" y="960120"/>
            <a:ext cx="201168" cy="201168"/>
          </a:xfrm>
          <a:prstGeom prst="rect">
            <a:avLst/>
          </a:prstGeom>
        </p:spPr>
      </p:pic>
      <p:sp>
        <p:nvSpPr>
          <p:cNvPr id="10" name="Text 6"/>
          <p:cNvSpPr txBox="1"/>
          <p:nvPr/>
        </p:nvSpPr>
        <p:spPr>
          <a:xfrm>
            <a:off x="987552" y="868680"/>
            <a:ext cx="1618488" cy="384048"/>
          </a:xfrm>
          <a:prstGeom prst="rect">
            <a:avLst/>
          </a:prstGeom>
          <a:noFill/>
          <a:ln/>
        </p:spPr>
        <p:txBody>
          <a:bodyPr wrap="square" lIns="0" tIns="0" rIns="0" bIns="0" rtlCol="0" anchor="ctr"/>
          <a:lstStyle/>
          <a:p>
            <a:pPr marL="0" indent="0">
              <a:buNone/>
            </a:pPr>
            <a:r>
              <a:rPr lang="en-US" sz="1150" b="1" kern="0" spc="100" dirty="0">
                <a:solidFill>
                  <a:srgbClr val="ED2E45"/>
                </a:solidFill>
                <a:latin typeface="Calibri" pitchFamily="34" charset="0"/>
                <a:ea typeface="Calibri" pitchFamily="34" charset="-122"/>
                <a:cs typeface="Calibri" pitchFamily="34" charset="-120"/>
              </a:rPr>
              <a:t>CONCEPTO CLAVE</a:t>
            </a:r>
            <a:endParaRPr lang="en-US" sz="1150" dirty="0"/>
          </a:p>
        </p:txBody>
      </p:sp>
      <p:sp>
        <p:nvSpPr>
          <p:cNvPr id="12" name="Text 7"/>
          <p:cNvSpPr txBox="1"/>
          <p:nvPr/>
        </p:nvSpPr>
        <p:spPr>
          <a:xfrm>
            <a:off x="548640" y="1371600"/>
            <a:ext cx="8046720" cy="457200"/>
          </a:xfrm>
          <a:prstGeom prst="rect">
            <a:avLst/>
          </a:prstGeom>
          <a:noFill/>
          <a:ln/>
        </p:spPr>
        <p:txBody>
          <a:bodyPr wrap="square" lIns="0" tIns="0" rIns="0" bIns="0" rtlCol="0" anchor="t"/>
          <a:lstStyle/>
          <a:p>
            <a:pPr marL="0" indent="0">
              <a:buNone/>
            </a:pPr>
            <a:r>
              <a:rPr lang="en-US" sz="2200" b="1" dirty="0">
                <a:solidFill>
                  <a:srgbClr val="FFFFFF"/>
                </a:solidFill>
                <a:latin typeface="Montserrat" pitchFamily="34" charset="0"/>
                <a:ea typeface="Montserrat" pitchFamily="34" charset="-122"/>
                <a:cs typeface="Montserrat" pitchFamily="34" charset="-120"/>
              </a:rPr>
              <a:t>Correlación no es causalidad</a:t>
            </a:r>
            <a:endParaRPr lang="en-US" sz="2200" dirty="0"/>
          </a:p>
        </p:txBody>
      </p:sp>
      <p:sp>
        <p:nvSpPr>
          <p:cNvPr id="13" name="Text 8"/>
          <p:cNvSpPr txBox="1"/>
          <p:nvPr/>
        </p:nvSpPr>
        <p:spPr>
          <a:xfrm>
            <a:off x="548640" y="1828800"/>
            <a:ext cx="8046720" cy="36576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Cuando suben las ventas de helado, también suben los ahogamientos. ¿El helado causa ahogamientos?</a:t>
            </a:r>
            <a:endParaRPr lang="en-US" sz="1400" dirty="0"/>
          </a:p>
        </p:txBody>
      </p:sp>
      <p:sp>
        <p:nvSpPr>
          <p:cNvPr id="14" name="Shape 9"/>
          <p:cNvSpPr/>
          <p:nvPr/>
        </p:nvSpPr>
        <p:spPr>
          <a:xfrm>
            <a:off x="548640" y="2331720"/>
            <a:ext cx="2194560" cy="1188720"/>
          </a:xfrm>
          <a:prstGeom prst="roundRect">
            <a:avLst>
              <a:gd name="adj" fmla="val 6154"/>
            </a:avLst>
          </a:prstGeom>
          <a:solidFill>
            <a:srgbClr val="FFFFFF"/>
          </a:solidFill>
          <a:ln w="12700">
            <a:solidFill>
              <a:srgbClr val="FFFFFF"/>
            </a:solidFill>
            <a:prstDash val="solid"/>
          </a:ln>
        </p:spPr>
        <p:txBody>
          <a:bodyPr/>
          <a:lstStyle/>
          <a:p>
            <a:endParaRPr lang="es-PE"/>
          </a:p>
        </p:txBody>
      </p:sp>
      <p:pic>
        <p:nvPicPr>
          <p:cNvPr id="15" name="Image 2" descr="a/ic_ice.png"/>
          <p:cNvPicPr>
            <a:picLocks noChangeAspect="1"/>
          </p:cNvPicPr>
          <p:nvPr/>
        </p:nvPicPr>
        <p:blipFill>
          <a:blip r:embed="rId5"/>
          <a:stretch>
            <a:fillRect/>
          </a:stretch>
        </p:blipFill>
        <p:spPr>
          <a:xfrm>
            <a:off x="1371600" y="2423160"/>
            <a:ext cx="548640" cy="548640"/>
          </a:xfrm>
          <a:prstGeom prst="rect">
            <a:avLst/>
          </a:prstGeom>
        </p:spPr>
      </p:pic>
      <p:sp>
        <p:nvSpPr>
          <p:cNvPr id="16" name="Text 10"/>
          <p:cNvSpPr txBox="1"/>
          <p:nvPr/>
        </p:nvSpPr>
        <p:spPr>
          <a:xfrm>
            <a:off x="548640" y="3017520"/>
            <a:ext cx="2194560" cy="411480"/>
          </a:xfrm>
          <a:prstGeom prst="rect">
            <a:avLst/>
          </a:prstGeom>
          <a:noFill/>
          <a:ln/>
        </p:spPr>
        <p:txBody>
          <a:bodyPr wrap="square" lIns="0" tIns="0" rIns="0" bIns="0" rtlCol="0" anchor="t"/>
          <a:lstStyle/>
          <a:p>
            <a:pPr marL="0" indent="0" algn="ctr">
              <a:buNone/>
            </a:pPr>
            <a:r>
              <a:rPr lang="en-US" sz="1300" b="1" dirty="0">
                <a:solidFill>
                  <a:srgbClr val="262626"/>
                </a:solidFill>
                <a:latin typeface="Calibri" pitchFamily="34" charset="0"/>
                <a:ea typeface="Calibri" pitchFamily="34" charset="-122"/>
                <a:cs typeface="Calibri" pitchFamily="34" charset="-120"/>
              </a:rPr>
              <a:t>Ventas de helado ↑</a:t>
            </a:r>
            <a:endParaRPr lang="en-US" sz="1300" dirty="0"/>
          </a:p>
        </p:txBody>
      </p:sp>
      <p:sp>
        <p:nvSpPr>
          <p:cNvPr id="17" name="Text 11"/>
          <p:cNvSpPr txBox="1"/>
          <p:nvPr/>
        </p:nvSpPr>
        <p:spPr>
          <a:xfrm>
            <a:off x="2743200" y="2560320"/>
            <a:ext cx="731520" cy="731520"/>
          </a:xfrm>
          <a:prstGeom prst="rect">
            <a:avLst/>
          </a:prstGeom>
          <a:noFill/>
          <a:ln/>
        </p:spPr>
        <p:txBody>
          <a:bodyPr wrap="square" lIns="0" tIns="0" rIns="0" bIns="0" rtlCol="0" anchor="ctr"/>
          <a:lstStyle/>
          <a:p>
            <a:pPr marL="0" indent="0" algn="ctr">
              <a:buNone/>
            </a:pPr>
            <a:r>
              <a:rPr lang="en-US" sz="3600" b="1" dirty="0">
                <a:solidFill>
                  <a:srgbClr val="FFFFFF"/>
                </a:solidFill>
                <a:latin typeface="Montserrat" pitchFamily="34" charset="0"/>
                <a:ea typeface="Montserrat" pitchFamily="34" charset="-122"/>
                <a:cs typeface="Montserrat" pitchFamily="34" charset="-120"/>
              </a:rPr>
              <a:t>≠</a:t>
            </a:r>
            <a:endParaRPr lang="en-US" sz="3600" dirty="0"/>
          </a:p>
        </p:txBody>
      </p:sp>
      <p:sp>
        <p:nvSpPr>
          <p:cNvPr id="18" name="Shape 12"/>
          <p:cNvSpPr/>
          <p:nvPr/>
        </p:nvSpPr>
        <p:spPr>
          <a:xfrm>
            <a:off x="3474720" y="2331720"/>
            <a:ext cx="2194560" cy="1188720"/>
          </a:xfrm>
          <a:prstGeom prst="roundRect">
            <a:avLst>
              <a:gd name="adj" fmla="val 6154"/>
            </a:avLst>
          </a:prstGeom>
          <a:solidFill>
            <a:srgbClr val="FFFFFF"/>
          </a:solidFill>
          <a:ln w="12700">
            <a:solidFill>
              <a:srgbClr val="FFFFFF"/>
            </a:solidFill>
            <a:prstDash val="solid"/>
          </a:ln>
        </p:spPr>
        <p:txBody>
          <a:bodyPr/>
          <a:lstStyle/>
          <a:p>
            <a:endParaRPr lang="es-PE"/>
          </a:p>
        </p:txBody>
      </p:sp>
      <p:pic>
        <p:nvPicPr>
          <p:cNvPr id="19" name="Image 3" descr="a/ic_swim.png"/>
          <p:cNvPicPr>
            <a:picLocks noChangeAspect="1"/>
          </p:cNvPicPr>
          <p:nvPr/>
        </p:nvPicPr>
        <p:blipFill>
          <a:blip r:embed="rId6"/>
          <a:stretch>
            <a:fillRect/>
          </a:stretch>
        </p:blipFill>
        <p:spPr>
          <a:xfrm>
            <a:off x="4297680" y="2423160"/>
            <a:ext cx="548640" cy="548640"/>
          </a:xfrm>
          <a:prstGeom prst="rect">
            <a:avLst/>
          </a:prstGeom>
        </p:spPr>
      </p:pic>
      <p:sp>
        <p:nvSpPr>
          <p:cNvPr id="20" name="Text 13"/>
          <p:cNvSpPr txBox="1"/>
          <p:nvPr/>
        </p:nvSpPr>
        <p:spPr>
          <a:xfrm>
            <a:off x="3474720" y="3017520"/>
            <a:ext cx="2194560" cy="411480"/>
          </a:xfrm>
          <a:prstGeom prst="rect">
            <a:avLst/>
          </a:prstGeom>
          <a:noFill/>
          <a:ln/>
        </p:spPr>
        <p:txBody>
          <a:bodyPr wrap="square" lIns="0" tIns="0" rIns="0" bIns="0" rtlCol="0" anchor="t"/>
          <a:lstStyle/>
          <a:p>
            <a:pPr marL="0" indent="0" algn="ctr">
              <a:buNone/>
            </a:pPr>
            <a:r>
              <a:rPr lang="en-US" sz="1300" b="1" dirty="0">
                <a:solidFill>
                  <a:srgbClr val="262626"/>
                </a:solidFill>
                <a:latin typeface="Calibri" pitchFamily="34" charset="0"/>
                <a:ea typeface="Calibri" pitchFamily="34" charset="-122"/>
                <a:cs typeface="Calibri" pitchFamily="34" charset="-120"/>
              </a:rPr>
              <a:t>Ahogamientos ↑</a:t>
            </a:r>
            <a:endParaRPr lang="en-US" sz="1300" dirty="0"/>
          </a:p>
        </p:txBody>
      </p:sp>
      <p:sp>
        <p:nvSpPr>
          <p:cNvPr id="21" name="Text 14"/>
          <p:cNvSpPr txBox="1"/>
          <p:nvPr/>
        </p:nvSpPr>
        <p:spPr>
          <a:xfrm>
            <a:off x="5669280" y="2560320"/>
            <a:ext cx="731520" cy="731520"/>
          </a:xfrm>
          <a:prstGeom prst="rect">
            <a:avLst/>
          </a:prstGeom>
          <a:noFill/>
          <a:ln/>
        </p:spPr>
        <p:txBody>
          <a:bodyPr wrap="square" lIns="0" tIns="0" rIns="0" bIns="0" rtlCol="0" anchor="ctr"/>
          <a:lstStyle/>
          <a:p>
            <a:pPr marL="0" indent="0" algn="ctr">
              <a:buNone/>
            </a:pPr>
            <a:r>
              <a:rPr lang="en-US" sz="3000" b="1" dirty="0">
                <a:solidFill>
                  <a:srgbClr val="FFFFFF"/>
                </a:solidFill>
                <a:latin typeface="Montserrat" pitchFamily="34" charset="0"/>
                <a:ea typeface="Montserrat" pitchFamily="34" charset="-122"/>
                <a:cs typeface="Montserrat" pitchFamily="34" charset="-120"/>
              </a:rPr>
              <a:t>←</a:t>
            </a:r>
            <a:endParaRPr lang="en-US" sz="3000" dirty="0"/>
          </a:p>
        </p:txBody>
      </p:sp>
      <p:sp>
        <p:nvSpPr>
          <p:cNvPr id="22" name="Shape 15"/>
          <p:cNvSpPr/>
          <p:nvPr/>
        </p:nvSpPr>
        <p:spPr>
          <a:xfrm>
            <a:off x="6400800" y="2331720"/>
            <a:ext cx="2194560" cy="1188720"/>
          </a:xfrm>
          <a:prstGeom prst="roundRect">
            <a:avLst>
              <a:gd name="adj" fmla="val 6154"/>
            </a:avLst>
          </a:prstGeom>
          <a:solidFill>
            <a:srgbClr val="2B2B2E"/>
          </a:solidFill>
          <a:ln w="12700">
            <a:solidFill>
              <a:srgbClr val="2B2B2E"/>
            </a:solidFill>
            <a:prstDash val="solid"/>
          </a:ln>
        </p:spPr>
        <p:txBody>
          <a:bodyPr/>
          <a:lstStyle/>
          <a:p>
            <a:endParaRPr lang="es-PE"/>
          </a:p>
        </p:txBody>
      </p:sp>
      <p:sp>
        <p:nvSpPr>
          <p:cNvPr id="23" name="Shape 16"/>
          <p:cNvSpPr/>
          <p:nvPr/>
        </p:nvSpPr>
        <p:spPr>
          <a:xfrm>
            <a:off x="7205472" y="2395728"/>
            <a:ext cx="585216" cy="585216"/>
          </a:xfrm>
          <a:prstGeom prst="ellipse">
            <a:avLst/>
          </a:prstGeom>
          <a:solidFill>
            <a:srgbClr val="FFFFFF"/>
          </a:solidFill>
          <a:ln w="12700">
            <a:solidFill>
              <a:srgbClr val="FFFFFF"/>
            </a:solidFill>
            <a:prstDash val="solid"/>
          </a:ln>
        </p:spPr>
        <p:txBody>
          <a:bodyPr/>
          <a:lstStyle/>
          <a:p>
            <a:endParaRPr lang="es-PE"/>
          </a:p>
        </p:txBody>
      </p:sp>
      <p:pic>
        <p:nvPicPr>
          <p:cNvPr id="24" name="Image 4" descr="a/ic_sun.png"/>
          <p:cNvPicPr>
            <a:picLocks noChangeAspect="1"/>
          </p:cNvPicPr>
          <p:nvPr/>
        </p:nvPicPr>
        <p:blipFill>
          <a:blip r:embed="rId7"/>
          <a:stretch>
            <a:fillRect/>
          </a:stretch>
        </p:blipFill>
        <p:spPr>
          <a:xfrm>
            <a:off x="7251192" y="2441448"/>
            <a:ext cx="493776" cy="493776"/>
          </a:xfrm>
          <a:prstGeom prst="rect">
            <a:avLst/>
          </a:prstGeom>
        </p:spPr>
      </p:pic>
      <p:sp>
        <p:nvSpPr>
          <p:cNvPr id="25" name="Text 17"/>
          <p:cNvSpPr txBox="1"/>
          <p:nvPr/>
        </p:nvSpPr>
        <p:spPr>
          <a:xfrm>
            <a:off x="6400800" y="3017520"/>
            <a:ext cx="2194560" cy="411480"/>
          </a:xfrm>
          <a:prstGeom prst="rect">
            <a:avLst/>
          </a:prstGeom>
          <a:noFill/>
          <a:ln/>
        </p:spPr>
        <p:txBody>
          <a:bodyPr wrap="square" lIns="0" tIns="0" rIns="0" bIns="0" rtlCol="0" anchor="t"/>
          <a:lstStyle/>
          <a:p>
            <a:pPr marL="0" indent="0" algn="ctr">
              <a:buNone/>
            </a:pPr>
            <a:r>
              <a:rPr lang="en-US" sz="1300" b="1" dirty="0">
                <a:solidFill>
                  <a:srgbClr val="FFFFFF"/>
                </a:solidFill>
                <a:latin typeface="Calibri" pitchFamily="34" charset="0"/>
                <a:ea typeface="Calibri" pitchFamily="34" charset="-122"/>
                <a:cs typeface="Calibri" pitchFamily="34" charset="-120"/>
              </a:rPr>
              <a:t>Causa común: el calor</a:t>
            </a:r>
            <a:endParaRPr lang="en-US" sz="1300" dirty="0"/>
          </a:p>
        </p:txBody>
      </p:sp>
      <p:sp>
        <p:nvSpPr>
          <p:cNvPr id="26" name="Shape 18"/>
          <p:cNvSpPr/>
          <p:nvPr/>
        </p:nvSpPr>
        <p:spPr>
          <a:xfrm>
            <a:off x="548640" y="3749040"/>
            <a:ext cx="2578608" cy="868680"/>
          </a:xfrm>
          <a:prstGeom prst="roundRect">
            <a:avLst>
              <a:gd name="adj" fmla="val 8421"/>
            </a:avLst>
          </a:prstGeom>
          <a:solidFill>
            <a:srgbClr val="FFFFFF"/>
          </a:solidFill>
          <a:ln w="12700">
            <a:solidFill>
              <a:srgbClr val="FFFFFF"/>
            </a:solidFill>
            <a:prstDash val="solid"/>
          </a:ln>
        </p:spPr>
        <p:txBody>
          <a:bodyPr/>
          <a:lstStyle/>
          <a:p>
            <a:endParaRPr lang="es-PE"/>
          </a:p>
        </p:txBody>
      </p:sp>
      <p:sp>
        <p:nvSpPr>
          <p:cNvPr id="27" name="Text 19"/>
          <p:cNvSpPr txBox="1"/>
          <p:nvPr/>
        </p:nvSpPr>
        <p:spPr>
          <a:xfrm>
            <a:off x="685800" y="3749040"/>
            <a:ext cx="2331720" cy="868680"/>
          </a:xfrm>
          <a:prstGeom prst="rect">
            <a:avLst/>
          </a:prstGeom>
          <a:noFill/>
          <a:ln/>
        </p:spPr>
        <p:txBody>
          <a:bodyPr wrap="square" lIns="0" tIns="0" rIns="0" bIns="0" rtlCol="0" anchor="ctr"/>
          <a:lstStyle/>
          <a:p>
            <a:pPr marL="0" indent="0">
              <a:buNone/>
            </a:pPr>
            <a:r>
              <a:rPr lang="en-US" sz="1200" b="1" dirty="0">
                <a:solidFill>
                  <a:srgbClr val="ED2E45"/>
                </a:solidFill>
                <a:latin typeface="Calibri" pitchFamily="34" charset="0"/>
                <a:ea typeface="Calibri" pitchFamily="34" charset="-122"/>
                <a:cs typeface="Calibri" pitchFamily="34" charset="-120"/>
              </a:rPr>
              <a:t>Correlación: </a:t>
            </a:r>
            <a:r>
              <a:rPr lang="en-US" sz="1200" dirty="0">
                <a:solidFill>
                  <a:srgbClr val="262626"/>
                </a:solidFill>
                <a:latin typeface="Calibri" pitchFamily="34" charset="0"/>
                <a:ea typeface="Calibri" pitchFamily="34" charset="-122"/>
                <a:cs typeface="Calibri" pitchFamily="34" charset="-120"/>
              </a:rPr>
              <a:t>dos variables cambian juntas.</a:t>
            </a:r>
            <a:endParaRPr lang="en-US" sz="1200" dirty="0"/>
          </a:p>
        </p:txBody>
      </p:sp>
      <p:sp>
        <p:nvSpPr>
          <p:cNvPr id="28" name="Shape 20"/>
          <p:cNvSpPr/>
          <p:nvPr/>
        </p:nvSpPr>
        <p:spPr>
          <a:xfrm>
            <a:off x="3264408" y="3749040"/>
            <a:ext cx="2578608" cy="868680"/>
          </a:xfrm>
          <a:prstGeom prst="roundRect">
            <a:avLst>
              <a:gd name="adj" fmla="val 8421"/>
            </a:avLst>
          </a:prstGeom>
          <a:solidFill>
            <a:srgbClr val="FFFFFF"/>
          </a:solidFill>
          <a:ln w="12700">
            <a:solidFill>
              <a:srgbClr val="FFFFFF"/>
            </a:solidFill>
            <a:prstDash val="solid"/>
          </a:ln>
        </p:spPr>
        <p:txBody>
          <a:bodyPr/>
          <a:lstStyle/>
          <a:p>
            <a:endParaRPr lang="es-PE"/>
          </a:p>
        </p:txBody>
      </p:sp>
      <p:sp>
        <p:nvSpPr>
          <p:cNvPr id="29" name="Text 21"/>
          <p:cNvSpPr txBox="1"/>
          <p:nvPr/>
        </p:nvSpPr>
        <p:spPr>
          <a:xfrm>
            <a:off x="3401568" y="3749040"/>
            <a:ext cx="2331720" cy="868680"/>
          </a:xfrm>
          <a:prstGeom prst="rect">
            <a:avLst/>
          </a:prstGeom>
          <a:noFill/>
          <a:ln/>
        </p:spPr>
        <p:txBody>
          <a:bodyPr wrap="square" lIns="0" tIns="0" rIns="0" bIns="0" rtlCol="0" anchor="ctr"/>
          <a:lstStyle/>
          <a:p>
            <a:pPr marL="0" indent="0">
              <a:buNone/>
            </a:pPr>
            <a:r>
              <a:rPr lang="en-US" sz="1200" b="1" dirty="0">
                <a:solidFill>
                  <a:srgbClr val="ED2E45"/>
                </a:solidFill>
                <a:latin typeface="Calibri" pitchFamily="34" charset="0"/>
                <a:ea typeface="Calibri" pitchFamily="34" charset="-122"/>
                <a:cs typeface="Calibri" pitchFamily="34" charset="-120"/>
              </a:rPr>
              <a:t>Causalidad: </a:t>
            </a:r>
            <a:r>
              <a:rPr lang="en-US" sz="1200" dirty="0">
                <a:solidFill>
                  <a:srgbClr val="262626"/>
                </a:solidFill>
                <a:latin typeface="Calibri" pitchFamily="34" charset="0"/>
                <a:ea typeface="Calibri" pitchFamily="34" charset="-122"/>
                <a:cs typeface="Calibri" pitchFamily="34" charset="-120"/>
              </a:rPr>
              <a:t>una variable provoca el cambio en la otra.</a:t>
            </a:r>
            <a:endParaRPr lang="en-US" sz="1200" dirty="0"/>
          </a:p>
        </p:txBody>
      </p:sp>
      <p:sp>
        <p:nvSpPr>
          <p:cNvPr id="30" name="Shape 22"/>
          <p:cNvSpPr/>
          <p:nvPr/>
        </p:nvSpPr>
        <p:spPr>
          <a:xfrm>
            <a:off x="5980176" y="3749040"/>
            <a:ext cx="2578608" cy="868680"/>
          </a:xfrm>
          <a:prstGeom prst="roundRect">
            <a:avLst>
              <a:gd name="adj" fmla="val 8421"/>
            </a:avLst>
          </a:prstGeom>
          <a:solidFill>
            <a:srgbClr val="2B2B2E"/>
          </a:solidFill>
          <a:ln w="12700">
            <a:solidFill>
              <a:srgbClr val="2B2B2E"/>
            </a:solidFill>
            <a:prstDash val="solid"/>
          </a:ln>
        </p:spPr>
        <p:txBody>
          <a:bodyPr/>
          <a:lstStyle/>
          <a:p>
            <a:endParaRPr lang="es-PE"/>
          </a:p>
        </p:txBody>
      </p:sp>
      <p:sp>
        <p:nvSpPr>
          <p:cNvPr id="31" name="Text 23"/>
          <p:cNvSpPr txBox="1"/>
          <p:nvPr/>
        </p:nvSpPr>
        <p:spPr>
          <a:xfrm>
            <a:off x="6117336" y="3749040"/>
            <a:ext cx="2331720" cy="868680"/>
          </a:xfrm>
          <a:prstGeom prst="rect">
            <a:avLst/>
          </a:prstGeom>
          <a:noFill/>
          <a:ln/>
        </p:spPr>
        <p:txBody>
          <a:bodyPr wrap="square" lIns="0" tIns="0" rIns="0" bIns="0" rtlCol="0" anchor="ctr"/>
          <a:lstStyle/>
          <a:p>
            <a:pPr marL="0" indent="0">
              <a:buNone/>
            </a:pPr>
            <a:r>
              <a:rPr lang="en-US" sz="1200" b="1" dirty="0">
                <a:solidFill>
                  <a:srgbClr val="FF8A99"/>
                </a:solidFill>
                <a:latin typeface="Calibri" pitchFamily="34" charset="0"/>
                <a:ea typeface="Calibri" pitchFamily="34" charset="-122"/>
                <a:cs typeface="Calibri" pitchFamily="34" charset="-120"/>
              </a:rPr>
              <a:t>Pregúntense: </a:t>
            </a:r>
            <a:r>
              <a:rPr lang="en-US" sz="1200" dirty="0">
                <a:solidFill>
                  <a:srgbClr val="FFFFFF"/>
                </a:solidFill>
                <a:latin typeface="Calibri" pitchFamily="34" charset="0"/>
                <a:ea typeface="Calibri" pitchFamily="34" charset="-122"/>
                <a:cs typeface="Calibri" pitchFamily="34" charset="-120"/>
              </a:rPr>
              <a:t>¿qué tercera variable podría explicar mi hallazgo?</a:t>
            </a:r>
            <a:endParaRPr lang="en-US" sz="1200" dirty="0"/>
          </a:p>
        </p:txBody>
      </p:sp>
      <p:pic>
        <p:nvPicPr>
          <p:cNvPr id="32" name="Image 5" descr="a/logo_mimp_h.png"/>
          <p:cNvPicPr>
            <a:picLocks noChangeAspect="1"/>
          </p:cNvPicPr>
          <p:nvPr/>
        </p:nvPicPr>
        <p:blipFill>
          <a:blip r:embed="rId8"/>
          <a:stretch>
            <a:fillRect/>
          </a:stretch>
        </p:blipFill>
        <p:spPr>
          <a:xfrm>
            <a:off x="184709" y="110642"/>
            <a:ext cx="1790395" cy="417881"/>
          </a:xfrm>
          <a:prstGeom prst="rect">
            <a:avLst/>
          </a:prstGeom>
        </p:spPr>
      </p:pic>
      <p:pic>
        <p:nvPicPr>
          <p:cNvPr id="33" name="Image 6" descr="a/logo_30.png"/>
          <p:cNvPicPr>
            <a:picLocks noChangeAspect="1"/>
          </p:cNvPicPr>
          <p:nvPr/>
        </p:nvPicPr>
        <p:blipFill>
          <a:blip r:embed="rId9"/>
          <a:stretch>
            <a:fillRect/>
          </a:stretch>
        </p:blipFill>
        <p:spPr>
          <a:xfrm>
            <a:off x="3611880" y="2743"/>
            <a:ext cx="1158545" cy="622706"/>
          </a:xfrm>
          <a:prstGeom prst="rect">
            <a:avLst/>
          </a:prstGeom>
        </p:spPr>
      </p:pic>
      <p:pic>
        <p:nvPicPr>
          <p:cNvPr id="34" name="Image 7" descr="a/logo_peru_responde.png"/>
          <p:cNvPicPr>
            <a:picLocks noChangeAspect="1"/>
          </p:cNvPicPr>
          <p:nvPr/>
        </p:nvPicPr>
        <p:blipFill>
          <a:blip r:embed="rId10"/>
          <a:stretch>
            <a:fillRect/>
          </a:stretch>
        </p:blipFill>
        <p:spPr>
          <a:xfrm>
            <a:off x="7299655" y="102413"/>
            <a:ext cx="1602943" cy="475488"/>
          </a:xfrm>
          <a:prstGeom prst="rect">
            <a:avLst/>
          </a:prstGeom>
        </p:spPr>
      </p:pic>
    </p:spTree>
  </p:cSld>
  <p:clrMapOvr>
    <a:masterClrMapping/>
  </p:clrMapOvr>
  <p:transition spd="med">
    <p:push dir="u"/>
  </p:transition>
</p:sld>
</file>

<file path=ppt/slides/slide11.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65192"/>
            <a:ext cx="9144000" cy="178308"/>
          </a:xfrm>
          <a:prstGeom prst="rect">
            <a:avLst/>
          </a:prstGeom>
          <a:solidFill>
            <a:srgbClr val="ED2E45"/>
          </a:solidFill>
          <a:ln w="12700">
            <a:solidFill>
              <a:srgbClr val="ED2E45"/>
            </a:solidFill>
            <a:prstDash val="solid"/>
          </a:ln>
        </p:spPr>
        <p:txBody>
          <a:bodyPr/>
          <a:lstStyle/>
          <a:p>
            <a:endParaRPr lang="es-PE"/>
          </a:p>
        </p:txBody>
      </p:sp>
      <p:sp>
        <p:nvSpPr>
          <p:cNvPr id="3" name="Text 1"/>
          <p:cNvSpPr txBox="1"/>
          <p:nvPr/>
        </p:nvSpPr>
        <p:spPr>
          <a:xfrm>
            <a:off x="548640" y="4965192"/>
            <a:ext cx="2011680" cy="178308"/>
          </a:xfrm>
          <a:prstGeom prst="rect">
            <a:avLst/>
          </a:prstGeom>
          <a:noFill/>
          <a:ln/>
        </p:spPr>
        <p:txBody>
          <a:bodyPr wrap="square" lIns="0" tIns="0" rIns="0" bIns="0" rtlCol="0" anchor="ctr"/>
          <a:lstStyle/>
          <a:p>
            <a:pPr marL="0" indent="0">
              <a:buNone/>
            </a:pPr>
            <a:r>
              <a:rPr lang="en-US" sz="750" b="1" kern="0" spc="100" dirty="0">
                <a:solidFill>
                  <a:srgbClr val="FFFFFF"/>
                </a:solidFill>
                <a:latin typeface="Calibri" pitchFamily="34" charset="0"/>
                <a:ea typeface="Calibri" pitchFamily="34" charset="-122"/>
                <a:cs typeface="Calibri" pitchFamily="34" charset="-120"/>
              </a:rPr>
              <a:t>I · COMPRENDER</a:t>
            </a:r>
            <a:endParaRPr lang="en-US" sz="750" dirty="0"/>
          </a:p>
        </p:txBody>
      </p:sp>
      <p:sp>
        <p:nvSpPr>
          <p:cNvPr id="4" name="Text 2"/>
          <p:cNvSpPr txBox="1"/>
          <p:nvPr/>
        </p:nvSpPr>
        <p:spPr>
          <a:xfrm>
            <a:off x="256032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II · DISEÑAR</a:t>
            </a:r>
            <a:endParaRPr lang="en-US" sz="750" dirty="0"/>
          </a:p>
        </p:txBody>
      </p:sp>
      <p:sp>
        <p:nvSpPr>
          <p:cNvPr id="5" name="Text 3"/>
          <p:cNvSpPr txBox="1"/>
          <p:nvPr/>
        </p:nvSpPr>
        <p:spPr>
          <a:xfrm>
            <a:off x="457200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III · VALIDAR</a:t>
            </a:r>
            <a:endParaRPr lang="en-US" sz="750" dirty="0"/>
          </a:p>
        </p:txBody>
      </p:sp>
      <p:sp>
        <p:nvSpPr>
          <p:cNvPr id="6" name="Text 4"/>
          <p:cNvSpPr txBox="1"/>
          <p:nvPr/>
        </p:nvSpPr>
        <p:spPr>
          <a:xfrm>
            <a:off x="658368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IV · COMUNICAR</a:t>
            </a:r>
            <a:endParaRPr lang="en-US" sz="750" dirty="0"/>
          </a:p>
        </p:txBody>
      </p:sp>
      <p:sp>
        <p:nvSpPr>
          <p:cNvPr id="8" name="Text 5"/>
          <p:cNvSpPr txBox="1"/>
          <p:nvPr/>
        </p:nvSpPr>
        <p:spPr>
          <a:xfrm>
            <a:off x="548640" y="731520"/>
            <a:ext cx="8046720" cy="502920"/>
          </a:xfrm>
          <a:prstGeom prst="rect">
            <a:avLst/>
          </a:prstGeom>
          <a:noFill/>
          <a:ln/>
        </p:spPr>
        <p:txBody>
          <a:bodyPr wrap="square" lIns="0" tIns="0" rIns="0" bIns="0" rtlCol="0" anchor="ctr"/>
          <a:lstStyle/>
          <a:p>
            <a:pPr marL="0" indent="0">
              <a:buNone/>
            </a:pPr>
            <a:r>
              <a:rPr lang="en-US" sz="2200" b="1" dirty="0">
                <a:solidFill>
                  <a:srgbClr val="ED2E45"/>
                </a:solidFill>
                <a:latin typeface="Montserrat" pitchFamily="34" charset="0"/>
                <a:ea typeface="Montserrat" pitchFamily="34" charset="-122"/>
                <a:cs typeface="Montserrat" pitchFamily="34" charset="-120"/>
              </a:rPr>
              <a:t>Mirar más allá del promedio</a:t>
            </a:r>
            <a:endParaRPr lang="en-US" sz="2200" dirty="0"/>
          </a:p>
        </p:txBody>
      </p:sp>
      <p:sp>
        <p:nvSpPr>
          <p:cNvPr id="9" name="Text 6"/>
          <p:cNvSpPr txBox="1"/>
          <p:nvPr/>
        </p:nvSpPr>
        <p:spPr>
          <a:xfrm>
            <a:off x="548640" y="1216152"/>
            <a:ext cx="8046720" cy="274320"/>
          </a:xfrm>
          <a:prstGeom prst="rect">
            <a:avLst/>
          </a:prstGeom>
          <a:noFill/>
          <a:ln/>
        </p:spPr>
        <p:txBody>
          <a:bodyPr wrap="square" lIns="0" tIns="0" rIns="0" bIns="0" rtlCol="0" anchor="ctr"/>
          <a:lstStyle/>
          <a:p>
            <a:pPr marL="0" indent="0">
              <a:buNone/>
            </a:pPr>
            <a:r>
              <a:rPr lang="en-US" sz="1250" dirty="0">
                <a:solidFill>
                  <a:srgbClr val="6B6B6B"/>
                </a:solidFill>
                <a:latin typeface="Calibri" pitchFamily="34" charset="0"/>
                <a:ea typeface="Calibri" pitchFamily="34" charset="-122"/>
                <a:cs typeface="Calibri" pitchFamily="34" charset="-120"/>
              </a:rPr>
              <a:t>De 61.9% en Madre de Dios a 89.8% en Ucayali: casi 28 puntos que el promedio nacional (75.7%) esconde</a:t>
            </a:r>
            <a:endParaRPr lang="en-US" sz="1250" dirty="0"/>
          </a:p>
        </p:txBody>
      </p:sp>
      <p:pic>
        <p:nvPicPr>
          <p:cNvPr id="10" name="Image 0" descr="a/mapa_ipsos.png"/>
          <p:cNvPicPr>
            <a:picLocks noChangeAspect="1"/>
          </p:cNvPicPr>
          <p:nvPr/>
        </p:nvPicPr>
        <p:blipFill>
          <a:blip r:embed="rId4"/>
          <a:stretch>
            <a:fillRect/>
          </a:stretch>
        </p:blipFill>
        <p:spPr>
          <a:xfrm>
            <a:off x="548640" y="1536192"/>
            <a:ext cx="2170892" cy="3154680"/>
          </a:xfrm>
          <a:prstGeom prst="rect">
            <a:avLst/>
          </a:prstGeom>
        </p:spPr>
      </p:pic>
      <p:sp>
        <p:nvSpPr>
          <p:cNvPr id="11" name="Text 7"/>
          <p:cNvSpPr txBox="1"/>
          <p:nvPr/>
        </p:nvSpPr>
        <p:spPr>
          <a:xfrm>
            <a:off x="2971800" y="1600200"/>
            <a:ext cx="1188720" cy="1005840"/>
          </a:xfrm>
          <a:prstGeom prst="rect">
            <a:avLst/>
          </a:prstGeom>
          <a:noFill/>
          <a:ln/>
        </p:spPr>
        <p:txBody>
          <a:bodyPr wrap="square" lIns="0" tIns="0" rIns="0" bIns="0" rtlCol="0" anchor="t"/>
          <a:lstStyle/>
          <a:p>
            <a:pPr marL="0" indent="0">
              <a:buNone/>
            </a:pPr>
            <a:r>
              <a:rPr lang="en-US" sz="950" i="1" dirty="0">
                <a:solidFill>
                  <a:srgbClr val="6B6B6B"/>
                </a:solidFill>
                <a:latin typeface="Calibri" pitchFamily="34" charset="0"/>
                <a:ea typeface="Calibri" pitchFamily="34" charset="-122"/>
                <a:cs typeface="Calibri" pitchFamily="34" charset="-120"/>
              </a:rPr>
              <a:t>% de mujeres y hombres de 18 años a más que toleran la violencia contra las mujeres</a:t>
            </a:r>
            <a:endParaRPr lang="en-US" sz="950" dirty="0"/>
          </a:p>
        </p:txBody>
      </p:sp>
      <p:sp>
        <p:nvSpPr>
          <p:cNvPr id="12" name="Text 8"/>
          <p:cNvSpPr txBox="1"/>
          <p:nvPr/>
        </p:nvSpPr>
        <p:spPr>
          <a:xfrm>
            <a:off x="2971800" y="2606040"/>
            <a:ext cx="1188720" cy="868680"/>
          </a:xfrm>
          <a:prstGeom prst="rect">
            <a:avLst/>
          </a:prstGeom>
          <a:noFill/>
          <a:ln/>
        </p:spPr>
        <p:txBody>
          <a:bodyPr wrap="square" lIns="0" tIns="0" rIns="0" bIns="0" rtlCol="0" anchor="t"/>
          <a:lstStyle/>
          <a:p>
            <a:pPr marL="0" indent="0">
              <a:buNone/>
            </a:pPr>
            <a:r>
              <a:rPr lang="en-US" sz="950" b="1" dirty="0">
                <a:solidFill>
                  <a:srgbClr val="ED2E45"/>
                </a:solidFill>
                <a:latin typeface="Calibri" pitchFamily="34" charset="0"/>
                <a:ea typeface="Calibri" pitchFamily="34" charset="-122"/>
                <a:cs typeface="Calibri" pitchFamily="34" charset="-120"/>
              </a:rPr>
              <a:t>¿Qué mujeres podrían quedar invisibilizadas si solo observamos el promedio?</a:t>
            </a:r>
            <a:endParaRPr lang="en-US" sz="950" dirty="0"/>
          </a:p>
        </p:txBody>
      </p:sp>
      <p:sp>
        <p:nvSpPr>
          <p:cNvPr id="13" name="Shape 9"/>
          <p:cNvSpPr/>
          <p:nvPr/>
        </p:nvSpPr>
        <p:spPr>
          <a:xfrm>
            <a:off x="2971800" y="3611880"/>
            <a:ext cx="182880" cy="155448"/>
          </a:xfrm>
          <a:prstGeom prst="rect">
            <a:avLst/>
          </a:prstGeom>
          <a:solidFill>
            <a:srgbClr val="F8C4CC"/>
          </a:solidFill>
          <a:ln w="12700">
            <a:solidFill>
              <a:srgbClr val="F8C4CC"/>
            </a:solidFill>
            <a:prstDash val="solid"/>
          </a:ln>
        </p:spPr>
        <p:txBody>
          <a:bodyPr/>
          <a:lstStyle/>
          <a:p>
            <a:endParaRPr lang="es-PE"/>
          </a:p>
        </p:txBody>
      </p:sp>
      <p:sp>
        <p:nvSpPr>
          <p:cNvPr id="14" name="Text 10"/>
          <p:cNvSpPr txBox="1"/>
          <p:nvPr/>
        </p:nvSpPr>
        <p:spPr>
          <a:xfrm>
            <a:off x="3200400" y="3584448"/>
            <a:ext cx="822960" cy="210312"/>
          </a:xfrm>
          <a:prstGeom prst="rect">
            <a:avLst/>
          </a:prstGeom>
          <a:noFill/>
          <a:ln/>
        </p:spPr>
        <p:txBody>
          <a:bodyPr wrap="square" lIns="0" tIns="0" rIns="0" bIns="0" rtlCol="0" anchor="ctr"/>
          <a:lstStyle/>
          <a:p>
            <a:pPr marL="0" indent="0">
              <a:buNone/>
            </a:pPr>
            <a:r>
              <a:rPr lang="en-US" sz="850" dirty="0">
                <a:solidFill>
                  <a:srgbClr val="404040"/>
                </a:solidFill>
                <a:latin typeface="Calibri" pitchFamily="34" charset="0"/>
                <a:ea typeface="Calibri" pitchFamily="34" charset="-122"/>
                <a:cs typeface="Calibri" pitchFamily="34" charset="-120"/>
              </a:rPr>
              <a:t>61.9–71.6</a:t>
            </a:r>
            <a:endParaRPr lang="en-US" sz="850" dirty="0"/>
          </a:p>
        </p:txBody>
      </p:sp>
      <p:sp>
        <p:nvSpPr>
          <p:cNvPr id="15" name="Shape 11"/>
          <p:cNvSpPr/>
          <p:nvPr/>
        </p:nvSpPr>
        <p:spPr>
          <a:xfrm>
            <a:off x="2971800" y="3822192"/>
            <a:ext cx="182880" cy="155448"/>
          </a:xfrm>
          <a:prstGeom prst="rect">
            <a:avLst/>
          </a:prstGeom>
          <a:solidFill>
            <a:srgbClr val="F4A0AC"/>
          </a:solidFill>
          <a:ln w="12700">
            <a:solidFill>
              <a:srgbClr val="F4A0AC"/>
            </a:solidFill>
            <a:prstDash val="solid"/>
          </a:ln>
        </p:spPr>
        <p:txBody>
          <a:bodyPr/>
          <a:lstStyle/>
          <a:p>
            <a:endParaRPr lang="es-PE"/>
          </a:p>
        </p:txBody>
      </p:sp>
      <p:sp>
        <p:nvSpPr>
          <p:cNvPr id="16" name="Text 12"/>
          <p:cNvSpPr txBox="1"/>
          <p:nvPr/>
        </p:nvSpPr>
        <p:spPr>
          <a:xfrm>
            <a:off x="3200400" y="3794760"/>
            <a:ext cx="822960" cy="210312"/>
          </a:xfrm>
          <a:prstGeom prst="rect">
            <a:avLst/>
          </a:prstGeom>
          <a:noFill/>
          <a:ln/>
        </p:spPr>
        <p:txBody>
          <a:bodyPr wrap="square" lIns="0" tIns="0" rIns="0" bIns="0" rtlCol="0" anchor="ctr"/>
          <a:lstStyle/>
          <a:p>
            <a:pPr marL="0" indent="0">
              <a:buNone/>
            </a:pPr>
            <a:r>
              <a:rPr lang="en-US" sz="850" dirty="0">
                <a:solidFill>
                  <a:srgbClr val="404040"/>
                </a:solidFill>
                <a:latin typeface="Calibri" pitchFamily="34" charset="0"/>
                <a:ea typeface="Calibri" pitchFamily="34" charset="-122"/>
                <a:cs typeface="Calibri" pitchFamily="34" charset="-120"/>
              </a:rPr>
              <a:t>71.7–77.8</a:t>
            </a:r>
            <a:endParaRPr lang="en-US" sz="850" dirty="0"/>
          </a:p>
        </p:txBody>
      </p:sp>
      <p:sp>
        <p:nvSpPr>
          <p:cNvPr id="17" name="Shape 13"/>
          <p:cNvSpPr/>
          <p:nvPr/>
        </p:nvSpPr>
        <p:spPr>
          <a:xfrm>
            <a:off x="2971800" y="4032504"/>
            <a:ext cx="182880" cy="155448"/>
          </a:xfrm>
          <a:prstGeom prst="rect">
            <a:avLst/>
          </a:prstGeom>
          <a:solidFill>
            <a:srgbClr val="EC5A6D"/>
          </a:solidFill>
          <a:ln w="12700">
            <a:solidFill>
              <a:srgbClr val="EC5A6D"/>
            </a:solidFill>
            <a:prstDash val="solid"/>
          </a:ln>
        </p:spPr>
        <p:txBody>
          <a:bodyPr/>
          <a:lstStyle/>
          <a:p>
            <a:endParaRPr lang="es-PE"/>
          </a:p>
        </p:txBody>
      </p:sp>
      <p:sp>
        <p:nvSpPr>
          <p:cNvPr id="18" name="Text 14"/>
          <p:cNvSpPr txBox="1"/>
          <p:nvPr/>
        </p:nvSpPr>
        <p:spPr>
          <a:xfrm>
            <a:off x="3200400" y="4005072"/>
            <a:ext cx="822960" cy="210312"/>
          </a:xfrm>
          <a:prstGeom prst="rect">
            <a:avLst/>
          </a:prstGeom>
          <a:noFill/>
          <a:ln/>
        </p:spPr>
        <p:txBody>
          <a:bodyPr wrap="square" lIns="0" tIns="0" rIns="0" bIns="0" rtlCol="0" anchor="ctr"/>
          <a:lstStyle/>
          <a:p>
            <a:pPr marL="0" indent="0">
              <a:buNone/>
            </a:pPr>
            <a:r>
              <a:rPr lang="en-US" sz="850" dirty="0">
                <a:solidFill>
                  <a:srgbClr val="404040"/>
                </a:solidFill>
                <a:latin typeface="Calibri" pitchFamily="34" charset="0"/>
                <a:ea typeface="Calibri" pitchFamily="34" charset="-122"/>
                <a:cs typeface="Calibri" pitchFamily="34" charset="-120"/>
              </a:rPr>
              <a:t>77.9–80.2</a:t>
            </a:r>
            <a:endParaRPr lang="en-US" sz="850" dirty="0"/>
          </a:p>
        </p:txBody>
      </p:sp>
      <p:sp>
        <p:nvSpPr>
          <p:cNvPr id="19" name="Shape 15"/>
          <p:cNvSpPr/>
          <p:nvPr/>
        </p:nvSpPr>
        <p:spPr>
          <a:xfrm>
            <a:off x="2971800" y="4242816"/>
            <a:ext cx="182880" cy="155448"/>
          </a:xfrm>
          <a:prstGeom prst="rect">
            <a:avLst/>
          </a:prstGeom>
          <a:solidFill>
            <a:srgbClr val="C8102E"/>
          </a:solidFill>
          <a:ln w="12700">
            <a:solidFill>
              <a:srgbClr val="C8102E"/>
            </a:solidFill>
            <a:prstDash val="solid"/>
          </a:ln>
        </p:spPr>
        <p:txBody>
          <a:bodyPr/>
          <a:lstStyle/>
          <a:p>
            <a:endParaRPr lang="es-PE"/>
          </a:p>
        </p:txBody>
      </p:sp>
      <p:sp>
        <p:nvSpPr>
          <p:cNvPr id="20" name="Text 16"/>
          <p:cNvSpPr txBox="1"/>
          <p:nvPr/>
        </p:nvSpPr>
        <p:spPr>
          <a:xfrm>
            <a:off x="3200400" y="4215384"/>
            <a:ext cx="822960" cy="210312"/>
          </a:xfrm>
          <a:prstGeom prst="rect">
            <a:avLst/>
          </a:prstGeom>
          <a:noFill/>
          <a:ln/>
        </p:spPr>
        <p:txBody>
          <a:bodyPr wrap="square" lIns="0" tIns="0" rIns="0" bIns="0" rtlCol="0" anchor="ctr"/>
          <a:lstStyle/>
          <a:p>
            <a:pPr marL="0" indent="0">
              <a:buNone/>
            </a:pPr>
            <a:r>
              <a:rPr lang="en-US" sz="850" dirty="0">
                <a:solidFill>
                  <a:srgbClr val="404040"/>
                </a:solidFill>
                <a:latin typeface="Calibri" pitchFamily="34" charset="0"/>
                <a:ea typeface="Calibri" pitchFamily="34" charset="-122"/>
                <a:cs typeface="Calibri" pitchFamily="34" charset="-120"/>
              </a:rPr>
              <a:t>80.3–85.6</a:t>
            </a:r>
            <a:endParaRPr lang="en-US" sz="850" dirty="0"/>
          </a:p>
        </p:txBody>
      </p:sp>
      <p:sp>
        <p:nvSpPr>
          <p:cNvPr id="21" name="Shape 17"/>
          <p:cNvSpPr/>
          <p:nvPr/>
        </p:nvSpPr>
        <p:spPr>
          <a:xfrm>
            <a:off x="2971800" y="4453128"/>
            <a:ext cx="182880" cy="155448"/>
          </a:xfrm>
          <a:prstGeom prst="rect">
            <a:avLst/>
          </a:prstGeom>
          <a:solidFill>
            <a:srgbClr val="7A0A1C"/>
          </a:solidFill>
          <a:ln w="12700">
            <a:solidFill>
              <a:srgbClr val="7A0A1C"/>
            </a:solidFill>
            <a:prstDash val="solid"/>
          </a:ln>
        </p:spPr>
        <p:txBody>
          <a:bodyPr/>
          <a:lstStyle/>
          <a:p>
            <a:endParaRPr lang="es-PE"/>
          </a:p>
        </p:txBody>
      </p:sp>
      <p:sp>
        <p:nvSpPr>
          <p:cNvPr id="22" name="Text 18"/>
          <p:cNvSpPr txBox="1"/>
          <p:nvPr/>
        </p:nvSpPr>
        <p:spPr>
          <a:xfrm>
            <a:off x="3200400" y="4425696"/>
            <a:ext cx="822960" cy="210312"/>
          </a:xfrm>
          <a:prstGeom prst="rect">
            <a:avLst/>
          </a:prstGeom>
          <a:noFill/>
          <a:ln/>
        </p:spPr>
        <p:txBody>
          <a:bodyPr wrap="square" lIns="0" tIns="0" rIns="0" bIns="0" rtlCol="0" anchor="ctr"/>
          <a:lstStyle/>
          <a:p>
            <a:pPr marL="0" indent="0">
              <a:buNone/>
            </a:pPr>
            <a:r>
              <a:rPr lang="en-US" sz="850" dirty="0">
                <a:solidFill>
                  <a:srgbClr val="404040"/>
                </a:solidFill>
                <a:latin typeface="Calibri" pitchFamily="34" charset="0"/>
                <a:ea typeface="Calibri" pitchFamily="34" charset="-122"/>
                <a:cs typeface="Calibri" pitchFamily="34" charset="-120"/>
              </a:rPr>
              <a:t>85.7–89.8</a:t>
            </a:r>
            <a:endParaRPr lang="en-US" sz="850" dirty="0"/>
          </a:p>
        </p:txBody>
      </p:sp>
      <p:pic>
        <p:nvPicPr>
          <p:cNvPr id="23" name="Image 1" descr="a/barras_tol.png"/>
          <p:cNvPicPr>
            <a:picLocks noChangeAspect="1"/>
          </p:cNvPicPr>
          <p:nvPr/>
        </p:nvPicPr>
        <p:blipFill>
          <a:blip r:embed="rId5"/>
          <a:stretch>
            <a:fillRect/>
          </a:stretch>
        </p:blipFill>
        <p:spPr>
          <a:xfrm>
            <a:off x="4114800" y="1463040"/>
            <a:ext cx="4526280" cy="3383280"/>
          </a:xfrm>
          <a:prstGeom prst="rect">
            <a:avLst/>
          </a:prstGeom>
        </p:spPr>
      </p:pic>
      <p:sp>
        <p:nvSpPr>
          <p:cNvPr id="24" name="Text 19"/>
          <p:cNvSpPr txBox="1"/>
          <p:nvPr/>
        </p:nvSpPr>
        <p:spPr>
          <a:xfrm>
            <a:off x="548640" y="4736592"/>
            <a:ext cx="3657600" cy="201168"/>
          </a:xfrm>
          <a:prstGeom prst="rect">
            <a:avLst/>
          </a:prstGeom>
          <a:noFill/>
          <a:ln/>
        </p:spPr>
        <p:txBody>
          <a:bodyPr wrap="square" lIns="0" tIns="0" rIns="0" bIns="0" rtlCol="0" anchor="t"/>
          <a:lstStyle/>
          <a:p>
            <a:pPr marL="0" indent="0">
              <a:buNone/>
            </a:pPr>
            <a:r>
              <a:rPr lang="en-US" sz="800" i="1" dirty="0">
                <a:solidFill>
                  <a:srgbClr val="6B6B6B"/>
                </a:solidFill>
                <a:latin typeface="Calibri" pitchFamily="34" charset="0"/>
                <a:ea typeface="Calibri" pitchFamily="34" charset="-122"/>
                <a:cs typeface="Calibri" pitchFamily="34" charset="-120"/>
              </a:rPr>
              <a:t>Fuente: INEI – ENARES 2024 · Elaboración: Observatorio Nacional</a:t>
            </a:r>
            <a:endParaRPr lang="en-US" sz="800" dirty="0"/>
          </a:p>
        </p:txBody>
      </p:sp>
      <p:pic>
        <p:nvPicPr>
          <p:cNvPr id="25" name="Image 2" descr="a/logo_mimp_h.png"/>
          <p:cNvPicPr>
            <a:picLocks noChangeAspect="1"/>
          </p:cNvPicPr>
          <p:nvPr/>
        </p:nvPicPr>
        <p:blipFill>
          <a:blip r:embed="rId6"/>
          <a:stretch>
            <a:fillRect/>
          </a:stretch>
        </p:blipFill>
        <p:spPr>
          <a:xfrm>
            <a:off x="184709" y="110642"/>
            <a:ext cx="1790395" cy="417881"/>
          </a:xfrm>
          <a:prstGeom prst="rect">
            <a:avLst/>
          </a:prstGeom>
        </p:spPr>
      </p:pic>
      <p:pic>
        <p:nvPicPr>
          <p:cNvPr id="26" name="Image 3" descr="a/logo_30.png"/>
          <p:cNvPicPr>
            <a:picLocks noChangeAspect="1"/>
          </p:cNvPicPr>
          <p:nvPr/>
        </p:nvPicPr>
        <p:blipFill>
          <a:blip r:embed="rId7"/>
          <a:stretch>
            <a:fillRect/>
          </a:stretch>
        </p:blipFill>
        <p:spPr>
          <a:xfrm>
            <a:off x="3611880" y="2743"/>
            <a:ext cx="1158545" cy="622706"/>
          </a:xfrm>
          <a:prstGeom prst="rect">
            <a:avLst/>
          </a:prstGeom>
        </p:spPr>
      </p:pic>
      <p:pic>
        <p:nvPicPr>
          <p:cNvPr id="27" name="Image 4" descr="a/logo_peru_responde.png"/>
          <p:cNvPicPr>
            <a:picLocks noChangeAspect="1"/>
          </p:cNvPicPr>
          <p:nvPr/>
        </p:nvPicPr>
        <p:blipFill>
          <a:blip r:embed="rId8"/>
          <a:stretch>
            <a:fillRect/>
          </a:stretch>
        </p:blipFill>
        <p:spPr>
          <a:xfrm>
            <a:off x="7299655" y="102413"/>
            <a:ext cx="1602943" cy="475488"/>
          </a:xfrm>
          <a:prstGeom prst="rect">
            <a:avLst/>
          </a:prstGeom>
        </p:spPr>
      </p:pic>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65192"/>
            <a:ext cx="9144000" cy="178308"/>
          </a:xfrm>
          <a:prstGeom prst="rect">
            <a:avLst/>
          </a:prstGeom>
          <a:solidFill>
            <a:srgbClr val="ED2E45"/>
          </a:solidFill>
          <a:ln w="12700">
            <a:solidFill>
              <a:srgbClr val="ED2E45"/>
            </a:solidFill>
            <a:prstDash val="solid"/>
          </a:ln>
        </p:spPr>
        <p:txBody>
          <a:bodyPr/>
          <a:lstStyle/>
          <a:p>
            <a:endParaRPr lang="es-PE"/>
          </a:p>
        </p:txBody>
      </p:sp>
      <p:sp>
        <p:nvSpPr>
          <p:cNvPr id="3" name="Text 1"/>
          <p:cNvSpPr txBox="1"/>
          <p:nvPr/>
        </p:nvSpPr>
        <p:spPr>
          <a:xfrm>
            <a:off x="548640" y="4965192"/>
            <a:ext cx="2011680" cy="178308"/>
          </a:xfrm>
          <a:prstGeom prst="rect">
            <a:avLst/>
          </a:prstGeom>
          <a:noFill/>
          <a:ln/>
        </p:spPr>
        <p:txBody>
          <a:bodyPr wrap="square" lIns="0" tIns="0" rIns="0" bIns="0" rtlCol="0" anchor="ctr"/>
          <a:lstStyle/>
          <a:p>
            <a:pPr marL="0" indent="0">
              <a:buNone/>
            </a:pPr>
            <a:r>
              <a:rPr lang="en-US" sz="750" b="1" kern="0" spc="100" dirty="0">
                <a:solidFill>
                  <a:srgbClr val="FFFFFF"/>
                </a:solidFill>
                <a:latin typeface="Calibri" pitchFamily="34" charset="0"/>
                <a:ea typeface="Calibri" pitchFamily="34" charset="-122"/>
                <a:cs typeface="Calibri" pitchFamily="34" charset="-120"/>
              </a:rPr>
              <a:t>I · COMPRENDER</a:t>
            </a:r>
            <a:endParaRPr lang="en-US" sz="750" dirty="0"/>
          </a:p>
        </p:txBody>
      </p:sp>
      <p:sp>
        <p:nvSpPr>
          <p:cNvPr id="4" name="Text 2"/>
          <p:cNvSpPr txBox="1"/>
          <p:nvPr/>
        </p:nvSpPr>
        <p:spPr>
          <a:xfrm>
            <a:off x="256032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II · DISEÑAR</a:t>
            </a:r>
            <a:endParaRPr lang="en-US" sz="750" dirty="0"/>
          </a:p>
        </p:txBody>
      </p:sp>
      <p:sp>
        <p:nvSpPr>
          <p:cNvPr id="5" name="Text 3"/>
          <p:cNvSpPr txBox="1"/>
          <p:nvPr/>
        </p:nvSpPr>
        <p:spPr>
          <a:xfrm>
            <a:off x="457200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III · VALIDAR</a:t>
            </a:r>
            <a:endParaRPr lang="en-US" sz="750" dirty="0"/>
          </a:p>
        </p:txBody>
      </p:sp>
      <p:sp>
        <p:nvSpPr>
          <p:cNvPr id="6" name="Text 4"/>
          <p:cNvSpPr txBox="1"/>
          <p:nvPr/>
        </p:nvSpPr>
        <p:spPr>
          <a:xfrm>
            <a:off x="658368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IV · COMUNICAR</a:t>
            </a:r>
            <a:endParaRPr lang="en-US" sz="750" dirty="0"/>
          </a:p>
        </p:txBody>
      </p:sp>
      <p:sp>
        <p:nvSpPr>
          <p:cNvPr id="8" name="Text 5"/>
          <p:cNvSpPr txBox="1"/>
          <p:nvPr/>
        </p:nvSpPr>
        <p:spPr>
          <a:xfrm>
            <a:off x="548640" y="731520"/>
            <a:ext cx="8046720" cy="502920"/>
          </a:xfrm>
          <a:prstGeom prst="rect">
            <a:avLst/>
          </a:prstGeom>
          <a:noFill/>
          <a:ln/>
        </p:spPr>
        <p:txBody>
          <a:bodyPr wrap="square" lIns="0" tIns="0" rIns="0" bIns="0" rtlCol="0" anchor="ctr"/>
          <a:lstStyle/>
          <a:p>
            <a:pPr marL="0" indent="0">
              <a:buNone/>
            </a:pPr>
            <a:r>
              <a:rPr lang="en-US" sz="2200" b="1" dirty="0">
                <a:solidFill>
                  <a:srgbClr val="ED2E45"/>
                </a:solidFill>
                <a:latin typeface="Montserrat" pitchFamily="34" charset="0"/>
                <a:ea typeface="Montserrat" pitchFamily="34" charset="-122"/>
                <a:cs typeface="Montserrat" pitchFamily="34" charset="-120"/>
              </a:rPr>
              <a:t>Enfoques para leer los datos</a:t>
            </a:r>
            <a:endParaRPr lang="en-US" sz="2200" dirty="0"/>
          </a:p>
        </p:txBody>
      </p:sp>
      <p:sp>
        <p:nvSpPr>
          <p:cNvPr id="9" name="Text 6"/>
          <p:cNvSpPr txBox="1"/>
          <p:nvPr/>
        </p:nvSpPr>
        <p:spPr>
          <a:xfrm>
            <a:off x="548640" y="1216152"/>
            <a:ext cx="8046720" cy="274320"/>
          </a:xfrm>
          <a:prstGeom prst="rect">
            <a:avLst/>
          </a:prstGeom>
          <a:noFill/>
          <a:ln/>
        </p:spPr>
        <p:txBody>
          <a:bodyPr wrap="square" lIns="0" tIns="0" rIns="0" bIns="0" rtlCol="0" anchor="ctr"/>
          <a:lstStyle/>
          <a:p>
            <a:pPr marL="0" indent="0">
              <a:buNone/>
            </a:pPr>
            <a:r>
              <a:rPr lang="en-US" sz="1250" dirty="0">
                <a:solidFill>
                  <a:srgbClr val="6B6B6B"/>
                </a:solidFill>
                <a:latin typeface="Calibri" pitchFamily="34" charset="0"/>
                <a:ea typeface="Calibri" pitchFamily="34" charset="-122"/>
                <a:cs typeface="Calibri" pitchFamily="34" charset="-120"/>
              </a:rPr>
              <a:t>Lentes que ayudan a responder: ¿quiénes?, ¿dónde?, ¿en qué condiciones?, ¿qué desigualdades existen?</a:t>
            </a:r>
            <a:endParaRPr lang="en-US" sz="1250" dirty="0"/>
          </a:p>
        </p:txBody>
      </p:sp>
      <p:sp>
        <p:nvSpPr>
          <p:cNvPr id="10" name="Shape 7"/>
          <p:cNvSpPr/>
          <p:nvPr/>
        </p:nvSpPr>
        <p:spPr>
          <a:xfrm>
            <a:off x="548640" y="1691640"/>
            <a:ext cx="1908810" cy="2743200"/>
          </a:xfrm>
          <a:prstGeom prst="roundRect">
            <a:avLst>
              <a:gd name="adj" fmla="val 4878"/>
            </a:avLst>
          </a:prstGeom>
          <a:solidFill>
            <a:srgbClr val="FDEBEE"/>
          </a:solidFill>
          <a:ln w="12700">
            <a:solidFill>
              <a:srgbClr val="FDEBEE"/>
            </a:solidFill>
            <a:prstDash val="solid"/>
          </a:ln>
        </p:spPr>
        <p:txBody>
          <a:bodyPr/>
          <a:lstStyle/>
          <a:p>
            <a:endParaRPr lang="es-PE"/>
          </a:p>
        </p:txBody>
      </p:sp>
      <p:sp>
        <p:nvSpPr>
          <p:cNvPr id="11" name="Shape 8"/>
          <p:cNvSpPr/>
          <p:nvPr/>
        </p:nvSpPr>
        <p:spPr>
          <a:xfrm>
            <a:off x="676656" y="1828800"/>
            <a:ext cx="457200" cy="457200"/>
          </a:xfrm>
          <a:prstGeom prst="ellipse">
            <a:avLst/>
          </a:prstGeom>
          <a:solidFill>
            <a:srgbClr val="ED2E45"/>
          </a:solidFill>
          <a:ln w="12700">
            <a:solidFill>
              <a:srgbClr val="ED2E45"/>
            </a:solidFill>
            <a:prstDash val="solid"/>
          </a:ln>
        </p:spPr>
        <p:txBody>
          <a:bodyPr/>
          <a:lstStyle/>
          <a:p>
            <a:endParaRPr lang="es-PE"/>
          </a:p>
        </p:txBody>
      </p:sp>
      <p:sp>
        <p:nvSpPr>
          <p:cNvPr id="12" name="Text 9"/>
          <p:cNvSpPr txBox="1"/>
          <p:nvPr/>
        </p:nvSpPr>
        <p:spPr>
          <a:xfrm>
            <a:off x="676656" y="182880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pitchFamily="34" charset="0"/>
                <a:ea typeface="Montserrat" pitchFamily="34" charset="-122"/>
                <a:cs typeface="Montserrat" pitchFamily="34" charset="-120"/>
              </a:rPr>
              <a:t>1</a:t>
            </a:r>
            <a:endParaRPr lang="en-US" sz="1500" dirty="0"/>
          </a:p>
        </p:txBody>
      </p:sp>
      <p:sp>
        <p:nvSpPr>
          <p:cNvPr id="13" name="Text 10"/>
          <p:cNvSpPr txBox="1"/>
          <p:nvPr/>
        </p:nvSpPr>
        <p:spPr>
          <a:xfrm>
            <a:off x="676656" y="2395728"/>
            <a:ext cx="1652778" cy="502920"/>
          </a:xfrm>
          <a:prstGeom prst="rect">
            <a:avLst/>
          </a:prstGeom>
          <a:noFill/>
          <a:ln/>
        </p:spPr>
        <p:txBody>
          <a:bodyPr wrap="square" lIns="0" tIns="0" rIns="0" bIns="0" rtlCol="0" anchor="t"/>
          <a:lstStyle/>
          <a:p>
            <a:pPr marL="0" indent="0">
              <a:buNone/>
            </a:pPr>
            <a:r>
              <a:rPr lang="en-US" sz="1250" b="1" dirty="0">
                <a:solidFill>
                  <a:srgbClr val="262626"/>
                </a:solidFill>
                <a:latin typeface="Montserrat" pitchFamily="34" charset="0"/>
                <a:ea typeface="Montserrat" pitchFamily="34" charset="-122"/>
                <a:cs typeface="Montserrat" pitchFamily="34" charset="-120"/>
              </a:rPr>
              <a:t>Derechos humanos</a:t>
            </a:r>
            <a:endParaRPr lang="en-US" sz="1250" dirty="0"/>
          </a:p>
        </p:txBody>
      </p:sp>
      <p:sp>
        <p:nvSpPr>
          <p:cNvPr id="14" name="Text 11"/>
          <p:cNvSpPr txBox="1"/>
          <p:nvPr/>
        </p:nvSpPr>
        <p:spPr>
          <a:xfrm>
            <a:off x="676656" y="2926080"/>
            <a:ext cx="1652778" cy="1417320"/>
          </a:xfrm>
          <a:prstGeom prst="rect">
            <a:avLst/>
          </a:prstGeom>
          <a:noFill/>
          <a:ln/>
        </p:spPr>
        <p:txBody>
          <a:bodyPr wrap="square" lIns="0" tIns="0" rIns="0" bIns="0" rtlCol="0" anchor="t"/>
          <a:lstStyle/>
          <a:p>
            <a:pPr marL="0" indent="0">
              <a:buNone/>
            </a:pPr>
            <a:r>
              <a:rPr lang="en-US" sz="1050" dirty="0">
                <a:solidFill>
                  <a:srgbClr val="404040"/>
                </a:solidFill>
                <a:latin typeface="Calibri" pitchFamily="34" charset="0"/>
                <a:ea typeface="Calibri" pitchFamily="34" charset="-122"/>
                <a:cs typeface="Calibri" pitchFamily="34" charset="-120"/>
              </a:rPr>
              <a:t>Las personas son titulares de derechos y el Estado es garante de su cumplimiento.</a:t>
            </a:r>
            <a:endParaRPr lang="en-US" sz="1050" dirty="0"/>
          </a:p>
        </p:txBody>
      </p:sp>
      <p:sp>
        <p:nvSpPr>
          <p:cNvPr id="15" name="Shape 12"/>
          <p:cNvSpPr/>
          <p:nvPr/>
        </p:nvSpPr>
        <p:spPr>
          <a:xfrm>
            <a:off x="2594610" y="1691640"/>
            <a:ext cx="1908810" cy="2743200"/>
          </a:xfrm>
          <a:prstGeom prst="roundRect">
            <a:avLst>
              <a:gd name="adj" fmla="val 4878"/>
            </a:avLst>
          </a:prstGeom>
          <a:solidFill>
            <a:srgbClr val="F2F2F2"/>
          </a:solidFill>
          <a:ln w="12700">
            <a:solidFill>
              <a:srgbClr val="F2F2F2"/>
            </a:solidFill>
            <a:prstDash val="solid"/>
          </a:ln>
        </p:spPr>
        <p:txBody>
          <a:bodyPr/>
          <a:lstStyle/>
          <a:p>
            <a:endParaRPr lang="es-PE"/>
          </a:p>
        </p:txBody>
      </p:sp>
      <p:sp>
        <p:nvSpPr>
          <p:cNvPr id="16" name="Shape 13"/>
          <p:cNvSpPr/>
          <p:nvPr/>
        </p:nvSpPr>
        <p:spPr>
          <a:xfrm>
            <a:off x="2722626" y="1828800"/>
            <a:ext cx="457200" cy="457200"/>
          </a:xfrm>
          <a:prstGeom prst="ellipse">
            <a:avLst/>
          </a:prstGeom>
          <a:solidFill>
            <a:srgbClr val="ED2E45"/>
          </a:solidFill>
          <a:ln w="12700">
            <a:solidFill>
              <a:srgbClr val="ED2E45"/>
            </a:solidFill>
            <a:prstDash val="solid"/>
          </a:ln>
        </p:spPr>
        <p:txBody>
          <a:bodyPr/>
          <a:lstStyle/>
          <a:p>
            <a:endParaRPr lang="es-PE"/>
          </a:p>
        </p:txBody>
      </p:sp>
      <p:sp>
        <p:nvSpPr>
          <p:cNvPr id="17" name="Text 14"/>
          <p:cNvSpPr txBox="1"/>
          <p:nvPr/>
        </p:nvSpPr>
        <p:spPr>
          <a:xfrm>
            <a:off x="2722626" y="182880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pitchFamily="34" charset="0"/>
                <a:ea typeface="Montserrat" pitchFamily="34" charset="-122"/>
                <a:cs typeface="Montserrat" pitchFamily="34" charset="-120"/>
              </a:rPr>
              <a:t>2</a:t>
            </a:r>
            <a:endParaRPr lang="en-US" sz="1500" dirty="0"/>
          </a:p>
        </p:txBody>
      </p:sp>
      <p:sp>
        <p:nvSpPr>
          <p:cNvPr id="18" name="Text 15"/>
          <p:cNvSpPr txBox="1"/>
          <p:nvPr/>
        </p:nvSpPr>
        <p:spPr>
          <a:xfrm>
            <a:off x="2722626" y="2395728"/>
            <a:ext cx="1652778" cy="502920"/>
          </a:xfrm>
          <a:prstGeom prst="rect">
            <a:avLst/>
          </a:prstGeom>
          <a:noFill/>
          <a:ln/>
        </p:spPr>
        <p:txBody>
          <a:bodyPr wrap="square" lIns="0" tIns="0" rIns="0" bIns="0" rtlCol="0" anchor="t"/>
          <a:lstStyle/>
          <a:p>
            <a:pPr marL="0" indent="0">
              <a:buNone/>
            </a:pPr>
            <a:r>
              <a:rPr lang="en-US" sz="1250" b="1" dirty="0">
                <a:solidFill>
                  <a:srgbClr val="262626"/>
                </a:solidFill>
                <a:latin typeface="Montserrat" pitchFamily="34" charset="0"/>
                <a:ea typeface="Montserrat" pitchFamily="34" charset="-122"/>
                <a:cs typeface="Montserrat" pitchFamily="34" charset="-120"/>
              </a:rPr>
              <a:t>Territorial</a:t>
            </a:r>
            <a:endParaRPr lang="en-US" sz="1250" dirty="0"/>
          </a:p>
        </p:txBody>
      </p:sp>
      <p:sp>
        <p:nvSpPr>
          <p:cNvPr id="19" name="Text 16"/>
          <p:cNvSpPr txBox="1"/>
          <p:nvPr/>
        </p:nvSpPr>
        <p:spPr>
          <a:xfrm>
            <a:off x="2722626" y="2926080"/>
            <a:ext cx="1652778" cy="1417320"/>
          </a:xfrm>
          <a:prstGeom prst="rect">
            <a:avLst/>
          </a:prstGeom>
          <a:noFill/>
          <a:ln/>
        </p:spPr>
        <p:txBody>
          <a:bodyPr wrap="square" lIns="0" tIns="0" rIns="0" bIns="0" rtlCol="0" anchor="t"/>
          <a:lstStyle/>
          <a:p>
            <a:pPr marL="0" indent="0">
              <a:buNone/>
            </a:pPr>
            <a:r>
              <a:rPr lang="en-US" sz="1050" dirty="0">
                <a:solidFill>
                  <a:srgbClr val="404040"/>
                </a:solidFill>
                <a:latin typeface="Calibri" pitchFamily="34" charset="0"/>
                <a:ea typeface="Calibri" pitchFamily="34" charset="-122"/>
                <a:cs typeface="Calibri" pitchFamily="34" charset="-120"/>
              </a:rPr>
              <a:t>El problema cambia según el lugar: región, provincia, zona urbana o rural.</a:t>
            </a:r>
            <a:endParaRPr lang="en-US" sz="1050" dirty="0"/>
          </a:p>
        </p:txBody>
      </p:sp>
      <p:sp>
        <p:nvSpPr>
          <p:cNvPr id="20" name="Shape 17"/>
          <p:cNvSpPr/>
          <p:nvPr/>
        </p:nvSpPr>
        <p:spPr>
          <a:xfrm>
            <a:off x="4640580" y="1691640"/>
            <a:ext cx="1908810" cy="2743200"/>
          </a:xfrm>
          <a:prstGeom prst="roundRect">
            <a:avLst>
              <a:gd name="adj" fmla="val 4878"/>
            </a:avLst>
          </a:prstGeom>
          <a:solidFill>
            <a:srgbClr val="FDEBEE"/>
          </a:solidFill>
          <a:ln w="12700">
            <a:solidFill>
              <a:srgbClr val="FDEBEE"/>
            </a:solidFill>
            <a:prstDash val="solid"/>
          </a:ln>
        </p:spPr>
        <p:txBody>
          <a:bodyPr/>
          <a:lstStyle/>
          <a:p>
            <a:endParaRPr lang="es-PE"/>
          </a:p>
        </p:txBody>
      </p:sp>
      <p:sp>
        <p:nvSpPr>
          <p:cNvPr id="21" name="Shape 18"/>
          <p:cNvSpPr/>
          <p:nvPr/>
        </p:nvSpPr>
        <p:spPr>
          <a:xfrm>
            <a:off x="4768596" y="1828800"/>
            <a:ext cx="457200" cy="457200"/>
          </a:xfrm>
          <a:prstGeom prst="ellipse">
            <a:avLst/>
          </a:prstGeom>
          <a:solidFill>
            <a:srgbClr val="ED2E45"/>
          </a:solidFill>
          <a:ln w="12700">
            <a:solidFill>
              <a:srgbClr val="ED2E45"/>
            </a:solidFill>
            <a:prstDash val="solid"/>
          </a:ln>
        </p:spPr>
        <p:txBody>
          <a:bodyPr/>
          <a:lstStyle/>
          <a:p>
            <a:endParaRPr lang="es-PE"/>
          </a:p>
        </p:txBody>
      </p:sp>
      <p:sp>
        <p:nvSpPr>
          <p:cNvPr id="22" name="Text 19"/>
          <p:cNvSpPr txBox="1"/>
          <p:nvPr/>
        </p:nvSpPr>
        <p:spPr>
          <a:xfrm>
            <a:off x="4768596" y="182880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pitchFamily="34" charset="0"/>
                <a:ea typeface="Montserrat" pitchFamily="34" charset="-122"/>
                <a:cs typeface="Montserrat" pitchFamily="34" charset="-120"/>
              </a:rPr>
              <a:t>3</a:t>
            </a:r>
            <a:endParaRPr lang="en-US" sz="1500" dirty="0"/>
          </a:p>
        </p:txBody>
      </p:sp>
      <p:sp>
        <p:nvSpPr>
          <p:cNvPr id="23" name="Text 20"/>
          <p:cNvSpPr txBox="1"/>
          <p:nvPr/>
        </p:nvSpPr>
        <p:spPr>
          <a:xfrm>
            <a:off x="4768596" y="2395728"/>
            <a:ext cx="1652778" cy="502920"/>
          </a:xfrm>
          <a:prstGeom prst="rect">
            <a:avLst/>
          </a:prstGeom>
          <a:noFill/>
          <a:ln/>
        </p:spPr>
        <p:txBody>
          <a:bodyPr wrap="square" lIns="0" tIns="0" rIns="0" bIns="0" rtlCol="0" anchor="t"/>
          <a:lstStyle/>
          <a:p>
            <a:pPr marL="0" indent="0">
              <a:buNone/>
            </a:pPr>
            <a:r>
              <a:rPr lang="en-US" sz="1250" b="1" dirty="0">
                <a:solidFill>
                  <a:srgbClr val="262626"/>
                </a:solidFill>
                <a:latin typeface="Montserrat" pitchFamily="34" charset="0"/>
                <a:ea typeface="Montserrat" pitchFamily="34" charset="-122"/>
                <a:cs typeface="Montserrat" pitchFamily="34" charset="-120"/>
              </a:rPr>
              <a:t>Interseccional</a:t>
            </a:r>
            <a:endParaRPr lang="en-US" sz="1250" dirty="0"/>
          </a:p>
        </p:txBody>
      </p:sp>
      <p:sp>
        <p:nvSpPr>
          <p:cNvPr id="24" name="Text 21"/>
          <p:cNvSpPr txBox="1"/>
          <p:nvPr/>
        </p:nvSpPr>
        <p:spPr>
          <a:xfrm>
            <a:off x="4768596" y="2926080"/>
            <a:ext cx="1652778" cy="1417320"/>
          </a:xfrm>
          <a:prstGeom prst="rect">
            <a:avLst/>
          </a:prstGeom>
          <a:noFill/>
          <a:ln/>
        </p:spPr>
        <p:txBody>
          <a:bodyPr wrap="square" lIns="0" tIns="0" rIns="0" bIns="0" rtlCol="0" anchor="t"/>
          <a:lstStyle/>
          <a:p>
            <a:pPr marL="0" indent="0">
              <a:buNone/>
            </a:pPr>
            <a:r>
              <a:rPr lang="en-US" sz="1050" dirty="0">
                <a:solidFill>
                  <a:srgbClr val="404040"/>
                </a:solidFill>
                <a:latin typeface="Calibri" pitchFamily="34" charset="0"/>
                <a:ea typeface="Calibri" pitchFamily="34" charset="-122"/>
                <a:cs typeface="Calibri" pitchFamily="34" charset="-120"/>
              </a:rPr>
              <a:t>Se combinan condiciones (edad, etnia, discapacidad, pobreza) que profundizan la desigualdad.</a:t>
            </a:r>
            <a:endParaRPr lang="en-US" sz="1050" dirty="0"/>
          </a:p>
        </p:txBody>
      </p:sp>
      <p:sp>
        <p:nvSpPr>
          <p:cNvPr id="30" name="Shape 27"/>
          <p:cNvSpPr/>
          <p:nvPr/>
        </p:nvSpPr>
        <p:spPr>
          <a:xfrm>
            <a:off x="6686550" y="1691640"/>
            <a:ext cx="1908810" cy="2743200"/>
          </a:xfrm>
          <a:prstGeom prst="roundRect">
            <a:avLst>
              <a:gd name="adj" fmla="val 4878"/>
            </a:avLst>
          </a:prstGeom>
          <a:solidFill>
            <a:srgbClr val="F2F2F2"/>
          </a:solidFill>
          <a:ln w="12700">
            <a:solidFill>
              <a:srgbClr val="F2F2F2"/>
            </a:solidFill>
            <a:prstDash val="solid"/>
          </a:ln>
        </p:spPr>
        <p:txBody>
          <a:bodyPr/>
          <a:lstStyle/>
          <a:p>
            <a:endParaRPr lang="es-PE"/>
          </a:p>
        </p:txBody>
      </p:sp>
      <p:sp>
        <p:nvSpPr>
          <p:cNvPr id="31" name="Shape 28"/>
          <p:cNvSpPr/>
          <p:nvPr/>
        </p:nvSpPr>
        <p:spPr>
          <a:xfrm>
            <a:off x="6814566" y="1828800"/>
            <a:ext cx="457200" cy="457200"/>
          </a:xfrm>
          <a:prstGeom prst="ellipse">
            <a:avLst/>
          </a:prstGeom>
          <a:solidFill>
            <a:srgbClr val="ED2E45"/>
          </a:solidFill>
          <a:ln w="12700">
            <a:solidFill>
              <a:srgbClr val="ED2E45"/>
            </a:solidFill>
            <a:prstDash val="solid"/>
          </a:ln>
        </p:spPr>
        <p:txBody>
          <a:bodyPr/>
          <a:lstStyle/>
          <a:p>
            <a:endParaRPr lang="es-PE"/>
          </a:p>
        </p:txBody>
      </p:sp>
      <p:sp>
        <p:nvSpPr>
          <p:cNvPr id="32" name="Text 29"/>
          <p:cNvSpPr txBox="1"/>
          <p:nvPr/>
        </p:nvSpPr>
        <p:spPr>
          <a:xfrm>
            <a:off x="6814566" y="182880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pitchFamily="34" charset="0"/>
                <a:ea typeface="Montserrat" pitchFamily="34" charset="-122"/>
                <a:cs typeface="Montserrat" pitchFamily="34" charset="-120"/>
              </a:rPr>
              <a:t>4</a:t>
            </a:r>
            <a:endParaRPr lang="en-US" sz="1500" dirty="0"/>
          </a:p>
        </p:txBody>
      </p:sp>
      <p:sp>
        <p:nvSpPr>
          <p:cNvPr id="33" name="Text 30"/>
          <p:cNvSpPr txBox="1"/>
          <p:nvPr/>
        </p:nvSpPr>
        <p:spPr>
          <a:xfrm>
            <a:off x="6814566" y="2395728"/>
            <a:ext cx="1652778" cy="502920"/>
          </a:xfrm>
          <a:prstGeom prst="rect">
            <a:avLst/>
          </a:prstGeom>
          <a:noFill/>
          <a:ln/>
        </p:spPr>
        <p:txBody>
          <a:bodyPr wrap="square" lIns="0" tIns="0" rIns="0" bIns="0" rtlCol="0" anchor="t"/>
          <a:lstStyle/>
          <a:p>
            <a:pPr marL="0" indent="0">
              <a:buNone/>
            </a:pPr>
            <a:r>
              <a:rPr lang="en-US" sz="1250" b="1" dirty="0">
                <a:solidFill>
                  <a:srgbClr val="262626"/>
                </a:solidFill>
                <a:latin typeface="Montserrat" pitchFamily="34" charset="0"/>
                <a:ea typeface="Montserrat" pitchFamily="34" charset="-122"/>
                <a:cs typeface="Montserrat" pitchFamily="34" charset="-120"/>
              </a:rPr>
              <a:t>Curso de vida</a:t>
            </a:r>
            <a:endParaRPr lang="en-US" sz="1250" dirty="0"/>
          </a:p>
        </p:txBody>
      </p:sp>
      <p:sp>
        <p:nvSpPr>
          <p:cNvPr id="34" name="Text 31"/>
          <p:cNvSpPr txBox="1"/>
          <p:nvPr/>
        </p:nvSpPr>
        <p:spPr>
          <a:xfrm>
            <a:off x="6814566" y="2926080"/>
            <a:ext cx="1652778" cy="1417320"/>
          </a:xfrm>
          <a:prstGeom prst="rect">
            <a:avLst/>
          </a:prstGeom>
          <a:noFill/>
          <a:ln/>
        </p:spPr>
        <p:txBody>
          <a:bodyPr wrap="square" lIns="0" tIns="0" rIns="0" bIns="0" rtlCol="0" anchor="t"/>
          <a:lstStyle/>
          <a:p>
            <a:pPr marL="0" indent="0">
              <a:buNone/>
            </a:pPr>
            <a:r>
              <a:rPr lang="en-US" sz="1050" dirty="0">
                <a:solidFill>
                  <a:srgbClr val="404040"/>
                </a:solidFill>
                <a:latin typeface="Calibri" pitchFamily="34" charset="0"/>
                <a:ea typeface="Calibri" pitchFamily="34" charset="-122"/>
                <a:cs typeface="Calibri" pitchFamily="34" charset="-120"/>
              </a:rPr>
              <a:t>Los riesgos y necesidades cambian según la etapa de vida: niñez, adolescencia, adultez, vejez.</a:t>
            </a:r>
            <a:endParaRPr lang="en-US" sz="1050" dirty="0"/>
          </a:p>
        </p:txBody>
      </p:sp>
      <p:sp>
        <p:nvSpPr>
          <p:cNvPr id="35" name="Text 32"/>
          <p:cNvSpPr txBox="1"/>
          <p:nvPr/>
        </p:nvSpPr>
        <p:spPr>
          <a:xfrm>
            <a:off x="548640" y="4526280"/>
            <a:ext cx="8046720" cy="274320"/>
          </a:xfrm>
          <a:prstGeom prst="rect">
            <a:avLst/>
          </a:prstGeom>
          <a:noFill/>
          <a:ln/>
        </p:spPr>
        <p:txBody>
          <a:bodyPr wrap="square" lIns="0" tIns="0" rIns="0" bIns="0" rtlCol="0" anchor="t"/>
          <a:lstStyle/>
          <a:p>
            <a:pPr marL="0" indent="0">
              <a:buNone/>
            </a:pPr>
            <a:r>
              <a:rPr lang="en-US" sz="1100" i="1" dirty="0">
                <a:solidFill>
                  <a:srgbClr val="C4122F"/>
                </a:solidFill>
                <a:latin typeface="Calibri" pitchFamily="34" charset="0"/>
                <a:ea typeface="Calibri" pitchFamily="34" charset="-122"/>
                <a:cs typeface="Calibri" pitchFamily="34" charset="-120"/>
              </a:rPr>
              <a:t>Entre otros enfoques trabajados en el Módulo 1.</a:t>
            </a:r>
            <a:endParaRPr lang="en-US" sz="1100" dirty="0"/>
          </a:p>
        </p:txBody>
      </p:sp>
      <p:pic>
        <p:nvPicPr>
          <p:cNvPr id="36" name="Image 0" descr="a/logo_mimp_h.png"/>
          <p:cNvPicPr>
            <a:picLocks noChangeAspect="1"/>
          </p:cNvPicPr>
          <p:nvPr/>
        </p:nvPicPr>
        <p:blipFill>
          <a:blip r:embed="rId4"/>
          <a:stretch>
            <a:fillRect/>
          </a:stretch>
        </p:blipFill>
        <p:spPr>
          <a:xfrm>
            <a:off x="184709" y="110642"/>
            <a:ext cx="1790395" cy="417881"/>
          </a:xfrm>
          <a:prstGeom prst="rect">
            <a:avLst/>
          </a:prstGeom>
        </p:spPr>
      </p:pic>
      <p:pic>
        <p:nvPicPr>
          <p:cNvPr id="37" name="Image 1" descr="a/logo_30.png"/>
          <p:cNvPicPr>
            <a:picLocks noChangeAspect="1"/>
          </p:cNvPicPr>
          <p:nvPr/>
        </p:nvPicPr>
        <p:blipFill>
          <a:blip r:embed="rId5"/>
          <a:stretch>
            <a:fillRect/>
          </a:stretch>
        </p:blipFill>
        <p:spPr>
          <a:xfrm>
            <a:off x="3611880" y="2743"/>
            <a:ext cx="1158545" cy="622706"/>
          </a:xfrm>
          <a:prstGeom prst="rect">
            <a:avLst/>
          </a:prstGeom>
        </p:spPr>
      </p:pic>
      <p:pic>
        <p:nvPicPr>
          <p:cNvPr id="38" name="Image 2" descr="a/logo_peru_responde.png"/>
          <p:cNvPicPr>
            <a:picLocks noChangeAspect="1"/>
          </p:cNvPicPr>
          <p:nvPr/>
        </p:nvPicPr>
        <p:blipFill>
          <a:blip r:embed="rId6"/>
          <a:stretch>
            <a:fillRect/>
          </a:stretch>
        </p:blipFill>
        <p:spPr>
          <a:xfrm>
            <a:off x="7299655" y="102413"/>
            <a:ext cx="1602943" cy="475488"/>
          </a:xfrm>
          <a:prstGeom prst="rect">
            <a:avLst/>
          </a:prstGeom>
        </p:spPr>
      </p:pic>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65192"/>
            <a:ext cx="9144000" cy="178308"/>
          </a:xfrm>
          <a:prstGeom prst="rect">
            <a:avLst/>
          </a:prstGeom>
          <a:solidFill>
            <a:srgbClr val="ED2E45"/>
          </a:solidFill>
          <a:ln w="12700">
            <a:solidFill>
              <a:srgbClr val="ED2E45"/>
            </a:solidFill>
            <a:prstDash val="solid"/>
          </a:ln>
        </p:spPr>
        <p:txBody>
          <a:bodyPr/>
          <a:lstStyle/>
          <a:p>
            <a:endParaRPr lang="es-PE"/>
          </a:p>
        </p:txBody>
      </p:sp>
      <p:sp>
        <p:nvSpPr>
          <p:cNvPr id="3" name="Text 1"/>
          <p:cNvSpPr txBox="1"/>
          <p:nvPr/>
        </p:nvSpPr>
        <p:spPr>
          <a:xfrm>
            <a:off x="54864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 · COMPRENDER</a:t>
            </a:r>
            <a:endParaRPr lang="en-US" sz="750" dirty="0"/>
          </a:p>
        </p:txBody>
      </p:sp>
      <p:sp>
        <p:nvSpPr>
          <p:cNvPr id="4" name="Text 2"/>
          <p:cNvSpPr txBox="1"/>
          <p:nvPr/>
        </p:nvSpPr>
        <p:spPr>
          <a:xfrm>
            <a:off x="2560320" y="4965192"/>
            <a:ext cx="2011680" cy="178308"/>
          </a:xfrm>
          <a:prstGeom prst="rect">
            <a:avLst/>
          </a:prstGeom>
          <a:noFill/>
          <a:ln/>
        </p:spPr>
        <p:txBody>
          <a:bodyPr wrap="square" lIns="0" tIns="0" rIns="0" bIns="0" rtlCol="0" anchor="ctr"/>
          <a:lstStyle/>
          <a:p>
            <a:pPr marL="0" indent="0">
              <a:buNone/>
            </a:pPr>
            <a:r>
              <a:rPr lang="en-US" sz="750" b="1" kern="0" spc="100" dirty="0">
                <a:solidFill>
                  <a:srgbClr val="FFFFFF"/>
                </a:solidFill>
                <a:latin typeface="Calibri" pitchFamily="34" charset="0"/>
                <a:ea typeface="Calibri" pitchFamily="34" charset="-122"/>
                <a:cs typeface="Calibri" pitchFamily="34" charset="-120"/>
              </a:rPr>
              <a:t>II · DISEÑAR</a:t>
            </a:r>
            <a:endParaRPr lang="en-US" sz="750" dirty="0"/>
          </a:p>
        </p:txBody>
      </p:sp>
      <p:sp>
        <p:nvSpPr>
          <p:cNvPr id="5" name="Text 3"/>
          <p:cNvSpPr txBox="1"/>
          <p:nvPr/>
        </p:nvSpPr>
        <p:spPr>
          <a:xfrm>
            <a:off x="457200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III · VALIDAR</a:t>
            </a:r>
            <a:endParaRPr lang="en-US" sz="750" dirty="0"/>
          </a:p>
        </p:txBody>
      </p:sp>
      <p:sp>
        <p:nvSpPr>
          <p:cNvPr id="6" name="Text 4"/>
          <p:cNvSpPr txBox="1"/>
          <p:nvPr/>
        </p:nvSpPr>
        <p:spPr>
          <a:xfrm>
            <a:off x="658368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IV · COMUNICAR</a:t>
            </a:r>
            <a:endParaRPr lang="en-US" sz="750" dirty="0"/>
          </a:p>
        </p:txBody>
      </p:sp>
      <p:sp>
        <p:nvSpPr>
          <p:cNvPr id="8" name="Text 5"/>
          <p:cNvSpPr txBox="1"/>
          <p:nvPr/>
        </p:nvSpPr>
        <p:spPr>
          <a:xfrm>
            <a:off x="548640" y="731520"/>
            <a:ext cx="8046720" cy="502920"/>
          </a:xfrm>
          <a:prstGeom prst="rect">
            <a:avLst/>
          </a:prstGeom>
          <a:noFill/>
          <a:ln/>
        </p:spPr>
        <p:txBody>
          <a:bodyPr wrap="square" lIns="0" tIns="0" rIns="0" bIns="0" rtlCol="0" anchor="ctr"/>
          <a:lstStyle/>
          <a:p>
            <a:pPr marL="0" indent="0">
              <a:buNone/>
            </a:pPr>
            <a:r>
              <a:rPr lang="es-PE" sz="2200" b="1" dirty="0">
                <a:solidFill>
                  <a:srgbClr val="ED2E45"/>
                </a:solidFill>
                <a:latin typeface="Montserrat" pitchFamily="34" charset="0"/>
                <a:ea typeface="Montserrat" pitchFamily="34" charset="-122"/>
                <a:cs typeface="Montserrat" pitchFamily="34" charset="-120"/>
              </a:rPr>
              <a:t>Diseñar la solución</a:t>
            </a:r>
            <a:endParaRPr lang="es-PE" sz="2200" dirty="0"/>
          </a:p>
        </p:txBody>
      </p:sp>
      <p:sp>
        <p:nvSpPr>
          <p:cNvPr id="9" name="Text 6"/>
          <p:cNvSpPr txBox="1"/>
          <p:nvPr/>
        </p:nvSpPr>
        <p:spPr>
          <a:xfrm>
            <a:off x="548640" y="1216152"/>
            <a:ext cx="8046720" cy="274320"/>
          </a:xfrm>
          <a:prstGeom prst="rect">
            <a:avLst/>
          </a:prstGeom>
          <a:noFill/>
          <a:ln/>
        </p:spPr>
        <p:txBody>
          <a:bodyPr wrap="square" lIns="0" tIns="0" rIns="0" bIns="0" rtlCol="0" anchor="ctr"/>
          <a:lstStyle/>
          <a:p>
            <a:pPr marL="0" indent="0">
              <a:buNone/>
            </a:pPr>
            <a:r>
              <a:rPr lang="es-PE" sz="1250" dirty="0">
                <a:solidFill>
                  <a:srgbClr val="6B6B6B"/>
                </a:solidFill>
                <a:latin typeface="Calibri" pitchFamily="34" charset="0"/>
                <a:ea typeface="Calibri" pitchFamily="34" charset="-122"/>
                <a:cs typeface="Calibri" pitchFamily="34" charset="-120"/>
              </a:rPr>
              <a:t>Seis componentes mínimos, en este orden</a:t>
            </a:r>
            <a:endParaRPr lang="es-PE" sz="1250" dirty="0"/>
          </a:p>
        </p:txBody>
      </p:sp>
      <p:sp>
        <p:nvSpPr>
          <p:cNvPr id="10" name="Shape 7"/>
          <p:cNvSpPr/>
          <p:nvPr/>
        </p:nvSpPr>
        <p:spPr>
          <a:xfrm>
            <a:off x="868680" y="1554480"/>
            <a:ext cx="548640" cy="548640"/>
          </a:xfrm>
          <a:prstGeom prst="ellipse">
            <a:avLst/>
          </a:prstGeom>
          <a:solidFill>
            <a:srgbClr val="ED2E45"/>
          </a:solidFill>
          <a:ln w="12700">
            <a:solidFill>
              <a:srgbClr val="FFFFFF"/>
            </a:solidFill>
            <a:prstDash val="solid"/>
          </a:ln>
        </p:spPr>
        <p:txBody>
          <a:bodyPr/>
          <a:lstStyle/>
          <a:p>
            <a:endParaRPr lang="es-PE"/>
          </a:p>
        </p:txBody>
      </p:sp>
      <p:sp>
        <p:nvSpPr>
          <p:cNvPr id="11" name="Text 8"/>
          <p:cNvSpPr txBox="1"/>
          <p:nvPr/>
        </p:nvSpPr>
        <p:spPr>
          <a:xfrm>
            <a:off x="863440" y="1543050"/>
            <a:ext cx="548640" cy="548640"/>
          </a:xfrm>
          <a:prstGeom prst="rect">
            <a:avLst/>
          </a:prstGeom>
          <a:noFill/>
          <a:ln/>
        </p:spPr>
        <p:txBody>
          <a:bodyPr wrap="square" lIns="0" tIns="0" rIns="0" bIns="0" rtlCol="0" anchor="ctr"/>
          <a:lstStyle/>
          <a:p>
            <a:pPr marL="0" indent="0" algn="ctr">
              <a:buNone/>
            </a:pPr>
            <a:r>
              <a:rPr lang="es-PE" sz="1600" b="1" dirty="0">
                <a:solidFill>
                  <a:srgbClr val="FFFFFF"/>
                </a:solidFill>
                <a:latin typeface="Montserrat" pitchFamily="34" charset="0"/>
                <a:ea typeface="Montserrat" pitchFamily="34" charset="-122"/>
                <a:cs typeface="Montserrat" pitchFamily="34" charset="-120"/>
              </a:rPr>
              <a:t>1</a:t>
            </a:r>
            <a:endParaRPr lang="es-PE" sz="1600" dirty="0"/>
          </a:p>
        </p:txBody>
      </p:sp>
      <p:sp>
        <p:nvSpPr>
          <p:cNvPr id="12" name="Text 9"/>
          <p:cNvSpPr txBox="1"/>
          <p:nvPr/>
        </p:nvSpPr>
        <p:spPr>
          <a:xfrm>
            <a:off x="502920" y="2167128"/>
            <a:ext cx="1280160" cy="685800"/>
          </a:xfrm>
          <a:prstGeom prst="rect">
            <a:avLst/>
          </a:prstGeom>
          <a:noFill/>
          <a:ln/>
        </p:spPr>
        <p:txBody>
          <a:bodyPr wrap="square" lIns="0" tIns="0" rIns="0" bIns="0" rtlCol="0" anchor="t"/>
          <a:lstStyle/>
          <a:p>
            <a:pPr marL="0" indent="0" algn="ctr">
              <a:buNone/>
            </a:pPr>
            <a:r>
              <a:rPr lang="es-PE" sz="1150" b="1" dirty="0">
                <a:solidFill>
                  <a:srgbClr val="262626"/>
                </a:solidFill>
                <a:latin typeface="Calibri" pitchFamily="34" charset="0"/>
                <a:ea typeface="Calibri" pitchFamily="34" charset="-122"/>
                <a:cs typeface="Calibri" pitchFamily="34" charset="-120"/>
              </a:rPr>
              <a:t>Problema</a:t>
            </a:r>
            <a:endParaRPr lang="es-PE" sz="1150" dirty="0"/>
          </a:p>
          <a:p>
            <a:pPr marL="0" indent="0" algn="ctr">
              <a:buNone/>
            </a:pPr>
            <a:r>
              <a:rPr lang="es-PE" sz="1000" i="1" dirty="0">
                <a:solidFill>
                  <a:srgbClr val="6B6B6B"/>
                </a:solidFill>
                <a:latin typeface="Calibri" pitchFamily="34" charset="0"/>
                <a:ea typeface="Calibri" pitchFamily="34" charset="-122"/>
                <a:cs typeface="Calibri" pitchFamily="34" charset="-120"/>
              </a:rPr>
              <a:t>¿qué situación queremos cambiar?</a:t>
            </a:r>
            <a:endParaRPr lang="es-PE" sz="1150" dirty="0"/>
          </a:p>
        </p:txBody>
      </p:sp>
      <p:sp>
        <p:nvSpPr>
          <p:cNvPr id="13" name="Shape 10"/>
          <p:cNvSpPr/>
          <p:nvPr/>
        </p:nvSpPr>
        <p:spPr>
          <a:xfrm>
            <a:off x="1664208" y="1746504"/>
            <a:ext cx="329184" cy="164592"/>
          </a:xfrm>
          <a:prstGeom prst="rightArrow">
            <a:avLst/>
          </a:prstGeom>
          <a:solidFill>
            <a:srgbClr val="F28A99"/>
          </a:solidFill>
          <a:ln w="12700">
            <a:solidFill>
              <a:srgbClr val="F28A99"/>
            </a:solidFill>
            <a:prstDash val="solid"/>
          </a:ln>
        </p:spPr>
        <p:txBody>
          <a:bodyPr/>
          <a:lstStyle/>
          <a:p>
            <a:endParaRPr lang="es-PE"/>
          </a:p>
        </p:txBody>
      </p:sp>
      <p:sp>
        <p:nvSpPr>
          <p:cNvPr id="14" name="Shape 11"/>
          <p:cNvSpPr/>
          <p:nvPr/>
        </p:nvSpPr>
        <p:spPr>
          <a:xfrm>
            <a:off x="2240280" y="1554480"/>
            <a:ext cx="548640" cy="548640"/>
          </a:xfrm>
          <a:prstGeom prst="ellipse">
            <a:avLst/>
          </a:prstGeom>
          <a:solidFill>
            <a:srgbClr val="ED2E45"/>
          </a:solidFill>
          <a:ln w="12700">
            <a:solidFill>
              <a:srgbClr val="FFFFFF"/>
            </a:solidFill>
            <a:prstDash val="solid"/>
          </a:ln>
        </p:spPr>
        <p:txBody>
          <a:bodyPr/>
          <a:lstStyle/>
          <a:p>
            <a:endParaRPr lang="es-PE"/>
          </a:p>
        </p:txBody>
      </p:sp>
      <p:sp>
        <p:nvSpPr>
          <p:cNvPr id="15" name="Text 12"/>
          <p:cNvSpPr txBox="1"/>
          <p:nvPr/>
        </p:nvSpPr>
        <p:spPr>
          <a:xfrm>
            <a:off x="2240280" y="1554480"/>
            <a:ext cx="548640" cy="548640"/>
          </a:xfrm>
          <a:prstGeom prst="rect">
            <a:avLst/>
          </a:prstGeom>
          <a:noFill/>
          <a:ln/>
        </p:spPr>
        <p:txBody>
          <a:bodyPr wrap="square" lIns="0" tIns="0" rIns="0" bIns="0" rtlCol="0" anchor="ctr"/>
          <a:lstStyle/>
          <a:p>
            <a:pPr marL="0" indent="0" algn="ctr">
              <a:buNone/>
            </a:pPr>
            <a:r>
              <a:rPr lang="es-PE" sz="1600" b="1" dirty="0">
                <a:solidFill>
                  <a:srgbClr val="FFFFFF"/>
                </a:solidFill>
                <a:latin typeface="Montserrat" pitchFamily="34" charset="0"/>
                <a:ea typeface="Montserrat" pitchFamily="34" charset="-122"/>
                <a:cs typeface="Montserrat" pitchFamily="34" charset="-120"/>
              </a:rPr>
              <a:t>2</a:t>
            </a:r>
            <a:endParaRPr lang="es-PE" sz="1600" dirty="0"/>
          </a:p>
        </p:txBody>
      </p:sp>
      <p:sp>
        <p:nvSpPr>
          <p:cNvPr id="16" name="Text 13"/>
          <p:cNvSpPr txBox="1"/>
          <p:nvPr/>
        </p:nvSpPr>
        <p:spPr>
          <a:xfrm>
            <a:off x="1874520" y="2167128"/>
            <a:ext cx="1280160" cy="685800"/>
          </a:xfrm>
          <a:prstGeom prst="rect">
            <a:avLst/>
          </a:prstGeom>
          <a:noFill/>
          <a:ln/>
        </p:spPr>
        <p:txBody>
          <a:bodyPr wrap="square" lIns="0" tIns="0" rIns="0" bIns="0" rtlCol="0" anchor="t"/>
          <a:lstStyle/>
          <a:p>
            <a:pPr marL="0" indent="0" algn="ctr">
              <a:buNone/>
            </a:pPr>
            <a:r>
              <a:rPr lang="es-PE" sz="1150" b="1" dirty="0">
                <a:solidFill>
                  <a:srgbClr val="262626"/>
                </a:solidFill>
                <a:latin typeface="Calibri" pitchFamily="34" charset="0"/>
                <a:ea typeface="Calibri" pitchFamily="34" charset="-122"/>
                <a:cs typeface="Calibri" pitchFamily="34" charset="-120"/>
              </a:rPr>
              <a:t>Población objetivo</a:t>
            </a:r>
            <a:endParaRPr lang="es-PE" sz="1150" dirty="0"/>
          </a:p>
          <a:p>
            <a:pPr marL="0" indent="0" algn="ctr">
              <a:buNone/>
            </a:pPr>
            <a:r>
              <a:rPr lang="es-PE" sz="1000" i="1" dirty="0">
                <a:solidFill>
                  <a:srgbClr val="6B6B6B"/>
                </a:solidFill>
                <a:latin typeface="Calibri" pitchFamily="34" charset="0"/>
                <a:ea typeface="Calibri" pitchFamily="34" charset="-122"/>
                <a:cs typeface="Calibri" pitchFamily="34" charset="-120"/>
              </a:rPr>
              <a:t>¿a quiénes se dirige la intervención?</a:t>
            </a:r>
            <a:endParaRPr lang="es-PE" sz="1150" dirty="0"/>
          </a:p>
        </p:txBody>
      </p:sp>
      <p:sp>
        <p:nvSpPr>
          <p:cNvPr id="17" name="Shape 14"/>
          <p:cNvSpPr/>
          <p:nvPr/>
        </p:nvSpPr>
        <p:spPr>
          <a:xfrm>
            <a:off x="3035808" y="1746504"/>
            <a:ext cx="329184" cy="164592"/>
          </a:xfrm>
          <a:prstGeom prst="rightArrow">
            <a:avLst/>
          </a:prstGeom>
          <a:solidFill>
            <a:srgbClr val="F28A99"/>
          </a:solidFill>
          <a:ln w="12700">
            <a:solidFill>
              <a:srgbClr val="F28A99"/>
            </a:solidFill>
            <a:prstDash val="solid"/>
          </a:ln>
        </p:spPr>
        <p:txBody>
          <a:bodyPr/>
          <a:lstStyle/>
          <a:p>
            <a:endParaRPr lang="es-PE"/>
          </a:p>
        </p:txBody>
      </p:sp>
      <p:sp>
        <p:nvSpPr>
          <p:cNvPr id="18" name="Shape 15"/>
          <p:cNvSpPr/>
          <p:nvPr/>
        </p:nvSpPr>
        <p:spPr>
          <a:xfrm>
            <a:off x="3611880" y="1554480"/>
            <a:ext cx="548640" cy="548640"/>
          </a:xfrm>
          <a:prstGeom prst="ellipse">
            <a:avLst/>
          </a:prstGeom>
          <a:solidFill>
            <a:srgbClr val="ED2E45"/>
          </a:solidFill>
          <a:ln w="12700">
            <a:solidFill>
              <a:srgbClr val="FFFFFF"/>
            </a:solidFill>
            <a:prstDash val="solid"/>
          </a:ln>
        </p:spPr>
        <p:txBody>
          <a:bodyPr/>
          <a:lstStyle/>
          <a:p>
            <a:endParaRPr lang="es-PE"/>
          </a:p>
        </p:txBody>
      </p:sp>
      <p:sp>
        <p:nvSpPr>
          <p:cNvPr id="19" name="Text 16"/>
          <p:cNvSpPr txBox="1"/>
          <p:nvPr/>
        </p:nvSpPr>
        <p:spPr>
          <a:xfrm>
            <a:off x="3611880" y="1554480"/>
            <a:ext cx="548640" cy="548640"/>
          </a:xfrm>
          <a:prstGeom prst="rect">
            <a:avLst/>
          </a:prstGeom>
          <a:noFill/>
          <a:ln/>
        </p:spPr>
        <p:txBody>
          <a:bodyPr wrap="square" lIns="0" tIns="0" rIns="0" bIns="0" rtlCol="0" anchor="ctr"/>
          <a:lstStyle/>
          <a:p>
            <a:pPr marL="0" indent="0" algn="ctr">
              <a:buNone/>
            </a:pPr>
            <a:r>
              <a:rPr lang="es-PE" sz="1600" b="1" dirty="0">
                <a:solidFill>
                  <a:srgbClr val="FFFFFF"/>
                </a:solidFill>
                <a:latin typeface="Montserrat" pitchFamily="34" charset="0"/>
                <a:ea typeface="Montserrat" pitchFamily="34" charset="-122"/>
                <a:cs typeface="Montserrat" pitchFamily="34" charset="-120"/>
              </a:rPr>
              <a:t>3</a:t>
            </a:r>
            <a:endParaRPr lang="es-PE" sz="1600" dirty="0"/>
          </a:p>
        </p:txBody>
      </p:sp>
      <p:sp>
        <p:nvSpPr>
          <p:cNvPr id="20" name="Text 17"/>
          <p:cNvSpPr txBox="1"/>
          <p:nvPr/>
        </p:nvSpPr>
        <p:spPr>
          <a:xfrm>
            <a:off x="3246120" y="2167128"/>
            <a:ext cx="1280160" cy="685800"/>
          </a:xfrm>
          <a:prstGeom prst="rect">
            <a:avLst/>
          </a:prstGeom>
          <a:noFill/>
          <a:ln/>
        </p:spPr>
        <p:txBody>
          <a:bodyPr wrap="square" lIns="0" tIns="0" rIns="0" bIns="0" rtlCol="0" anchor="t"/>
          <a:lstStyle/>
          <a:p>
            <a:pPr marL="0" indent="0" algn="ctr">
              <a:buNone/>
            </a:pPr>
            <a:r>
              <a:rPr lang="es-PE" sz="1150" b="1" dirty="0">
                <a:solidFill>
                  <a:srgbClr val="262626"/>
                </a:solidFill>
                <a:latin typeface="Calibri" pitchFamily="34" charset="0"/>
                <a:ea typeface="Calibri" pitchFamily="34" charset="-122"/>
                <a:cs typeface="Calibri" pitchFamily="34" charset="-120"/>
              </a:rPr>
              <a:t>Objetivo</a:t>
            </a:r>
            <a:endParaRPr lang="es-PE" sz="1150" dirty="0"/>
          </a:p>
          <a:p>
            <a:pPr marL="0" indent="0" algn="ctr">
              <a:buNone/>
            </a:pPr>
            <a:r>
              <a:rPr lang="es-PE" sz="1000" i="1" dirty="0">
                <a:solidFill>
                  <a:srgbClr val="6B6B6B"/>
                </a:solidFill>
                <a:latin typeface="Calibri" pitchFamily="34" charset="0"/>
                <a:ea typeface="Calibri" pitchFamily="34" charset="-122"/>
                <a:cs typeface="Calibri" pitchFamily="34" charset="-120"/>
              </a:rPr>
              <a:t>¿qué cambio buscamos lograr?</a:t>
            </a:r>
            <a:endParaRPr lang="es-PE" sz="1150" dirty="0"/>
          </a:p>
        </p:txBody>
      </p:sp>
      <p:sp>
        <p:nvSpPr>
          <p:cNvPr id="21" name="Shape 18"/>
          <p:cNvSpPr/>
          <p:nvPr/>
        </p:nvSpPr>
        <p:spPr>
          <a:xfrm>
            <a:off x="4407408" y="1746504"/>
            <a:ext cx="329184" cy="164592"/>
          </a:xfrm>
          <a:prstGeom prst="rightArrow">
            <a:avLst/>
          </a:prstGeom>
          <a:solidFill>
            <a:srgbClr val="F28A99"/>
          </a:solidFill>
          <a:ln w="12700">
            <a:solidFill>
              <a:srgbClr val="F28A99"/>
            </a:solidFill>
            <a:prstDash val="solid"/>
          </a:ln>
        </p:spPr>
        <p:txBody>
          <a:bodyPr/>
          <a:lstStyle/>
          <a:p>
            <a:endParaRPr lang="es-PE"/>
          </a:p>
        </p:txBody>
      </p:sp>
      <p:sp>
        <p:nvSpPr>
          <p:cNvPr id="22" name="Shape 19"/>
          <p:cNvSpPr/>
          <p:nvPr/>
        </p:nvSpPr>
        <p:spPr>
          <a:xfrm>
            <a:off x="4983480" y="1554480"/>
            <a:ext cx="548640" cy="548640"/>
          </a:xfrm>
          <a:prstGeom prst="ellipse">
            <a:avLst/>
          </a:prstGeom>
          <a:solidFill>
            <a:srgbClr val="ED2E45"/>
          </a:solidFill>
          <a:ln w="12700">
            <a:solidFill>
              <a:srgbClr val="FFFFFF"/>
            </a:solidFill>
            <a:prstDash val="solid"/>
          </a:ln>
        </p:spPr>
        <p:txBody>
          <a:bodyPr/>
          <a:lstStyle/>
          <a:p>
            <a:endParaRPr lang="es-PE"/>
          </a:p>
        </p:txBody>
      </p:sp>
      <p:sp>
        <p:nvSpPr>
          <p:cNvPr id="23" name="Text 20"/>
          <p:cNvSpPr txBox="1"/>
          <p:nvPr/>
        </p:nvSpPr>
        <p:spPr>
          <a:xfrm>
            <a:off x="4983480" y="1554480"/>
            <a:ext cx="548640" cy="548640"/>
          </a:xfrm>
          <a:prstGeom prst="rect">
            <a:avLst/>
          </a:prstGeom>
          <a:noFill/>
          <a:ln/>
        </p:spPr>
        <p:txBody>
          <a:bodyPr wrap="square" lIns="0" tIns="0" rIns="0" bIns="0" rtlCol="0" anchor="ctr"/>
          <a:lstStyle/>
          <a:p>
            <a:pPr marL="0" indent="0" algn="ctr">
              <a:buNone/>
            </a:pPr>
            <a:r>
              <a:rPr lang="es-PE" sz="1600" b="1" dirty="0">
                <a:solidFill>
                  <a:srgbClr val="FFFFFF"/>
                </a:solidFill>
                <a:latin typeface="Montserrat" pitchFamily="34" charset="0"/>
                <a:ea typeface="Montserrat" pitchFamily="34" charset="-122"/>
                <a:cs typeface="Montserrat" pitchFamily="34" charset="-120"/>
              </a:rPr>
              <a:t>4</a:t>
            </a:r>
            <a:endParaRPr lang="es-PE" sz="1600" dirty="0"/>
          </a:p>
        </p:txBody>
      </p:sp>
      <p:sp>
        <p:nvSpPr>
          <p:cNvPr id="24" name="Text 21"/>
          <p:cNvSpPr txBox="1"/>
          <p:nvPr/>
        </p:nvSpPr>
        <p:spPr>
          <a:xfrm>
            <a:off x="4617720" y="2167128"/>
            <a:ext cx="1280160" cy="685800"/>
          </a:xfrm>
          <a:prstGeom prst="rect">
            <a:avLst/>
          </a:prstGeom>
          <a:noFill/>
          <a:ln/>
        </p:spPr>
        <p:txBody>
          <a:bodyPr wrap="square" lIns="0" tIns="0" rIns="0" bIns="0" rtlCol="0" anchor="t"/>
          <a:lstStyle/>
          <a:p>
            <a:pPr marL="0" indent="0" algn="ctr">
              <a:buNone/>
            </a:pPr>
            <a:r>
              <a:rPr lang="es-PE" sz="1150" b="1" dirty="0">
                <a:solidFill>
                  <a:srgbClr val="262626"/>
                </a:solidFill>
                <a:latin typeface="Calibri" pitchFamily="34" charset="0"/>
                <a:ea typeface="Calibri" pitchFamily="34" charset="-122"/>
                <a:cs typeface="Calibri" pitchFamily="34" charset="-120"/>
              </a:rPr>
              <a:t>Intervención</a:t>
            </a:r>
            <a:endParaRPr lang="es-PE" sz="1150" dirty="0"/>
          </a:p>
          <a:p>
            <a:pPr marL="0" indent="0" algn="ctr">
              <a:buNone/>
            </a:pPr>
            <a:r>
              <a:rPr lang="es-PE" sz="1000" i="1" dirty="0">
                <a:solidFill>
                  <a:srgbClr val="6B6B6B"/>
                </a:solidFill>
                <a:latin typeface="Calibri" pitchFamily="34" charset="0"/>
                <a:ea typeface="Calibri" pitchFamily="34" charset="-122"/>
                <a:cs typeface="Calibri" pitchFamily="34" charset="-120"/>
              </a:rPr>
              <a:t>¿qué acciones realizaremos para lograrlo?</a:t>
            </a:r>
            <a:endParaRPr lang="es-PE" sz="1150" dirty="0"/>
          </a:p>
        </p:txBody>
      </p:sp>
      <p:sp>
        <p:nvSpPr>
          <p:cNvPr id="25" name="Shape 22"/>
          <p:cNvSpPr/>
          <p:nvPr/>
        </p:nvSpPr>
        <p:spPr>
          <a:xfrm>
            <a:off x="5779008" y="1746504"/>
            <a:ext cx="329184" cy="164592"/>
          </a:xfrm>
          <a:prstGeom prst="rightArrow">
            <a:avLst/>
          </a:prstGeom>
          <a:solidFill>
            <a:srgbClr val="F28A99"/>
          </a:solidFill>
          <a:ln w="12700">
            <a:solidFill>
              <a:srgbClr val="F28A99"/>
            </a:solidFill>
            <a:prstDash val="solid"/>
          </a:ln>
        </p:spPr>
        <p:txBody>
          <a:bodyPr/>
          <a:lstStyle/>
          <a:p>
            <a:endParaRPr lang="es-PE"/>
          </a:p>
        </p:txBody>
      </p:sp>
      <p:sp>
        <p:nvSpPr>
          <p:cNvPr id="26" name="Shape 23"/>
          <p:cNvSpPr/>
          <p:nvPr/>
        </p:nvSpPr>
        <p:spPr>
          <a:xfrm>
            <a:off x="6355080" y="1554480"/>
            <a:ext cx="548640" cy="548640"/>
          </a:xfrm>
          <a:prstGeom prst="ellipse">
            <a:avLst/>
          </a:prstGeom>
          <a:solidFill>
            <a:srgbClr val="ED2E45"/>
          </a:solidFill>
          <a:ln w="12700">
            <a:solidFill>
              <a:srgbClr val="FFFFFF"/>
            </a:solidFill>
            <a:prstDash val="solid"/>
          </a:ln>
        </p:spPr>
        <p:txBody>
          <a:bodyPr/>
          <a:lstStyle/>
          <a:p>
            <a:endParaRPr lang="es-PE"/>
          </a:p>
        </p:txBody>
      </p:sp>
      <p:sp>
        <p:nvSpPr>
          <p:cNvPr id="27" name="Text 24"/>
          <p:cNvSpPr txBox="1"/>
          <p:nvPr/>
        </p:nvSpPr>
        <p:spPr>
          <a:xfrm>
            <a:off x="6355080" y="1554480"/>
            <a:ext cx="548640" cy="548640"/>
          </a:xfrm>
          <a:prstGeom prst="rect">
            <a:avLst/>
          </a:prstGeom>
          <a:noFill/>
          <a:ln/>
        </p:spPr>
        <p:txBody>
          <a:bodyPr wrap="square" lIns="0" tIns="0" rIns="0" bIns="0" rtlCol="0" anchor="ctr"/>
          <a:lstStyle/>
          <a:p>
            <a:pPr marL="0" indent="0" algn="ctr">
              <a:buNone/>
            </a:pPr>
            <a:r>
              <a:rPr lang="es-PE" sz="1600" b="1" dirty="0">
                <a:solidFill>
                  <a:srgbClr val="FFFFFF"/>
                </a:solidFill>
                <a:latin typeface="Montserrat" pitchFamily="34" charset="0"/>
                <a:ea typeface="Montserrat" pitchFamily="34" charset="-122"/>
                <a:cs typeface="Montserrat" pitchFamily="34" charset="-120"/>
              </a:rPr>
              <a:t>5</a:t>
            </a:r>
            <a:endParaRPr lang="es-PE" sz="1600" dirty="0"/>
          </a:p>
        </p:txBody>
      </p:sp>
      <p:sp>
        <p:nvSpPr>
          <p:cNvPr id="28" name="Text 25"/>
          <p:cNvSpPr txBox="1"/>
          <p:nvPr/>
        </p:nvSpPr>
        <p:spPr>
          <a:xfrm>
            <a:off x="5989320" y="2167128"/>
            <a:ext cx="1280160" cy="685800"/>
          </a:xfrm>
          <a:prstGeom prst="rect">
            <a:avLst/>
          </a:prstGeom>
          <a:noFill/>
          <a:ln/>
        </p:spPr>
        <p:txBody>
          <a:bodyPr wrap="square" lIns="0" tIns="0" rIns="0" bIns="0" rtlCol="0" anchor="t"/>
          <a:lstStyle/>
          <a:p>
            <a:pPr marL="0" indent="0" algn="ctr">
              <a:buNone/>
            </a:pPr>
            <a:r>
              <a:rPr lang="es-PE" sz="1150" b="1" dirty="0">
                <a:solidFill>
                  <a:srgbClr val="262626"/>
                </a:solidFill>
                <a:latin typeface="Calibri" pitchFamily="34" charset="0"/>
                <a:ea typeface="Calibri" pitchFamily="34" charset="-122"/>
                <a:cs typeface="Calibri" pitchFamily="34" charset="-120"/>
              </a:rPr>
              <a:t>Producto</a:t>
            </a:r>
            <a:endParaRPr lang="es-PE" sz="1150" dirty="0"/>
          </a:p>
          <a:p>
            <a:pPr marL="0" indent="0" algn="ctr">
              <a:buNone/>
            </a:pPr>
            <a:r>
              <a:rPr lang="es-PE" sz="1000" i="1" dirty="0">
                <a:solidFill>
                  <a:srgbClr val="6B6B6B"/>
                </a:solidFill>
                <a:latin typeface="Calibri" pitchFamily="34" charset="0"/>
                <a:ea typeface="Calibri" pitchFamily="34" charset="-122"/>
                <a:cs typeface="Calibri" pitchFamily="34" charset="-120"/>
              </a:rPr>
              <a:t>¿qué bien o servicio recibirá la población?</a:t>
            </a:r>
            <a:endParaRPr lang="es-PE" sz="1150" dirty="0"/>
          </a:p>
        </p:txBody>
      </p:sp>
      <p:sp>
        <p:nvSpPr>
          <p:cNvPr id="29" name="Shape 26"/>
          <p:cNvSpPr/>
          <p:nvPr/>
        </p:nvSpPr>
        <p:spPr>
          <a:xfrm>
            <a:off x="7150608" y="1746504"/>
            <a:ext cx="329184" cy="164592"/>
          </a:xfrm>
          <a:prstGeom prst="rightArrow">
            <a:avLst/>
          </a:prstGeom>
          <a:solidFill>
            <a:srgbClr val="F28A99"/>
          </a:solidFill>
          <a:ln w="12700">
            <a:solidFill>
              <a:srgbClr val="F28A99"/>
            </a:solidFill>
            <a:prstDash val="solid"/>
          </a:ln>
        </p:spPr>
        <p:txBody>
          <a:bodyPr/>
          <a:lstStyle/>
          <a:p>
            <a:endParaRPr lang="es-PE"/>
          </a:p>
        </p:txBody>
      </p:sp>
      <p:sp>
        <p:nvSpPr>
          <p:cNvPr id="30" name="Shape 27"/>
          <p:cNvSpPr/>
          <p:nvPr/>
        </p:nvSpPr>
        <p:spPr>
          <a:xfrm>
            <a:off x="7726680" y="1554480"/>
            <a:ext cx="548640" cy="548640"/>
          </a:xfrm>
          <a:prstGeom prst="ellipse">
            <a:avLst/>
          </a:prstGeom>
          <a:solidFill>
            <a:srgbClr val="C4122F"/>
          </a:solidFill>
          <a:ln w="12700">
            <a:solidFill>
              <a:srgbClr val="FFFFFF"/>
            </a:solidFill>
            <a:prstDash val="solid"/>
          </a:ln>
        </p:spPr>
        <p:txBody>
          <a:bodyPr/>
          <a:lstStyle/>
          <a:p>
            <a:endParaRPr lang="es-PE"/>
          </a:p>
        </p:txBody>
      </p:sp>
      <p:sp>
        <p:nvSpPr>
          <p:cNvPr id="31" name="Text 28"/>
          <p:cNvSpPr txBox="1"/>
          <p:nvPr/>
        </p:nvSpPr>
        <p:spPr>
          <a:xfrm>
            <a:off x="7726680" y="1554480"/>
            <a:ext cx="548640" cy="548640"/>
          </a:xfrm>
          <a:prstGeom prst="rect">
            <a:avLst/>
          </a:prstGeom>
          <a:noFill/>
          <a:ln/>
        </p:spPr>
        <p:txBody>
          <a:bodyPr wrap="square" lIns="0" tIns="0" rIns="0" bIns="0" rtlCol="0" anchor="ctr"/>
          <a:lstStyle/>
          <a:p>
            <a:pPr marL="0" indent="0" algn="ctr">
              <a:buNone/>
            </a:pPr>
            <a:r>
              <a:rPr lang="es-PE" sz="1600" b="1" dirty="0">
                <a:solidFill>
                  <a:srgbClr val="FFFFFF"/>
                </a:solidFill>
                <a:latin typeface="Montserrat" pitchFamily="34" charset="0"/>
                <a:ea typeface="Montserrat" pitchFamily="34" charset="-122"/>
                <a:cs typeface="Montserrat" pitchFamily="34" charset="-120"/>
              </a:rPr>
              <a:t>6</a:t>
            </a:r>
            <a:endParaRPr lang="es-PE" sz="1600" dirty="0"/>
          </a:p>
        </p:txBody>
      </p:sp>
      <p:sp>
        <p:nvSpPr>
          <p:cNvPr id="32" name="Text 29"/>
          <p:cNvSpPr txBox="1"/>
          <p:nvPr/>
        </p:nvSpPr>
        <p:spPr>
          <a:xfrm>
            <a:off x="7360920" y="2167128"/>
            <a:ext cx="1280160" cy="685800"/>
          </a:xfrm>
          <a:prstGeom prst="rect">
            <a:avLst/>
          </a:prstGeom>
          <a:noFill/>
          <a:ln/>
        </p:spPr>
        <p:txBody>
          <a:bodyPr wrap="square" lIns="0" tIns="0" rIns="0" bIns="0" rtlCol="0" anchor="t"/>
          <a:lstStyle/>
          <a:p>
            <a:pPr marL="0" indent="0" algn="ctr">
              <a:buNone/>
            </a:pPr>
            <a:r>
              <a:rPr lang="es-PE" sz="1150" b="1" dirty="0">
                <a:solidFill>
                  <a:srgbClr val="262626"/>
                </a:solidFill>
                <a:latin typeface="Calibri" pitchFamily="34" charset="0"/>
                <a:ea typeface="Calibri" pitchFamily="34" charset="-122"/>
                <a:cs typeface="Calibri" pitchFamily="34" charset="-120"/>
              </a:rPr>
              <a:t>Resultado esperado</a:t>
            </a:r>
            <a:endParaRPr lang="es-PE" sz="1150" dirty="0"/>
          </a:p>
          <a:p>
            <a:pPr marL="0" indent="0" algn="ctr">
              <a:buNone/>
            </a:pPr>
            <a:r>
              <a:rPr lang="es-PE" sz="1000" i="1" dirty="0">
                <a:solidFill>
                  <a:srgbClr val="6B6B6B"/>
                </a:solidFill>
                <a:latin typeface="Calibri" pitchFamily="34" charset="0"/>
                <a:ea typeface="Calibri" pitchFamily="34" charset="-122"/>
                <a:cs typeface="Calibri" pitchFamily="34" charset="-120"/>
              </a:rPr>
              <a:t>¿qué mejora concreta esperamos observar y en qué plazo?</a:t>
            </a:r>
            <a:endParaRPr lang="es-PE" sz="1150" dirty="0"/>
          </a:p>
        </p:txBody>
      </p:sp>
      <p:sp>
        <p:nvSpPr>
          <p:cNvPr id="33" name="Shape 30"/>
          <p:cNvSpPr/>
          <p:nvPr/>
        </p:nvSpPr>
        <p:spPr>
          <a:xfrm>
            <a:off x="548640" y="3017520"/>
            <a:ext cx="8046720" cy="1783080"/>
          </a:xfrm>
          <a:prstGeom prst="roundRect">
            <a:avLst>
              <a:gd name="adj" fmla="val 4103"/>
            </a:avLst>
          </a:prstGeom>
          <a:solidFill>
            <a:srgbClr val="F2F2F2"/>
          </a:solidFill>
          <a:ln w="12700">
            <a:solidFill>
              <a:srgbClr val="F2F2F2"/>
            </a:solidFill>
            <a:prstDash val="solid"/>
          </a:ln>
        </p:spPr>
        <p:txBody>
          <a:bodyPr/>
          <a:lstStyle/>
          <a:p>
            <a:endParaRPr lang="es-PE"/>
          </a:p>
        </p:txBody>
      </p:sp>
      <p:sp>
        <p:nvSpPr>
          <p:cNvPr id="34" name="Text 31"/>
          <p:cNvSpPr txBox="1"/>
          <p:nvPr/>
        </p:nvSpPr>
        <p:spPr>
          <a:xfrm>
            <a:off x="777240" y="3108960"/>
            <a:ext cx="3749040" cy="237744"/>
          </a:xfrm>
          <a:prstGeom prst="rect">
            <a:avLst/>
          </a:prstGeom>
          <a:noFill/>
          <a:ln/>
        </p:spPr>
        <p:txBody>
          <a:bodyPr wrap="square" lIns="0" tIns="0" rIns="0" bIns="0" rtlCol="0" anchor="t"/>
          <a:lstStyle/>
          <a:p>
            <a:pPr marL="0" indent="0">
              <a:buNone/>
            </a:pPr>
            <a:r>
              <a:rPr lang="es-PE" sz="1000" b="1" kern="0" spc="100" dirty="0">
                <a:solidFill>
                  <a:srgbClr val="6B6B6B"/>
                </a:solidFill>
                <a:latin typeface="Calibri" pitchFamily="34" charset="0"/>
                <a:ea typeface="Calibri" pitchFamily="34" charset="-122"/>
                <a:cs typeface="Calibri" pitchFamily="34" charset="-120"/>
              </a:rPr>
              <a:t>PREGUNTAS PARA CONCRETAR LA RESPUESTA</a:t>
            </a:r>
            <a:endParaRPr lang="es-PE" sz="1000" dirty="0"/>
          </a:p>
        </p:txBody>
      </p:sp>
      <p:sp>
        <p:nvSpPr>
          <p:cNvPr id="35" name="Shape 32"/>
          <p:cNvSpPr/>
          <p:nvPr/>
        </p:nvSpPr>
        <p:spPr>
          <a:xfrm>
            <a:off x="777240" y="3456432"/>
            <a:ext cx="256032" cy="256032"/>
          </a:xfrm>
          <a:prstGeom prst="ellipse">
            <a:avLst/>
          </a:prstGeom>
          <a:solidFill>
            <a:srgbClr val="ED2E45"/>
          </a:solidFill>
          <a:ln w="12700">
            <a:solidFill>
              <a:srgbClr val="ED2E45"/>
            </a:solidFill>
            <a:prstDash val="solid"/>
          </a:ln>
        </p:spPr>
        <p:txBody>
          <a:bodyPr/>
          <a:lstStyle/>
          <a:p>
            <a:endParaRPr lang="es-PE"/>
          </a:p>
        </p:txBody>
      </p:sp>
      <p:sp>
        <p:nvSpPr>
          <p:cNvPr id="36" name="Text 33"/>
          <p:cNvSpPr txBox="1"/>
          <p:nvPr/>
        </p:nvSpPr>
        <p:spPr>
          <a:xfrm>
            <a:off x="777240" y="3456432"/>
            <a:ext cx="256032" cy="256032"/>
          </a:xfrm>
          <a:prstGeom prst="rect">
            <a:avLst/>
          </a:prstGeom>
          <a:noFill/>
          <a:ln/>
        </p:spPr>
        <p:txBody>
          <a:bodyPr wrap="square" lIns="0" tIns="0" rIns="0" bIns="0" rtlCol="0" anchor="ctr"/>
          <a:lstStyle/>
          <a:p>
            <a:pPr marL="0" indent="0" algn="ctr">
              <a:buNone/>
            </a:pPr>
            <a:r>
              <a:rPr lang="es-PE" sz="1100" b="1" dirty="0">
                <a:solidFill>
                  <a:srgbClr val="FFFFFF"/>
                </a:solidFill>
                <a:latin typeface="Calibri" pitchFamily="34" charset="0"/>
                <a:ea typeface="Calibri" pitchFamily="34" charset="-122"/>
                <a:cs typeface="Calibri" pitchFamily="34" charset="-120"/>
              </a:rPr>
              <a:t>?</a:t>
            </a:r>
            <a:endParaRPr lang="es-PE" sz="1100" dirty="0"/>
          </a:p>
        </p:txBody>
      </p:sp>
      <p:sp>
        <p:nvSpPr>
          <p:cNvPr id="37" name="Text 34"/>
          <p:cNvSpPr txBox="1"/>
          <p:nvPr/>
        </p:nvSpPr>
        <p:spPr>
          <a:xfrm>
            <a:off x="1106424" y="3429000"/>
            <a:ext cx="1554480" cy="548640"/>
          </a:xfrm>
          <a:prstGeom prst="rect">
            <a:avLst/>
          </a:prstGeom>
          <a:noFill/>
          <a:ln/>
        </p:spPr>
        <p:txBody>
          <a:bodyPr wrap="square" lIns="0" tIns="0" rIns="0" bIns="0" rtlCol="0" anchor="t"/>
          <a:lstStyle/>
          <a:p>
            <a:pPr marL="0" indent="0">
              <a:buNone/>
            </a:pPr>
            <a:r>
              <a:rPr lang="es-PE" sz="1150" dirty="0">
                <a:solidFill>
                  <a:srgbClr val="404040"/>
                </a:solidFill>
                <a:latin typeface="Calibri" pitchFamily="34" charset="0"/>
                <a:ea typeface="Calibri" pitchFamily="34" charset="-122"/>
                <a:cs typeface="Calibri" pitchFamily="34" charset="-120"/>
              </a:rPr>
              <a:t>¿Dónde se implementará?</a:t>
            </a:r>
            <a:endParaRPr lang="es-PE" sz="1150" dirty="0"/>
          </a:p>
        </p:txBody>
      </p:sp>
      <p:sp>
        <p:nvSpPr>
          <p:cNvPr id="38" name="Shape 35"/>
          <p:cNvSpPr/>
          <p:nvPr/>
        </p:nvSpPr>
        <p:spPr>
          <a:xfrm>
            <a:off x="2743200" y="3456432"/>
            <a:ext cx="256032" cy="256032"/>
          </a:xfrm>
          <a:prstGeom prst="ellipse">
            <a:avLst/>
          </a:prstGeom>
          <a:solidFill>
            <a:srgbClr val="ED2E45"/>
          </a:solidFill>
          <a:ln w="12700">
            <a:solidFill>
              <a:srgbClr val="ED2E45"/>
            </a:solidFill>
            <a:prstDash val="solid"/>
          </a:ln>
        </p:spPr>
        <p:txBody>
          <a:bodyPr/>
          <a:lstStyle/>
          <a:p>
            <a:endParaRPr lang="es-PE"/>
          </a:p>
        </p:txBody>
      </p:sp>
      <p:sp>
        <p:nvSpPr>
          <p:cNvPr id="39" name="Text 36"/>
          <p:cNvSpPr txBox="1"/>
          <p:nvPr/>
        </p:nvSpPr>
        <p:spPr>
          <a:xfrm>
            <a:off x="2743200" y="3456432"/>
            <a:ext cx="256032" cy="256032"/>
          </a:xfrm>
          <a:prstGeom prst="rect">
            <a:avLst/>
          </a:prstGeom>
          <a:noFill/>
          <a:ln/>
        </p:spPr>
        <p:txBody>
          <a:bodyPr wrap="square" lIns="0" tIns="0" rIns="0" bIns="0" rtlCol="0" anchor="ctr"/>
          <a:lstStyle/>
          <a:p>
            <a:pPr marL="0" indent="0" algn="ctr">
              <a:buNone/>
            </a:pPr>
            <a:r>
              <a:rPr lang="es-PE" sz="1100" b="1" dirty="0">
                <a:solidFill>
                  <a:srgbClr val="FFFFFF"/>
                </a:solidFill>
                <a:latin typeface="Calibri" pitchFamily="34" charset="0"/>
                <a:ea typeface="Calibri" pitchFamily="34" charset="-122"/>
                <a:cs typeface="Calibri" pitchFamily="34" charset="-120"/>
              </a:rPr>
              <a:t>?</a:t>
            </a:r>
            <a:endParaRPr lang="es-PE" sz="1100" dirty="0"/>
          </a:p>
        </p:txBody>
      </p:sp>
      <p:sp>
        <p:nvSpPr>
          <p:cNvPr id="40" name="Text 37"/>
          <p:cNvSpPr txBox="1"/>
          <p:nvPr/>
        </p:nvSpPr>
        <p:spPr>
          <a:xfrm>
            <a:off x="3072384" y="3429000"/>
            <a:ext cx="1554480" cy="548640"/>
          </a:xfrm>
          <a:prstGeom prst="rect">
            <a:avLst/>
          </a:prstGeom>
          <a:noFill/>
          <a:ln/>
        </p:spPr>
        <p:txBody>
          <a:bodyPr wrap="square" lIns="0" tIns="0" rIns="0" bIns="0" rtlCol="0" anchor="t"/>
          <a:lstStyle/>
          <a:p>
            <a:pPr marL="0" indent="0">
              <a:buNone/>
            </a:pPr>
            <a:r>
              <a:rPr lang="es-PE" sz="1150" dirty="0">
                <a:solidFill>
                  <a:srgbClr val="404040"/>
                </a:solidFill>
                <a:latin typeface="Calibri" pitchFamily="34" charset="0"/>
                <a:ea typeface="Calibri" pitchFamily="34" charset="-122"/>
                <a:cs typeface="Calibri" pitchFamily="34" charset="-120"/>
              </a:rPr>
              <a:t>¿Qué entidad será responsable?</a:t>
            </a:r>
            <a:endParaRPr lang="es-PE" sz="1150" dirty="0"/>
          </a:p>
        </p:txBody>
      </p:sp>
      <p:sp>
        <p:nvSpPr>
          <p:cNvPr id="41" name="Shape 38"/>
          <p:cNvSpPr/>
          <p:nvPr/>
        </p:nvSpPr>
        <p:spPr>
          <a:xfrm>
            <a:off x="4709160" y="3456432"/>
            <a:ext cx="256032" cy="256032"/>
          </a:xfrm>
          <a:prstGeom prst="ellipse">
            <a:avLst/>
          </a:prstGeom>
          <a:solidFill>
            <a:srgbClr val="ED2E45"/>
          </a:solidFill>
          <a:ln w="12700">
            <a:solidFill>
              <a:srgbClr val="ED2E45"/>
            </a:solidFill>
            <a:prstDash val="solid"/>
          </a:ln>
        </p:spPr>
        <p:txBody>
          <a:bodyPr/>
          <a:lstStyle/>
          <a:p>
            <a:endParaRPr lang="es-PE"/>
          </a:p>
        </p:txBody>
      </p:sp>
      <p:sp>
        <p:nvSpPr>
          <p:cNvPr id="42" name="Text 39"/>
          <p:cNvSpPr txBox="1"/>
          <p:nvPr/>
        </p:nvSpPr>
        <p:spPr>
          <a:xfrm>
            <a:off x="4709160" y="3456432"/>
            <a:ext cx="256032" cy="256032"/>
          </a:xfrm>
          <a:prstGeom prst="rect">
            <a:avLst/>
          </a:prstGeom>
          <a:noFill/>
          <a:ln/>
        </p:spPr>
        <p:txBody>
          <a:bodyPr wrap="square" lIns="0" tIns="0" rIns="0" bIns="0" rtlCol="0" anchor="ctr"/>
          <a:lstStyle/>
          <a:p>
            <a:pPr marL="0" indent="0" algn="ctr">
              <a:buNone/>
            </a:pPr>
            <a:r>
              <a:rPr lang="es-PE" sz="1100" b="1" dirty="0">
                <a:solidFill>
                  <a:srgbClr val="FFFFFF"/>
                </a:solidFill>
                <a:latin typeface="Calibri" pitchFamily="34" charset="0"/>
                <a:ea typeface="Calibri" pitchFamily="34" charset="-122"/>
                <a:cs typeface="Calibri" pitchFamily="34" charset="-120"/>
              </a:rPr>
              <a:t>?</a:t>
            </a:r>
            <a:endParaRPr lang="es-PE" sz="1100" dirty="0"/>
          </a:p>
        </p:txBody>
      </p:sp>
      <p:sp>
        <p:nvSpPr>
          <p:cNvPr id="43" name="Text 40"/>
          <p:cNvSpPr txBox="1"/>
          <p:nvPr/>
        </p:nvSpPr>
        <p:spPr>
          <a:xfrm>
            <a:off x="5038344" y="3429000"/>
            <a:ext cx="1554480" cy="548640"/>
          </a:xfrm>
          <a:prstGeom prst="rect">
            <a:avLst/>
          </a:prstGeom>
          <a:noFill/>
          <a:ln/>
        </p:spPr>
        <p:txBody>
          <a:bodyPr wrap="square" lIns="0" tIns="0" rIns="0" bIns="0" rtlCol="0" anchor="t"/>
          <a:lstStyle/>
          <a:p>
            <a:pPr marL="0" indent="0">
              <a:buNone/>
            </a:pPr>
            <a:r>
              <a:rPr lang="es-PE" sz="1150" dirty="0">
                <a:solidFill>
                  <a:srgbClr val="404040"/>
                </a:solidFill>
                <a:latin typeface="Calibri" pitchFamily="34" charset="0"/>
                <a:ea typeface="Calibri" pitchFamily="34" charset="-122"/>
                <a:cs typeface="Calibri" pitchFamily="34" charset="-120"/>
              </a:rPr>
              <a:t>¿Qué información y recursos requiere?</a:t>
            </a:r>
            <a:endParaRPr lang="es-PE" sz="1150" dirty="0"/>
          </a:p>
        </p:txBody>
      </p:sp>
      <p:sp>
        <p:nvSpPr>
          <p:cNvPr id="44" name="Shape 41"/>
          <p:cNvSpPr/>
          <p:nvPr/>
        </p:nvSpPr>
        <p:spPr>
          <a:xfrm>
            <a:off x="6675120" y="3456432"/>
            <a:ext cx="256032" cy="256032"/>
          </a:xfrm>
          <a:prstGeom prst="ellipse">
            <a:avLst/>
          </a:prstGeom>
          <a:solidFill>
            <a:srgbClr val="ED2E45"/>
          </a:solidFill>
          <a:ln w="12700">
            <a:solidFill>
              <a:srgbClr val="ED2E45"/>
            </a:solidFill>
            <a:prstDash val="solid"/>
          </a:ln>
        </p:spPr>
        <p:txBody>
          <a:bodyPr/>
          <a:lstStyle/>
          <a:p>
            <a:endParaRPr lang="es-PE"/>
          </a:p>
        </p:txBody>
      </p:sp>
      <p:sp>
        <p:nvSpPr>
          <p:cNvPr id="45" name="Text 42"/>
          <p:cNvSpPr txBox="1"/>
          <p:nvPr/>
        </p:nvSpPr>
        <p:spPr>
          <a:xfrm>
            <a:off x="6675120" y="3456432"/>
            <a:ext cx="256032" cy="256032"/>
          </a:xfrm>
          <a:prstGeom prst="rect">
            <a:avLst/>
          </a:prstGeom>
          <a:noFill/>
          <a:ln/>
        </p:spPr>
        <p:txBody>
          <a:bodyPr wrap="square" lIns="0" tIns="0" rIns="0" bIns="0" rtlCol="0" anchor="ctr"/>
          <a:lstStyle/>
          <a:p>
            <a:pPr marL="0" indent="0" algn="ctr">
              <a:buNone/>
            </a:pPr>
            <a:r>
              <a:rPr lang="es-PE" sz="1100" b="1" dirty="0">
                <a:solidFill>
                  <a:srgbClr val="FFFFFF"/>
                </a:solidFill>
                <a:latin typeface="Calibri" pitchFamily="34" charset="0"/>
                <a:ea typeface="Calibri" pitchFamily="34" charset="-122"/>
                <a:cs typeface="Calibri" pitchFamily="34" charset="-120"/>
              </a:rPr>
              <a:t>?</a:t>
            </a:r>
            <a:endParaRPr lang="es-PE" sz="1100" dirty="0"/>
          </a:p>
        </p:txBody>
      </p:sp>
      <p:sp>
        <p:nvSpPr>
          <p:cNvPr id="46" name="Text 43"/>
          <p:cNvSpPr txBox="1"/>
          <p:nvPr/>
        </p:nvSpPr>
        <p:spPr>
          <a:xfrm>
            <a:off x="7004304" y="3429000"/>
            <a:ext cx="1554480" cy="548640"/>
          </a:xfrm>
          <a:prstGeom prst="rect">
            <a:avLst/>
          </a:prstGeom>
          <a:noFill/>
          <a:ln/>
        </p:spPr>
        <p:txBody>
          <a:bodyPr wrap="square" lIns="0" tIns="0" rIns="0" bIns="0" rtlCol="0" anchor="t"/>
          <a:lstStyle/>
          <a:p>
            <a:pPr marL="0" indent="0">
              <a:buNone/>
            </a:pPr>
            <a:r>
              <a:rPr lang="es-PE" sz="1150" dirty="0">
                <a:solidFill>
                  <a:srgbClr val="404040"/>
                </a:solidFill>
                <a:latin typeface="Calibri" pitchFamily="34" charset="0"/>
                <a:ea typeface="Calibri" pitchFamily="34" charset="-122"/>
                <a:cs typeface="Calibri" pitchFamily="34" charset="-120"/>
              </a:rPr>
              <a:t>¿Qué barreras podrían limitar el acceso de la población?</a:t>
            </a:r>
            <a:endParaRPr lang="es-PE" sz="1150" dirty="0"/>
          </a:p>
        </p:txBody>
      </p:sp>
      <p:sp>
        <p:nvSpPr>
          <p:cNvPr id="47" name="Shape 44"/>
          <p:cNvSpPr/>
          <p:nvPr/>
        </p:nvSpPr>
        <p:spPr>
          <a:xfrm>
            <a:off x="3657600" y="4155948"/>
            <a:ext cx="256032" cy="256032"/>
          </a:xfrm>
          <a:prstGeom prst="ellipse">
            <a:avLst/>
          </a:prstGeom>
          <a:solidFill>
            <a:srgbClr val="ED2E45"/>
          </a:solidFill>
          <a:ln w="12700">
            <a:solidFill>
              <a:srgbClr val="ED2E45"/>
            </a:solidFill>
            <a:prstDash val="solid"/>
          </a:ln>
        </p:spPr>
        <p:txBody>
          <a:bodyPr/>
          <a:lstStyle/>
          <a:p>
            <a:endParaRPr lang="es-PE"/>
          </a:p>
        </p:txBody>
      </p:sp>
      <p:grpSp>
        <p:nvGrpSpPr>
          <p:cNvPr id="7" name="Grupo 6">
            <a:extLst>
              <a:ext uri="{FF2B5EF4-FFF2-40B4-BE49-F238E27FC236}">
                <a16:creationId xmlns:a16="http://schemas.microsoft.com/office/drawing/2014/main" id="{AB50D6F3-708F-F7C1-B204-2D381B96619C}"/>
              </a:ext>
            </a:extLst>
          </p:cNvPr>
          <p:cNvGrpSpPr/>
          <p:nvPr/>
        </p:nvGrpSpPr>
        <p:grpSpPr>
          <a:xfrm>
            <a:off x="3675888" y="4114800"/>
            <a:ext cx="1883664" cy="548640"/>
            <a:chOff x="777240" y="4069080"/>
            <a:chExt cx="1883664" cy="548640"/>
          </a:xfrm>
        </p:grpSpPr>
        <p:sp>
          <p:nvSpPr>
            <p:cNvPr id="48" name="Text 45"/>
            <p:cNvSpPr txBox="1"/>
            <p:nvPr/>
          </p:nvSpPr>
          <p:spPr>
            <a:xfrm>
              <a:off x="777240" y="4096512"/>
              <a:ext cx="256032" cy="256032"/>
            </a:xfrm>
            <a:prstGeom prst="rect">
              <a:avLst/>
            </a:prstGeom>
            <a:noFill/>
            <a:ln/>
          </p:spPr>
          <p:txBody>
            <a:bodyPr wrap="square" lIns="0" tIns="0" rIns="0" bIns="0" rtlCol="0" anchor="ctr"/>
            <a:lstStyle/>
            <a:p>
              <a:pPr marL="0" indent="0" algn="ctr">
                <a:buNone/>
              </a:pPr>
              <a:r>
                <a:rPr lang="es-PE" sz="1100" b="1" dirty="0">
                  <a:solidFill>
                    <a:srgbClr val="FFFFFF"/>
                  </a:solidFill>
                  <a:latin typeface="Calibri" pitchFamily="34" charset="0"/>
                  <a:ea typeface="Calibri" pitchFamily="34" charset="-122"/>
                  <a:cs typeface="Calibri" pitchFamily="34" charset="-120"/>
                </a:rPr>
                <a:t>?</a:t>
              </a:r>
              <a:endParaRPr lang="es-PE" sz="1100" dirty="0"/>
            </a:p>
          </p:txBody>
        </p:sp>
        <p:sp>
          <p:nvSpPr>
            <p:cNvPr id="49" name="Text 46"/>
            <p:cNvSpPr txBox="1"/>
            <p:nvPr/>
          </p:nvSpPr>
          <p:spPr>
            <a:xfrm>
              <a:off x="1106424" y="4069080"/>
              <a:ext cx="1554480" cy="548640"/>
            </a:xfrm>
            <a:prstGeom prst="rect">
              <a:avLst/>
            </a:prstGeom>
            <a:noFill/>
            <a:ln/>
          </p:spPr>
          <p:txBody>
            <a:bodyPr wrap="square" lIns="0" tIns="0" rIns="0" bIns="0" rtlCol="0" anchor="t"/>
            <a:lstStyle/>
            <a:p>
              <a:pPr marL="0" indent="0">
                <a:buNone/>
              </a:pPr>
              <a:r>
                <a:rPr lang="es-PE" sz="1150" dirty="0">
                  <a:solidFill>
                    <a:srgbClr val="404040"/>
                  </a:solidFill>
                  <a:latin typeface="Calibri" pitchFamily="34" charset="0"/>
                  <a:ea typeface="Calibri" pitchFamily="34" charset="-122"/>
                  <a:cs typeface="Calibri" pitchFamily="34" charset="-120"/>
                </a:rPr>
                <a:t>¿Con qué indicador verificaremos el resultado?</a:t>
              </a:r>
              <a:endParaRPr lang="es-PE" sz="1150" dirty="0"/>
            </a:p>
          </p:txBody>
        </p:sp>
      </p:grpSp>
      <p:pic>
        <p:nvPicPr>
          <p:cNvPr id="56" name="Image 0" descr="a/logo_mimp_h.png"/>
          <p:cNvPicPr>
            <a:picLocks noChangeAspect="1"/>
          </p:cNvPicPr>
          <p:nvPr/>
        </p:nvPicPr>
        <p:blipFill>
          <a:blip r:embed="rId4"/>
          <a:stretch>
            <a:fillRect/>
          </a:stretch>
        </p:blipFill>
        <p:spPr>
          <a:xfrm>
            <a:off x="184709" y="110642"/>
            <a:ext cx="1790395" cy="417881"/>
          </a:xfrm>
          <a:prstGeom prst="rect">
            <a:avLst/>
          </a:prstGeom>
        </p:spPr>
      </p:pic>
      <p:pic>
        <p:nvPicPr>
          <p:cNvPr id="57" name="Image 1" descr="a/logo_30.png"/>
          <p:cNvPicPr>
            <a:picLocks noChangeAspect="1"/>
          </p:cNvPicPr>
          <p:nvPr/>
        </p:nvPicPr>
        <p:blipFill>
          <a:blip r:embed="rId5"/>
          <a:stretch>
            <a:fillRect/>
          </a:stretch>
        </p:blipFill>
        <p:spPr>
          <a:xfrm>
            <a:off x="3611880" y="2743"/>
            <a:ext cx="1158545" cy="622706"/>
          </a:xfrm>
          <a:prstGeom prst="rect">
            <a:avLst/>
          </a:prstGeom>
        </p:spPr>
      </p:pic>
      <p:pic>
        <p:nvPicPr>
          <p:cNvPr id="58" name="Image 2" descr="a/logo_peru_responde.png"/>
          <p:cNvPicPr>
            <a:picLocks noChangeAspect="1"/>
          </p:cNvPicPr>
          <p:nvPr/>
        </p:nvPicPr>
        <p:blipFill>
          <a:blip r:embed="rId6"/>
          <a:stretch>
            <a:fillRect/>
          </a:stretch>
        </p:blipFill>
        <p:spPr>
          <a:xfrm>
            <a:off x="7299655" y="102413"/>
            <a:ext cx="1602943" cy="475488"/>
          </a:xfrm>
          <a:prstGeom prst="rect">
            <a:avLst/>
          </a:prstGeom>
        </p:spPr>
      </p:pic>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65192"/>
            <a:ext cx="9144000" cy="178308"/>
          </a:xfrm>
          <a:prstGeom prst="rect">
            <a:avLst/>
          </a:prstGeom>
          <a:solidFill>
            <a:srgbClr val="ED2E45"/>
          </a:solidFill>
          <a:ln w="12700">
            <a:solidFill>
              <a:srgbClr val="ED2E45"/>
            </a:solidFill>
            <a:prstDash val="solid"/>
          </a:ln>
        </p:spPr>
        <p:txBody>
          <a:bodyPr/>
          <a:lstStyle/>
          <a:p>
            <a:endParaRPr lang="es-PE"/>
          </a:p>
        </p:txBody>
      </p:sp>
      <p:sp>
        <p:nvSpPr>
          <p:cNvPr id="3" name="Text 1"/>
          <p:cNvSpPr txBox="1"/>
          <p:nvPr/>
        </p:nvSpPr>
        <p:spPr>
          <a:xfrm>
            <a:off x="54864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 · COMPRENDER</a:t>
            </a:r>
            <a:endParaRPr lang="en-US" sz="750" dirty="0"/>
          </a:p>
        </p:txBody>
      </p:sp>
      <p:sp>
        <p:nvSpPr>
          <p:cNvPr id="4" name="Text 2"/>
          <p:cNvSpPr txBox="1"/>
          <p:nvPr/>
        </p:nvSpPr>
        <p:spPr>
          <a:xfrm>
            <a:off x="2560320" y="4965192"/>
            <a:ext cx="2011680" cy="178308"/>
          </a:xfrm>
          <a:prstGeom prst="rect">
            <a:avLst/>
          </a:prstGeom>
          <a:noFill/>
          <a:ln/>
        </p:spPr>
        <p:txBody>
          <a:bodyPr wrap="square" lIns="0" tIns="0" rIns="0" bIns="0" rtlCol="0" anchor="ctr"/>
          <a:lstStyle/>
          <a:p>
            <a:pPr marL="0" indent="0">
              <a:buNone/>
            </a:pPr>
            <a:r>
              <a:rPr lang="en-US" sz="750" b="1" kern="0" spc="100" dirty="0">
                <a:solidFill>
                  <a:srgbClr val="FFFFFF"/>
                </a:solidFill>
                <a:latin typeface="Calibri" pitchFamily="34" charset="0"/>
                <a:ea typeface="Calibri" pitchFamily="34" charset="-122"/>
                <a:cs typeface="Calibri" pitchFamily="34" charset="-120"/>
              </a:rPr>
              <a:t>II · DISEÑAR</a:t>
            </a:r>
            <a:endParaRPr lang="en-US" sz="750" dirty="0"/>
          </a:p>
        </p:txBody>
      </p:sp>
      <p:sp>
        <p:nvSpPr>
          <p:cNvPr id="5" name="Text 3"/>
          <p:cNvSpPr txBox="1"/>
          <p:nvPr/>
        </p:nvSpPr>
        <p:spPr>
          <a:xfrm>
            <a:off x="457200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III · VALIDAR</a:t>
            </a:r>
            <a:endParaRPr lang="en-US" sz="750" dirty="0"/>
          </a:p>
        </p:txBody>
      </p:sp>
      <p:sp>
        <p:nvSpPr>
          <p:cNvPr id="6" name="Text 4"/>
          <p:cNvSpPr txBox="1"/>
          <p:nvPr/>
        </p:nvSpPr>
        <p:spPr>
          <a:xfrm>
            <a:off x="658368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IV · COMUNICAR</a:t>
            </a:r>
            <a:endParaRPr lang="en-US" sz="750" dirty="0"/>
          </a:p>
        </p:txBody>
      </p:sp>
      <p:sp>
        <p:nvSpPr>
          <p:cNvPr id="8" name="Text 5"/>
          <p:cNvSpPr txBox="1"/>
          <p:nvPr/>
        </p:nvSpPr>
        <p:spPr>
          <a:xfrm>
            <a:off x="548640" y="731520"/>
            <a:ext cx="8046720" cy="502920"/>
          </a:xfrm>
          <a:prstGeom prst="rect">
            <a:avLst/>
          </a:prstGeom>
          <a:noFill/>
          <a:ln/>
        </p:spPr>
        <p:txBody>
          <a:bodyPr wrap="square" lIns="0" tIns="0" rIns="0" bIns="0" rtlCol="0" anchor="ctr"/>
          <a:lstStyle/>
          <a:p>
            <a:pPr marL="0" indent="0">
              <a:buNone/>
            </a:pPr>
            <a:r>
              <a:rPr lang="en-US" sz="2000" b="1" dirty="0">
                <a:solidFill>
                  <a:srgbClr val="ED2E45"/>
                </a:solidFill>
                <a:latin typeface="Montserrat" pitchFamily="34" charset="0"/>
                <a:ea typeface="Montserrat" pitchFamily="34" charset="-122"/>
                <a:cs typeface="Montserrat" pitchFamily="34" charset="-120"/>
              </a:rPr>
              <a:t>De la </a:t>
            </a:r>
            <a:r>
              <a:rPr lang="en-US" sz="2000" b="1" dirty="0" err="1">
                <a:solidFill>
                  <a:srgbClr val="ED2E45"/>
                </a:solidFill>
                <a:latin typeface="Montserrat" pitchFamily="34" charset="0"/>
                <a:ea typeface="Montserrat" pitchFamily="34" charset="-122"/>
                <a:cs typeface="Montserrat" pitchFamily="34" charset="-120"/>
              </a:rPr>
              <a:t>solución</a:t>
            </a:r>
            <a:r>
              <a:rPr lang="en-US" sz="2000" b="1" dirty="0">
                <a:solidFill>
                  <a:srgbClr val="ED2E45"/>
                </a:solidFill>
                <a:latin typeface="Montserrat" pitchFamily="34" charset="0"/>
                <a:ea typeface="Montserrat" pitchFamily="34" charset="-122"/>
                <a:cs typeface="Montserrat" pitchFamily="34" charset="-120"/>
              </a:rPr>
              <a:t> a la </a:t>
            </a:r>
            <a:r>
              <a:rPr lang="en-US" sz="2000" b="1" dirty="0" err="1">
                <a:solidFill>
                  <a:srgbClr val="ED2E45"/>
                </a:solidFill>
                <a:latin typeface="Montserrat" pitchFamily="34" charset="0"/>
                <a:ea typeface="Montserrat" pitchFamily="34" charset="-122"/>
                <a:cs typeface="Montserrat" pitchFamily="34" charset="-120"/>
              </a:rPr>
              <a:t>respuesta</a:t>
            </a:r>
            <a:r>
              <a:rPr lang="en-US" sz="2000" b="1" dirty="0">
                <a:solidFill>
                  <a:srgbClr val="ED2E45"/>
                </a:solidFill>
                <a:latin typeface="Montserrat" pitchFamily="34" charset="0"/>
                <a:ea typeface="Montserrat" pitchFamily="34" charset="-122"/>
                <a:cs typeface="Montserrat" pitchFamily="34" charset="-120"/>
              </a:rPr>
              <a:t> </a:t>
            </a:r>
            <a:r>
              <a:rPr lang="en-US" sz="2000" b="1" dirty="0" err="1">
                <a:solidFill>
                  <a:srgbClr val="ED2E45"/>
                </a:solidFill>
                <a:latin typeface="Montserrat" pitchFamily="34" charset="0"/>
                <a:ea typeface="Montserrat" pitchFamily="34" charset="-122"/>
                <a:cs typeface="Montserrat" pitchFamily="34" charset="-120"/>
              </a:rPr>
              <a:t>institucional</a:t>
            </a:r>
            <a:r>
              <a:rPr lang="en-US" sz="2000" b="1" dirty="0">
                <a:solidFill>
                  <a:srgbClr val="ED2E45"/>
                </a:solidFill>
                <a:latin typeface="Montserrat" pitchFamily="34" charset="0"/>
                <a:ea typeface="Montserrat" pitchFamily="34" charset="-122"/>
                <a:cs typeface="Montserrat" pitchFamily="34" charset="-120"/>
              </a:rPr>
              <a:t> del sector </a:t>
            </a:r>
            <a:r>
              <a:rPr lang="en-US" sz="2000" b="1" dirty="0" err="1">
                <a:solidFill>
                  <a:srgbClr val="ED2E45"/>
                </a:solidFill>
                <a:latin typeface="Montserrat" pitchFamily="34" charset="0"/>
                <a:ea typeface="Montserrat" pitchFamily="34" charset="-122"/>
                <a:cs typeface="Montserrat" pitchFamily="34" charset="-120"/>
              </a:rPr>
              <a:t>público</a:t>
            </a:r>
            <a:endParaRPr lang="en-US" sz="2000" dirty="0"/>
          </a:p>
        </p:txBody>
      </p:sp>
      <p:sp>
        <p:nvSpPr>
          <p:cNvPr id="9" name="Text 6"/>
          <p:cNvSpPr txBox="1"/>
          <p:nvPr/>
        </p:nvSpPr>
        <p:spPr>
          <a:xfrm>
            <a:off x="548640" y="1216152"/>
            <a:ext cx="8046720" cy="274320"/>
          </a:xfrm>
          <a:prstGeom prst="rect">
            <a:avLst/>
          </a:prstGeom>
          <a:noFill/>
          <a:ln/>
        </p:spPr>
        <p:txBody>
          <a:bodyPr wrap="square" lIns="0" tIns="0" rIns="0" bIns="0" rtlCol="0" anchor="ctr"/>
          <a:lstStyle/>
          <a:p>
            <a:pPr marL="0" indent="0">
              <a:buNone/>
            </a:pPr>
            <a:r>
              <a:rPr lang="en-US" sz="1250" dirty="0">
                <a:solidFill>
                  <a:srgbClr val="6B6B6B"/>
                </a:solidFill>
                <a:latin typeface="Calibri" pitchFamily="34" charset="0"/>
                <a:ea typeface="Calibri" pitchFamily="34" charset="-122"/>
                <a:cs typeface="Calibri" pitchFamily="34" charset="-120"/>
              </a:rPr>
              <a:t>¿</a:t>
            </a:r>
            <a:r>
              <a:rPr lang="en-US" sz="1250" dirty="0" err="1">
                <a:solidFill>
                  <a:srgbClr val="6B6B6B"/>
                </a:solidFill>
                <a:latin typeface="Calibri" pitchFamily="34" charset="0"/>
                <a:ea typeface="Calibri" pitchFamily="34" charset="-122"/>
                <a:cs typeface="Calibri" pitchFamily="34" charset="-120"/>
              </a:rPr>
              <a:t>Qué</a:t>
            </a:r>
            <a:r>
              <a:rPr lang="en-US" sz="1250" dirty="0">
                <a:solidFill>
                  <a:srgbClr val="6B6B6B"/>
                </a:solidFill>
                <a:latin typeface="Calibri" pitchFamily="34" charset="0"/>
                <a:ea typeface="Calibri" pitchFamily="34" charset="-122"/>
                <a:cs typeface="Calibri" pitchFamily="34" charset="-120"/>
              </a:rPr>
              <a:t> decision, </a:t>
            </a:r>
            <a:r>
              <a:rPr lang="en-US" sz="1250" dirty="0" err="1">
                <a:solidFill>
                  <a:srgbClr val="6B6B6B"/>
                </a:solidFill>
                <a:latin typeface="Calibri" pitchFamily="34" charset="0"/>
                <a:ea typeface="Calibri" pitchFamily="34" charset="-122"/>
                <a:cs typeface="Calibri" pitchFamily="34" charset="-120"/>
              </a:rPr>
              <a:t>proceso</a:t>
            </a:r>
            <a:r>
              <a:rPr lang="en-US" sz="1250" dirty="0">
                <a:solidFill>
                  <a:srgbClr val="6B6B6B"/>
                </a:solidFill>
                <a:latin typeface="Calibri" pitchFamily="34" charset="0"/>
                <a:ea typeface="Calibri" pitchFamily="34" charset="-122"/>
                <a:cs typeface="Calibri" pitchFamily="34" charset="-120"/>
              </a:rPr>
              <a:t> o </a:t>
            </a:r>
            <a:r>
              <a:rPr lang="en-US" sz="1250" dirty="0" err="1">
                <a:solidFill>
                  <a:srgbClr val="6B6B6B"/>
                </a:solidFill>
                <a:latin typeface="Calibri" pitchFamily="34" charset="0"/>
                <a:ea typeface="Calibri" pitchFamily="34" charset="-122"/>
                <a:cs typeface="Calibri" pitchFamily="34" charset="-120"/>
              </a:rPr>
              <a:t>servicio</a:t>
            </a:r>
            <a:r>
              <a:rPr lang="en-US" sz="1250" dirty="0">
                <a:solidFill>
                  <a:srgbClr val="6B6B6B"/>
                </a:solidFill>
                <a:latin typeface="Calibri" pitchFamily="34" charset="0"/>
                <a:ea typeface="Calibri" pitchFamily="34" charset="-122"/>
                <a:cs typeface="Calibri" pitchFamily="34" charset="-120"/>
              </a:rPr>
              <a:t> </a:t>
            </a:r>
            <a:r>
              <a:rPr lang="en-US" sz="1250" dirty="0" err="1">
                <a:solidFill>
                  <a:srgbClr val="6B6B6B"/>
                </a:solidFill>
                <a:latin typeface="Calibri" pitchFamily="34" charset="0"/>
                <a:ea typeface="Calibri" pitchFamily="34" charset="-122"/>
                <a:cs typeface="Calibri" pitchFamily="34" charset="-120"/>
              </a:rPr>
              <a:t>público</a:t>
            </a:r>
            <a:r>
              <a:rPr lang="en-US" sz="1250" dirty="0">
                <a:solidFill>
                  <a:srgbClr val="6B6B6B"/>
                </a:solidFill>
                <a:latin typeface="Calibri" pitchFamily="34" charset="0"/>
                <a:ea typeface="Calibri" pitchFamily="34" charset="-122"/>
                <a:cs typeface="Calibri" pitchFamily="34" charset="-120"/>
              </a:rPr>
              <a:t> </a:t>
            </a:r>
            <a:r>
              <a:rPr lang="en-US" sz="1250" dirty="0" err="1">
                <a:solidFill>
                  <a:srgbClr val="6B6B6B"/>
                </a:solidFill>
                <a:latin typeface="Calibri" pitchFamily="34" charset="0"/>
                <a:ea typeface="Calibri" pitchFamily="34" charset="-122"/>
                <a:cs typeface="Calibri" pitchFamily="34" charset="-120"/>
              </a:rPr>
              <a:t>contribuirá</a:t>
            </a:r>
            <a:r>
              <a:rPr lang="en-US" sz="1250" dirty="0">
                <a:solidFill>
                  <a:srgbClr val="6B6B6B"/>
                </a:solidFill>
                <a:latin typeface="Calibri" pitchFamily="34" charset="0"/>
                <a:ea typeface="Calibri" pitchFamily="34" charset="-122"/>
                <a:cs typeface="Calibri" pitchFamily="34" charset="-120"/>
              </a:rPr>
              <a:t> a </a:t>
            </a:r>
            <a:r>
              <a:rPr lang="en-US" sz="1250" dirty="0" err="1">
                <a:solidFill>
                  <a:srgbClr val="6B6B6B"/>
                </a:solidFill>
                <a:latin typeface="Calibri" pitchFamily="34" charset="0"/>
                <a:ea typeface="Calibri" pitchFamily="34" charset="-122"/>
                <a:cs typeface="Calibri" pitchFamily="34" charset="-120"/>
              </a:rPr>
              <a:t>mejorar</a:t>
            </a:r>
            <a:r>
              <a:rPr lang="en-US" sz="1250" dirty="0">
                <a:solidFill>
                  <a:srgbClr val="6B6B6B"/>
                </a:solidFill>
                <a:latin typeface="Calibri" pitchFamily="34" charset="0"/>
                <a:ea typeface="Calibri" pitchFamily="34" charset="-122"/>
                <a:cs typeface="Calibri" pitchFamily="34" charset="-120"/>
              </a:rPr>
              <a:t> la </a:t>
            </a:r>
            <a:r>
              <a:rPr lang="en-US" sz="1250" dirty="0" err="1">
                <a:solidFill>
                  <a:srgbClr val="6B6B6B"/>
                </a:solidFill>
                <a:latin typeface="Calibri" pitchFamily="34" charset="0"/>
                <a:ea typeface="Calibri" pitchFamily="34" charset="-122"/>
                <a:cs typeface="Calibri" pitchFamily="34" charset="-120"/>
              </a:rPr>
              <a:t>propuesta</a:t>
            </a:r>
            <a:r>
              <a:rPr lang="en-US" sz="1250" dirty="0">
                <a:solidFill>
                  <a:srgbClr val="6B6B6B"/>
                </a:solidFill>
                <a:latin typeface="Calibri" pitchFamily="34" charset="0"/>
                <a:ea typeface="Calibri" pitchFamily="34" charset="-122"/>
                <a:cs typeface="Calibri" pitchFamily="34" charset="-120"/>
              </a:rPr>
              <a:t>?</a:t>
            </a:r>
            <a:endParaRPr lang="en-US" sz="1250" dirty="0"/>
          </a:p>
        </p:txBody>
      </p:sp>
      <p:sp>
        <p:nvSpPr>
          <p:cNvPr id="28" name="Shape 25"/>
          <p:cNvSpPr/>
          <p:nvPr/>
        </p:nvSpPr>
        <p:spPr>
          <a:xfrm>
            <a:off x="498395" y="3861054"/>
            <a:ext cx="4754880" cy="866013"/>
          </a:xfrm>
          <a:prstGeom prst="roundRect">
            <a:avLst>
              <a:gd name="adj" fmla="val 6154"/>
            </a:avLst>
          </a:prstGeom>
          <a:solidFill>
            <a:srgbClr val="FFFFFF"/>
          </a:solidFill>
          <a:ln w="12700">
            <a:solidFill>
              <a:srgbClr val="ED2E45"/>
            </a:solidFill>
            <a:prstDash val="solid"/>
          </a:ln>
        </p:spPr>
        <p:txBody>
          <a:bodyPr/>
          <a:lstStyle/>
          <a:p>
            <a:endParaRPr lang="es-PE"/>
          </a:p>
        </p:txBody>
      </p:sp>
      <p:sp>
        <p:nvSpPr>
          <p:cNvPr id="29" name="Shape 26"/>
          <p:cNvSpPr/>
          <p:nvPr/>
        </p:nvSpPr>
        <p:spPr>
          <a:xfrm>
            <a:off x="586694" y="3666363"/>
            <a:ext cx="868680" cy="237744"/>
          </a:xfrm>
          <a:prstGeom prst="roundRect">
            <a:avLst>
              <a:gd name="adj" fmla="val 50000"/>
            </a:avLst>
          </a:prstGeom>
          <a:solidFill>
            <a:srgbClr val="ED2E45"/>
          </a:solidFill>
          <a:ln w="12700">
            <a:solidFill>
              <a:srgbClr val="ED2E45"/>
            </a:solidFill>
            <a:prstDash val="solid"/>
          </a:ln>
        </p:spPr>
        <p:txBody>
          <a:bodyPr/>
          <a:lstStyle/>
          <a:p>
            <a:endParaRPr lang="es-PE"/>
          </a:p>
        </p:txBody>
      </p:sp>
      <p:sp>
        <p:nvSpPr>
          <p:cNvPr id="30" name="Text 27"/>
          <p:cNvSpPr txBox="1"/>
          <p:nvPr/>
        </p:nvSpPr>
        <p:spPr>
          <a:xfrm>
            <a:off x="608122" y="3695472"/>
            <a:ext cx="868680" cy="237744"/>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¿QUÉ ES?</a:t>
            </a:r>
            <a:endParaRPr lang="en-US" sz="850" dirty="0"/>
          </a:p>
        </p:txBody>
      </p:sp>
      <p:sp>
        <p:nvSpPr>
          <p:cNvPr id="31" name="Text 28"/>
          <p:cNvSpPr txBox="1"/>
          <p:nvPr/>
        </p:nvSpPr>
        <p:spPr>
          <a:xfrm>
            <a:off x="656985" y="3876523"/>
            <a:ext cx="4480560" cy="940079"/>
          </a:xfrm>
          <a:prstGeom prst="rect">
            <a:avLst/>
          </a:prstGeom>
          <a:noFill/>
          <a:ln/>
        </p:spPr>
        <p:txBody>
          <a:bodyPr wrap="square" lIns="0" tIns="0" rIns="0" bIns="0" rtlCol="0" anchor="ctr"/>
          <a:lstStyle/>
          <a:p>
            <a:pPr algn="just"/>
            <a:r>
              <a:rPr lang="en-US" sz="1050" b="1" dirty="0">
                <a:solidFill>
                  <a:srgbClr val="ED2E45"/>
                </a:solidFill>
                <a:latin typeface="Calibri" pitchFamily="34" charset="0"/>
                <a:ea typeface="Calibri" pitchFamily="34" charset="-122"/>
                <a:cs typeface="Calibri" pitchFamily="34" charset="-120"/>
              </a:rPr>
              <a:t>Instrumento de política pública: </a:t>
            </a:r>
            <a:r>
              <a:rPr lang="es-MX" sz="1050" dirty="0"/>
              <a:t>Es un medio que utiliza el Estado para atender un problema público, como una norma, un programa, un servicio o un protocolo.</a:t>
            </a:r>
            <a:endParaRPr lang="en-US" sz="1050" dirty="0"/>
          </a:p>
        </p:txBody>
      </p:sp>
      <p:grpSp>
        <p:nvGrpSpPr>
          <p:cNvPr id="54" name="Grupo 53">
            <a:extLst>
              <a:ext uri="{FF2B5EF4-FFF2-40B4-BE49-F238E27FC236}">
                <a16:creationId xmlns:a16="http://schemas.microsoft.com/office/drawing/2014/main" id="{A892FEC2-F993-2233-F109-E193ADB73092}"/>
              </a:ext>
            </a:extLst>
          </p:cNvPr>
          <p:cNvGrpSpPr/>
          <p:nvPr/>
        </p:nvGrpSpPr>
        <p:grpSpPr>
          <a:xfrm>
            <a:off x="5862077" y="1600200"/>
            <a:ext cx="3017520" cy="3172968"/>
            <a:chOff x="5577840" y="1600200"/>
            <a:chExt cx="3017520" cy="3172968"/>
          </a:xfrm>
        </p:grpSpPr>
        <p:pic>
          <p:nvPicPr>
            <p:cNvPr id="32" name="Image 0" descr="a/foto2.png"/>
            <p:cNvPicPr>
              <a:picLocks noChangeAspect="1"/>
            </p:cNvPicPr>
            <p:nvPr/>
          </p:nvPicPr>
          <p:blipFill>
            <a:blip r:embed="rId4"/>
            <a:srcRect/>
            <a:stretch/>
          </p:blipFill>
          <p:spPr>
            <a:xfrm>
              <a:off x="5577840" y="1600200"/>
              <a:ext cx="1463040" cy="1417320"/>
            </a:xfrm>
            <a:prstGeom prst="rect">
              <a:avLst/>
            </a:prstGeom>
          </p:spPr>
        </p:pic>
        <p:pic>
          <p:nvPicPr>
            <p:cNvPr id="33" name="Image 1" descr="a/foto4.png"/>
            <p:cNvPicPr>
              <a:picLocks noChangeAspect="1"/>
            </p:cNvPicPr>
            <p:nvPr/>
          </p:nvPicPr>
          <p:blipFill>
            <a:blip r:embed="rId5"/>
            <a:srcRect/>
            <a:stretch/>
          </p:blipFill>
          <p:spPr>
            <a:xfrm>
              <a:off x="7132320" y="1600200"/>
              <a:ext cx="1463040" cy="1417320"/>
            </a:xfrm>
            <a:prstGeom prst="rect">
              <a:avLst/>
            </a:prstGeom>
          </p:spPr>
        </p:pic>
        <p:pic>
          <p:nvPicPr>
            <p:cNvPr id="34" name="Image 2" descr="a/foto5.png"/>
            <p:cNvPicPr>
              <a:picLocks noChangeAspect="1"/>
            </p:cNvPicPr>
            <p:nvPr/>
          </p:nvPicPr>
          <p:blipFill>
            <a:blip r:embed="rId6"/>
            <a:srcRect/>
            <a:stretch/>
          </p:blipFill>
          <p:spPr>
            <a:xfrm>
              <a:off x="5577840" y="3108960"/>
              <a:ext cx="3017520" cy="1325880"/>
            </a:xfrm>
            <a:prstGeom prst="rect">
              <a:avLst/>
            </a:prstGeom>
          </p:spPr>
        </p:pic>
        <p:sp>
          <p:nvSpPr>
            <p:cNvPr id="35" name="Text 29"/>
            <p:cNvSpPr txBox="1"/>
            <p:nvPr/>
          </p:nvSpPr>
          <p:spPr>
            <a:xfrm>
              <a:off x="5577840" y="4498848"/>
              <a:ext cx="3017520" cy="274320"/>
            </a:xfrm>
            <a:prstGeom prst="rect">
              <a:avLst/>
            </a:prstGeom>
            <a:noFill/>
            <a:ln/>
          </p:spPr>
          <p:txBody>
            <a:bodyPr wrap="square" lIns="0" tIns="0" rIns="0" bIns="0" rtlCol="0" anchor="t"/>
            <a:lstStyle/>
            <a:p>
              <a:pPr marL="0" indent="0">
                <a:buNone/>
              </a:pPr>
              <a:r>
                <a:rPr lang="en-US" sz="900" i="1" dirty="0">
                  <a:solidFill>
                    <a:srgbClr val="6B6B6B"/>
                  </a:solidFill>
                  <a:latin typeface="Calibri" pitchFamily="34" charset="0"/>
                  <a:ea typeface="Calibri" pitchFamily="34" charset="-122"/>
                  <a:cs typeface="Calibri" pitchFamily="34" charset="-120"/>
                </a:rPr>
                <a:t>Servicios del MIMP: CEMF, Línea 100 y atención en territorio</a:t>
              </a:r>
              <a:endParaRPr lang="en-US" sz="900" dirty="0"/>
            </a:p>
          </p:txBody>
        </p:sp>
      </p:grpSp>
      <p:pic>
        <p:nvPicPr>
          <p:cNvPr id="36" name="Image 3" descr="a/logo_mimp_h.png"/>
          <p:cNvPicPr>
            <a:picLocks noChangeAspect="1"/>
          </p:cNvPicPr>
          <p:nvPr/>
        </p:nvPicPr>
        <p:blipFill>
          <a:blip r:embed="rId7"/>
          <a:stretch>
            <a:fillRect/>
          </a:stretch>
        </p:blipFill>
        <p:spPr>
          <a:xfrm>
            <a:off x="184709" y="110642"/>
            <a:ext cx="1790395" cy="417881"/>
          </a:xfrm>
          <a:prstGeom prst="rect">
            <a:avLst/>
          </a:prstGeom>
        </p:spPr>
      </p:pic>
      <p:pic>
        <p:nvPicPr>
          <p:cNvPr id="37" name="Image 4" descr="a/logo_30.png"/>
          <p:cNvPicPr>
            <a:picLocks noChangeAspect="1"/>
          </p:cNvPicPr>
          <p:nvPr/>
        </p:nvPicPr>
        <p:blipFill>
          <a:blip r:embed="rId8"/>
          <a:stretch>
            <a:fillRect/>
          </a:stretch>
        </p:blipFill>
        <p:spPr>
          <a:xfrm>
            <a:off x="3611880" y="2743"/>
            <a:ext cx="1158545" cy="622706"/>
          </a:xfrm>
          <a:prstGeom prst="rect">
            <a:avLst/>
          </a:prstGeom>
        </p:spPr>
      </p:pic>
      <p:pic>
        <p:nvPicPr>
          <p:cNvPr id="38" name="Image 5" descr="a/logo_peru_responde.png"/>
          <p:cNvPicPr>
            <a:picLocks noChangeAspect="1"/>
          </p:cNvPicPr>
          <p:nvPr/>
        </p:nvPicPr>
        <p:blipFill>
          <a:blip r:embed="rId9"/>
          <a:stretch>
            <a:fillRect/>
          </a:stretch>
        </p:blipFill>
        <p:spPr>
          <a:xfrm>
            <a:off x="7299655" y="102413"/>
            <a:ext cx="1602943" cy="475488"/>
          </a:xfrm>
          <a:prstGeom prst="rect">
            <a:avLst/>
          </a:prstGeom>
        </p:spPr>
      </p:pic>
      <p:grpSp>
        <p:nvGrpSpPr>
          <p:cNvPr id="40" name="Grupo 39">
            <a:extLst>
              <a:ext uri="{FF2B5EF4-FFF2-40B4-BE49-F238E27FC236}">
                <a16:creationId xmlns:a16="http://schemas.microsoft.com/office/drawing/2014/main" id="{F0D94616-8C76-2D77-FED8-B46C396A2765}"/>
              </a:ext>
            </a:extLst>
          </p:cNvPr>
          <p:cNvGrpSpPr/>
          <p:nvPr/>
        </p:nvGrpSpPr>
        <p:grpSpPr>
          <a:xfrm>
            <a:off x="404813" y="1657731"/>
            <a:ext cx="548640" cy="548640"/>
            <a:chOff x="337662" y="1554480"/>
            <a:chExt cx="548640" cy="548640"/>
          </a:xfrm>
        </p:grpSpPr>
        <p:sp>
          <p:nvSpPr>
            <p:cNvPr id="7" name="Shape 7">
              <a:extLst>
                <a:ext uri="{FF2B5EF4-FFF2-40B4-BE49-F238E27FC236}">
                  <a16:creationId xmlns:a16="http://schemas.microsoft.com/office/drawing/2014/main" id="{811EAC29-5DFA-2E29-F6B1-900DD4294D3E}"/>
                </a:ext>
              </a:extLst>
            </p:cNvPr>
            <p:cNvSpPr/>
            <p:nvPr/>
          </p:nvSpPr>
          <p:spPr>
            <a:xfrm>
              <a:off x="337662" y="1554480"/>
              <a:ext cx="548640" cy="548640"/>
            </a:xfrm>
            <a:prstGeom prst="ellipse">
              <a:avLst/>
            </a:prstGeom>
            <a:solidFill>
              <a:srgbClr val="ED2E45"/>
            </a:solidFill>
            <a:ln w="12700">
              <a:solidFill>
                <a:srgbClr val="FFFFFF"/>
              </a:solidFill>
              <a:prstDash val="solid"/>
            </a:ln>
          </p:spPr>
          <p:txBody>
            <a:bodyPr/>
            <a:lstStyle/>
            <a:p>
              <a:endParaRPr lang="es-PE"/>
            </a:p>
          </p:txBody>
        </p:sp>
        <p:sp>
          <p:nvSpPr>
            <p:cNvPr id="39" name="Text 8">
              <a:extLst>
                <a:ext uri="{FF2B5EF4-FFF2-40B4-BE49-F238E27FC236}">
                  <a16:creationId xmlns:a16="http://schemas.microsoft.com/office/drawing/2014/main" id="{054532E9-7C15-E591-B75C-A6EAC7811C00}"/>
                </a:ext>
              </a:extLst>
            </p:cNvPr>
            <p:cNvSpPr txBox="1"/>
            <p:nvPr/>
          </p:nvSpPr>
          <p:spPr>
            <a:xfrm>
              <a:off x="409337" y="1581912"/>
              <a:ext cx="405289" cy="438912"/>
            </a:xfrm>
            <a:prstGeom prst="rect">
              <a:avLst/>
            </a:prstGeom>
            <a:noFill/>
            <a:ln/>
          </p:spPr>
          <p:txBody>
            <a:bodyPr wrap="square" lIns="0" tIns="0" rIns="0" bIns="0" rtlCol="0" anchor="ctr"/>
            <a:lstStyle/>
            <a:p>
              <a:pPr marL="0" indent="0" algn="ctr">
                <a:buNone/>
              </a:pPr>
              <a:r>
                <a:rPr lang="es-PE" sz="1600" b="1" dirty="0">
                  <a:solidFill>
                    <a:srgbClr val="FFFFFF"/>
                  </a:solidFill>
                  <a:latin typeface="Montserrat" pitchFamily="34" charset="0"/>
                  <a:ea typeface="Montserrat" pitchFamily="34" charset="-122"/>
                  <a:cs typeface="Montserrat" pitchFamily="34" charset="-120"/>
                </a:rPr>
                <a:t>1</a:t>
              </a:r>
              <a:endParaRPr lang="es-PE" sz="1600" dirty="0"/>
            </a:p>
          </p:txBody>
        </p:sp>
      </p:grpSp>
      <p:grpSp>
        <p:nvGrpSpPr>
          <p:cNvPr id="41" name="Grupo 40">
            <a:extLst>
              <a:ext uri="{FF2B5EF4-FFF2-40B4-BE49-F238E27FC236}">
                <a16:creationId xmlns:a16="http://schemas.microsoft.com/office/drawing/2014/main" id="{F352345D-9021-7AB3-4ECC-6FB0B09EE761}"/>
              </a:ext>
            </a:extLst>
          </p:cNvPr>
          <p:cNvGrpSpPr/>
          <p:nvPr/>
        </p:nvGrpSpPr>
        <p:grpSpPr>
          <a:xfrm>
            <a:off x="384048" y="2718435"/>
            <a:ext cx="548640" cy="548640"/>
            <a:chOff x="337662" y="1554480"/>
            <a:chExt cx="548640" cy="548640"/>
          </a:xfrm>
        </p:grpSpPr>
        <p:sp>
          <p:nvSpPr>
            <p:cNvPr id="42" name="Shape 7">
              <a:extLst>
                <a:ext uri="{FF2B5EF4-FFF2-40B4-BE49-F238E27FC236}">
                  <a16:creationId xmlns:a16="http://schemas.microsoft.com/office/drawing/2014/main" id="{F1D2B1E9-25B5-3E5E-7C1A-6DCE4A362B82}"/>
                </a:ext>
              </a:extLst>
            </p:cNvPr>
            <p:cNvSpPr/>
            <p:nvPr/>
          </p:nvSpPr>
          <p:spPr>
            <a:xfrm>
              <a:off x="337662" y="1554480"/>
              <a:ext cx="548640" cy="548640"/>
            </a:xfrm>
            <a:prstGeom prst="ellipse">
              <a:avLst/>
            </a:prstGeom>
            <a:solidFill>
              <a:srgbClr val="ED2E45"/>
            </a:solidFill>
            <a:ln w="12700">
              <a:solidFill>
                <a:srgbClr val="FFFFFF"/>
              </a:solidFill>
              <a:prstDash val="solid"/>
            </a:ln>
          </p:spPr>
          <p:txBody>
            <a:bodyPr/>
            <a:lstStyle/>
            <a:p>
              <a:endParaRPr lang="es-PE"/>
            </a:p>
          </p:txBody>
        </p:sp>
        <p:sp>
          <p:nvSpPr>
            <p:cNvPr id="43" name="Text 8">
              <a:extLst>
                <a:ext uri="{FF2B5EF4-FFF2-40B4-BE49-F238E27FC236}">
                  <a16:creationId xmlns:a16="http://schemas.microsoft.com/office/drawing/2014/main" id="{0E757DC4-D73E-74BA-454C-29B99ADD3982}"/>
                </a:ext>
              </a:extLst>
            </p:cNvPr>
            <p:cNvSpPr txBox="1"/>
            <p:nvPr/>
          </p:nvSpPr>
          <p:spPr>
            <a:xfrm>
              <a:off x="409337" y="1581912"/>
              <a:ext cx="405289" cy="438912"/>
            </a:xfrm>
            <a:prstGeom prst="rect">
              <a:avLst/>
            </a:prstGeom>
            <a:noFill/>
            <a:ln/>
          </p:spPr>
          <p:txBody>
            <a:bodyPr wrap="square" lIns="0" tIns="0" rIns="0" bIns="0" rtlCol="0" anchor="ctr"/>
            <a:lstStyle/>
            <a:p>
              <a:pPr marL="0" indent="0" algn="ctr">
                <a:buNone/>
              </a:pPr>
              <a:r>
                <a:rPr lang="es-PE" sz="1600" b="1" dirty="0">
                  <a:solidFill>
                    <a:srgbClr val="FFFFFF"/>
                  </a:solidFill>
                  <a:latin typeface="Montserrat" pitchFamily="34" charset="0"/>
                </a:rPr>
                <a:t>2</a:t>
              </a:r>
              <a:endParaRPr lang="es-PE" sz="1600" dirty="0"/>
            </a:p>
          </p:txBody>
        </p:sp>
      </p:grpSp>
      <p:grpSp>
        <p:nvGrpSpPr>
          <p:cNvPr id="44" name="Grupo 43">
            <a:extLst>
              <a:ext uri="{FF2B5EF4-FFF2-40B4-BE49-F238E27FC236}">
                <a16:creationId xmlns:a16="http://schemas.microsoft.com/office/drawing/2014/main" id="{5A4CE99F-72C6-9EB1-C051-302179AE7F89}"/>
              </a:ext>
            </a:extLst>
          </p:cNvPr>
          <p:cNvGrpSpPr/>
          <p:nvPr/>
        </p:nvGrpSpPr>
        <p:grpSpPr>
          <a:xfrm>
            <a:off x="2875834" y="1652397"/>
            <a:ext cx="548640" cy="548640"/>
            <a:chOff x="337662" y="1554480"/>
            <a:chExt cx="548640" cy="548640"/>
          </a:xfrm>
        </p:grpSpPr>
        <p:sp>
          <p:nvSpPr>
            <p:cNvPr id="45" name="Shape 7">
              <a:extLst>
                <a:ext uri="{FF2B5EF4-FFF2-40B4-BE49-F238E27FC236}">
                  <a16:creationId xmlns:a16="http://schemas.microsoft.com/office/drawing/2014/main" id="{542D9F45-901C-5FEB-7502-1C519DB2F32D}"/>
                </a:ext>
              </a:extLst>
            </p:cNvPr>
            <p:cNvSpPr/>
            <p:nvPr/>
          </p:nvSpPr>
          <p:spPr>
            <a:xfrm>
              <a:off x="337662" y="1554480"/>
              <a:ext cx="548640" cy="548640"/>
            </a:xfrm>
            <a:prstGeom prst="ellipse">
              <a:avLst/>
            </a:prstGeom>
            <a:solidFill>
              <a:srgbClr val="ED2E45"/>
            </a:solidFill>
            <a:ln w="12700">
              <a:solidFill>
                <a:srgbClr val="FFFFFF"/>
              </a:solidFill>
              <a:prstDash val="solid"/>
            </a:ln>
          </p:spPr>
          <p:txBody>
            <a:bodyPr/>
            <a:lstStyle/>
            <a:p>
              <a:endParaRPr lang="es-PE"/>
            </a:p>
          </p:txBody>
        </p:sp>
        <p:sp>
          <p:nvSpPr>
            <p:cNvPr id="46" name="Text 8">
              <a:extLst>
                <a:ext uri="{FF2B5EF4-FFF2-40B4-BE49-F238E27FC236}">
                  <a16:creationId xmlns:a16="http://schemas.microsoft.com/office/drawing/2014/main" id="{CAD0BD4F-2187-8787-E594-347BE196675F}"/>
                </a:ext>
              </a:extLst>
            </p:cNvPr>
            <p:cNvSpPr txBox="1"/>
            <p:nvPr/>
          </p:nvSpPr>
          <p:spPr>
            <a:xfrm>
              <a:off x="409337" y="1581912"/>
              <a:ext cx="405289" cy="438912"/>
            </a:xfrm>
            <a:prstGeom prst="rect">
              <a:avLst/>
            </a:prstGeom>
            <a:noFill/>
            <a:ln/>
          </p:spPr>
          <p:txBody>
            <a:bodyPr wrap="square" lIns="0" tIns="0" rIns="0" bIns="0" rtlCol="0" anchor="ctr"/>
            <a:lstStyle/>
            <a:p>
              <a:pPr marL="0" indent="0" algn="ctr">
                <a:buNone/>
              </a:pPr>
              <a:r>
                <a:rPr lang="es-PE" sz="1600" b="1" dirty="0">
                  <a:solidFill>
                    <a:srgbClr val="FFFFFF"/>
                  </a:solidFill>
                  <a:latin typeface="Montserrat" pitchFamily="34" charset="0"/>
                  <a:ea typeface="Montserrat" pitchFamily="34" charset="-122"/>
                  <a:cs typeface="Montserrat" pitchFamily="34" charset="-120"/>
                </a:rPr>
                <a:t>3</a:t>
              </a:r>
              <a:endParaRPr lang="es-PE" sz="1600" dirty="0"/>
            </a:p>
          </p:txBody>
        </p:sp>
      </p:grpSp>
      <p:grpSp>
        <p:nvGrpSpPr>
          <p:cNvPr id="47" name="Grupo 46">
            <a:extLst>
              <a:ext uri="{FF2B5EF4-FFF2-40B4-BE49-F238E27FC236}">
                <a16:creationId xmlns:a16="http://schemas.microsoft.com/office/drawing/2014/main" id="{B8BD5283-0859-27D3-9E26-B7DB9093847A}"/>
              </a:ext>
            </a:extLst>
          </p:cNvPr>
          <p:cNvGrpSpPr/>
          <p:nvPr/>
        </p:nvGrpSpPr>
        <p:grpSpPr>
          <a:xfrm>
            <a:off x="2875835" y="2745867"/>
            <a:ext cx="548640" cy="548640"/>
            <a:chOff x="337662" y="1554480"/>
            <a:chExt cx="548640" cy="548640"/>
          </a:xfrm>
        </p:grpSpPr>
        <p:sp>
          <p:nvSpPr>
            <p:cNvPr id="48" name="Shape 7">
              <a:extLst>
                <a:ext uri="{FF2B5EF4-FFF2-40B4-BE49-F238E27FC236}">
                  <a16:creationId xmlns:a16="http://schemas.microsoft.com/office/drawing/2014/main" id="{80E732AA-289B-7800-97A6-5DA8B12022C6}"/>
                </a:ext>
              </a:extLst>
            </p:cNvPr>
            <p:cNvSpPr/>
            <p:nvPr/>
          </p:nvSpPr>
          <p:spPr>
            <a:xfrm>
              <a:off x="337662" y="1554480"/>
              <a:ext cx="548640" cy="548640"/>
            </a:xfrm>
            <a:prstGeom prst="ellipse">
              <a:avLst/>
            </a:prstGeom>
            <a:solidFill>
              <a:srgbClr val="ED2E45"/>
            </a:solidFill>
            <a:ln w="12700">
              <a:solidFill>
                <a:srgbClr val="FFFFFF"/>
              </a:solidFill>
              <a:prstDash val="solid"/>
            </a:ln>
          </p:spPr>
          <p:txBody>
            <a:bodyPr/>
            <a:lstStyle/>
            <a:p>
              <a:endParaRPr lang="es-PE"/>
            </a:p>
          </p:txBody>
        </p:sp>
        <p:sp>
          <p:nvSpPr>
            <p:cNvPr id="49" name="Text 8">
              <a:extLst>
                <a:ext uri="{FF2B5EF4-FFF2-40B4-BE49-F238E27FC236}">
                  <a16:creationId xmlns:a16="http://schemas.microsoft.com/office/drawing/2014/main" id="{75CBC21D-FA75-0B03-9551-02DE15CA42B2}"/>
                </a:ext>
              </a:extLst>
            </p:cNvPr>
            <p:cNvSpPr txBox="1"/>
            <p:nvPr/>
          </p:nvSpPr>
          <p:spPr>
            <a:xfrm>
              <a:off x="409337" y="1581912"/>
              <a:ext cx="405289" cy="438912"/>
            </a:xfrm>
            <a:prstGeom prst="rect">
              <a:avLst/>
            </a:prstGeom>
            <a:noFill/>
            <a:ln/>
          </p:spPr>
          <p:txBody>
            <a:bodyPr wrap="square" lIns="0" tIns="0" rIns="0" bIns="0" rtlCol="0" anchor="ctr"/>
            <a:lstStyle/>
            <a:p>
              <a:pPr marL="0" indent="0" algn="ctr">
                <a:buNone/>
              </a:pPr>
              <a:r>
                <a:rPr lang="es-PE" sz="1600" b="1" dirty="0">
                  <a:solidFill>
                    <a:srgbClr val="FFFFFF"/>
                  </a:solidFill>
                  <a:latin typeface="Montserrat" pitchFamily="34" charset="0"/>
                  <a:ea typeface="Montserrat" pitchFamily="34" charset="-122"/>
                  <a:cs typeface="Montserrat" pitchFamily="34" charset="-120"/>
                </a:rPr>
                <a:t>4</a:t>
              </a:r>
              <a:endParaRPr lang="es-PE" sz="1600" dirty="0"/>
            </a:p>
          </p:txBody>
        </p:sp>
      </p:grpSp>
      <p:sp>
        <p:nvSpPr>
          <p:cNvPr id="50" name="CuadroTexto 49">
            <a:extLst>
              <a:ext uri="{FF2B5EF4-FFF2-40B4-BE49-F238E27FC236}">
                <a16:creationId xmlns:a16="http://schemas.microsoft.com/office/drawing/2014/main" id="{60F04D11-BE7E-3D65-6A71-594D5B4A9297}"/>
              </a:ext>
            </a:extLst>
          </p:cNvPr>
          <p:cNvSpPr txBox="1"/>
          <p:nvPr/>
        </p:nvSpPr>
        <p:spPr>
          <a:xfrm>
            <a:off x="937832" y="1634294"/>
            <a:ext cx="1751647" cy="900246"/>
          </a:xfrm>
          <a:prstGeom prst="rect">
            <a:avLst/>
          </a:prstGeom>
          <a:noFill/>
        </p:spPr>
        <p:txBody>
          <a:bodyPr wrap="square" rtlCol="0">
            <a:spAutoFit/>
          </a:bodyPr>
          <a:lstStyle/>
          <a:p>
            <a:pPr algn="just"/>
            <a:r>
              <a:rPr lang="es-PE" sz="1050" b="1" dirty="0">
                <a:latin typeface="Montserrat" panose="00000500000000000000" pitchFamily="2" charset="0"/>
              </a:rPr>
              <a:t>Orientar decisiones</a:t>
            </a:r>
          </a:p>
          <a:p>
            <a:pPr algn="just"/>
            <a:r>
              <a:rPr lang="es-PE" sz="1050" dirty="0">
                <a:latin typeface="Montserrat" panose="00000500000000000000" pitchFamily="2" charset="0"/>
              </a:rPr>
              <a:t>Información para planificar criterios y priorizar territorios o poblaciones</a:t>
            </a:r>
          </a:p>
        </p:txBody>
      </p:sp>
      <p:sp>
        <p:nvSpPr>
          <p:cNvPr id="51" name="CuadroTexto 50">
            <a:extLst>
              <a:ext uri="{FF2B5EF4-FFF2-40B4-BE49-F238E27FC236}">
                <a16:creationId xmlns:a16="http://schemas.microsoft.com/office/drawing/2014/main" id="{545BECE2-6957-73FD-B293-A411A8985092}"/>
              </a:ext>
            </a:extLst>
          </p:cNvPr>
          <p:cNvSpPr txBox="1"/>
          <p:nvPr/>
        </p:nvSpPr>
        <p:spPr>
          <a:xfrm>
            <a:off x="3496149" y="1657859"/>
            <a:ext cx="2087787" cy="913510"/>
          </a:xfrm>
          <a:prstGeom prst="rect">
            <a:avLst/>
          </a:prstGeom>
          <a:noFill/>
        </p:spPr>
        <p:txBody>
          <a:bodyPr wrap="square" rtlCol="0">
            <a:spAutoFit/>
          </a:bodyPr>
          <a:lstStyle/>
          <a:p>
            <a:pPr algn="just"/>
            <a:r>
              <a:rPr lang="es-PE" sz="1050" b="1" dirty="0">
                <a:latin typeface="Montserrat" panose="00000500000000000000" pitchFamily="2" charset="0"/>
              </a:rPr>
              <a:t>Organizar la respuesta</a:t>
            </a:r>
          </a:p>
          <a:p>
            <a:pPr algn="just"/>
            <a:r>
              <a:rPr lang="es-PE" sz="1050" dirty="0">
                <a:latin typeface="Montserrat" panose="00000500000000000000" pitchFamily="2" charset="0"/>
              </a:rPr>
              <a:t>Protocolos de atención, rutas de derivación y coordinación entre entidades</a:t>
            </a:r>
          </a:p>
        </p:txBody>
      </p:sp>
      <p:sp>
        <p:nvSpPr>
          <p:cNvPr id="52" name="CuadroTexto 51">
            <a:extLst>
              <a:ext uri="{FF2B5EF4-FFF2-40B4-BE49-F238E27FC236}">
                <a16:creationId xmlns:a16="http://schemas.microsoft.com/office/drawing/2014/main" id="{51C0CD00-C384-D0F8-47CC-D8199B6768E1}"/>
              </a:ext>
            </a:extLst>
          </p:cNvPr>
          <p:cNvSpPr txBox="1"/>
          <p:nvPr/>
        </p:nvSpPr>
        <p:spPr>
          <a:xfrm>
            <a:off x="921139" y="2616688"/>
            <a:ext cx="1751647" cy="900246"/>
          </a:xfrm>
          <a:prstGeom prst="rect">
            <a:avLst/>
          </a:prstGeom>
          <a:noFill/>
        </p:spPr>
        <p:txBody>
          <a:bodyPr wrap="square" rtlCol="0">
            <a:spAutoFit/>
          </a:bodyPr>
          <a:lstStyle/>
          <a:p>
            <a:pPr algn="just"/>
            <a:r>
              <a:rPr lang="es-PE" sz="1050" b="1" dirty="0">
                <a:latin typeface="Montserrat" panose="00000500000000000000" pitchFamily="2" charset="0"/>
              </a:rPr>
              <a:t>Mejorar los servicios</a:t>
            </a:r>
          </a:p>
          <a:p>
            <a:pPr algn="just"/>
            <a:r>
              <a:rPr lang="es-PE" sz="1050" dirty="0">
                <a:latin typeface="Montserrat" panose="00000500000000000000" pitchFamily="2" charset="0"/>
              </a:rPr>
              <a:t>Cambios en la atención y estrategias de intervención dirigidas a la población</a:t>
            </a:r>
          </a:p>
        </p:txBody>
      </p:sp>
      <p:sp>
        <p:nvSpPr>
          <p:cNvPr id="53" name="CuadroTexto 52">
            <a:extLst>
              <a:ext uri="{FF2B5EF4-FFF2-40B4-BE49-F238E27FC236}">
                <a16:creationId xmlns:a16="http://schemas.microsoft.com/office/drawing/2014/main" id="{0AE69298-CE7F-1556-24D3-9435842997A7}"/>
              </a:ext>
            </a:extLst>
          </p:cNvPr>
          <p:cNvSpPr txBox="1"/>
          <p:nvPr/>
        </p:nvSpPr>
        <p:spPr>
          <a:xfrm>
            <a:off x="3526750" y="2612107"/>
            <a:ext cx="2057186" cy="738664"/>
          </a:xfrm>
          <a:prstGeom prst="rect">
            <a:avLst/>
          </a:prstGeom>
          <a:noFill/>
        </p:spPr>
        <p:txBody>
          <a:bodyPr wrap="square" rtlCol="0">
            <a:spAutoFit/>
          </a:bodyPr>
          <a:lstStyle/>
          <a:p>
            <a:pPr algn="just"/>
            <a:r>
              <a:rPr lang="es-PE" sz="1050" b="1" dirty="0">
                <a:latin typeface="Montserrat" panose="00000500000000000000" pitchFamily="2" charset="0"/>
              </a:rPr>
              <a:t>Verificar avances</a:t>
            </a:r>
          </a:p>
          <a:p>
            <a:pPr algn="just"/>
            <a:r>
              <a:rPr lang="es-PE" sz="1050" dirty="0">
                <a:latin typeface="Montserrat" panose="00000500000000000000" pitchFamily="2" charset="0"/>
              </a:rPr>
              <a:t>Indicadores y herramientas de seguimiento y evaluación</a:t>
            </a: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65192"/>
            <a:ext cx="9144000" cy="178308"/>
          </a:xfrm>
          <a:prstGeom prst="rect">
            <a:avLst/>
          </a:prstGeom>
          <a:solidFill>
            <a:srgbClr val="ED2E45"/>
          </a:solidFill>
          <a:ln w="12700">
            <a:solidFill>
              <a:srgbClr val="ED2E45"/>
            </a:solidFill>
            <a:prstDash val="solid"/>
          </a:ln>
        </p:spPr>
        <p:txBody>
          <a:bodyPr/>
          <a:lstStyle/>
          <a:p>
            <a:endParaRPr lang="es-PE"/>
          </a:p>
        </p:txBody>
      </p:sp>
      <p:sp>
        <p:nvSpPr>
          <p:cNvPr id="3" name="Text 1"/>
          <p:cNvSpPr txBox="1"/>
          <p:nvPr/>
        </p:nvSpPr>
        <p:spPr>
          <a:xfrm>
            <a:off x="54864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 · COMPRENDER</a:t>
            </a:r>
            <a:endParaRPr lang="en-US" sz="750" dirty="0"/>
          </a:p>
        </p:txBody>
      </p:sp>
      <p:sp>
        <p:nvSpPr>
          <p:cNvPr id="4" name="Text 2"/>
          <p:cNvSpPr txBox="1"/>
          <p:nvPr/>
        </p:nvSpPr>
        <p:spPr>
          <a:xfrm>
            <a:off x="2560320" y="4965192"/>
            <a:ext cx="2011680" cy="178308"/>
          </a:xfrm>
          <a:prstGeom prst="rect">
            <a:avLst/>
          </a:prstGeom>
          <a:noFill/>
          <a:ln/>
        </p:spPr>
        <p:txBody>
          <a:bodyPr wrap="square" lIns="0" tIns="0" rIns="0" bIns="0" rtlCol="0" anchor="ctr"/>
          <a:lstStyle/>
          <a:p>
            <a:pPr marL="0" indent="0">
              <a:buNone/>
            </a:pPr>
            <a:r>
              <a:rPr lang="en-US" sz="750" b="1" kern="0" spc="100" dirty="0">
                <a:solidFill>
                  <a:srgbClr val="FFFFFF"/>
                </a:solidFill>
                <a:latin typeface="Calibri" pitchFamily="34" charset="0"/>
                <a:ea typeface="Calibri" pitchFamily="34" charset="-122"/>
                <a:cs typeface="Calibri" pitchFamily="34" charset="-120"/>
              </a:rPr>
              <a:t>II · DISEÑAR</a:t>
            </a:r>
            <a:endParaRPr lang="en-US" sz="750" dirty="0"/>
          </a:p>
        </p:txBody>
      </p:sp>
      <p:sp>
        <p:nvSpPr>
          <p:cNvPr id="5" name="Text 3"/>
          <p:cNvSpPr txBox="1"/>
          <p:nvPr/>
        </p:nvSpPr>
        <p:spPr>
          <a:xfrm>
            <a:off x="457200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III · VALIDAR</a:t>
            </a:r>
            <a:endParaRPr lang="en-US" sz="750" dirty="0"/>
          </a:p>
        </p:txBody>
      </p:sp>
      <p:sp>
        <p:nvSpPr>
          <p:cNvPr id="6" name="Text 4"/>
          <p:cNvSpPr txBox="1"/>
          <p:nvPr/>
        </p:nvSpPr>
        <p:spPr>
          <a:xfrm>
            <a:off x="658368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IV · COMUNICAR</a:t>
            </a:r>
            <a:endParaRPr lang="en-US" sz="750" dirty="0"/>
          </a:p>
        </p:txBody>
      </p:sp>
      <p:sp>
        <p:nvSpPr>
          <p:cNvPr id="8" name="Text 5"/>
          <p:cNvSpPr txBox="1"/>
          <p:nvPr/>
        </p:nvSpPr>
        <p:spPr>
          <a:xfrm>
            <a:off x="548640" y="731520"/>
            <a:ext cx="8046720" cy="502920"/>
          </a:xfrm>
          <a:prstGeom prst="rect">
            <a:avLst/>
          </a:prstGeom>
          <a:noFill/>
          <a:ln/>
        </p:spPr>
        <p:txBody>
          <a:bodyPr wrap="square" lIns="0" tIns="0" rIns="0" bIns="0" rtlCol="0" anchor="ctr"/>
          <a:lstStyle/>
          <a:p>
            <a:pPr marL="0" indent="0">
              <a:buNone/>
            </a:pPr>
            <a:r>
              <a:rPr lang="en-US" sz="2200" b="1" dirty="0">
                <a:solidFill>
                  <a:srgbClr val="ED2E45"/>
                </a:solidFill>
                <a:latin typeface="Montserrat" pitchFamily="34" charset="0"/>
                <a:ea typeface="Montserrat" pitchFamily="34" charset="-122"/>
                <a:cs typeface="Montserrat" pitchFamily="34" charset="-120"/>
              </a:rPr>
              <a:t>¿Dónde entran la ciencia de datos y la IA?</a:t>
            </a:r>
            <a:endParaRPr lang="en-US" sz="2200" dirty="0"/>
          </a:p>
        </p:txBody>
      </p:sp>
      <p:sp>
        <p:nvSpPr>
          <p:cNvPr id="9" name="Text 6"/>
          <p:cNvSpPr txBox="1"/>
          <p:nvPr/>
        </p:nvSpPr>
        <p:spPr>
          <a:xfrm>
            <a:off x="548640" y="1216152"/>
            <a:ext cx="8046720" cy="274320"/>
          </a:xfrm>
          <a:prstGeom prst="rect">
            <a:avLst/>
          </a:prstGeom>
          <a:noFill/>
          <a:ln/>
        </p:spPr>
        <p:txBody>
          <a:bodyPr wrap="square" lIns="0" tIns="0" rIns="0" bIns="0" rtlCol="0" anchor="ctr"/>
          <a:lstStyle/>
          <a:p>
            <a:pPr marL="0" indent="0">
              <a:buNone/>
            </a:pPr>
            <a:r>
              <a:rPr lang="en-US" sz="1250" dirty="0">
                <a:solidFill>
                  <a:srgbClr val="6B6B6B"/>
                </a:solidFill>
                <a:latin typeface="Calibri" pitchFamily="34" charset="0"/>
                <a:ea typeface="Calibri" pitchFamily="34" charset="-122"/>
                <a:cs typeface="Calibri" pitchFamily="34" charset="-120"/>
              </a:rPr>
              <a:t>Con criterio, no por moda</a:t>
            </a:r>
            <a:endParaRPr lang="en-US" sz="1250" dirty="0"/>
          </a:p>
        </p:txBody>
      </p:sp>
      <p:sp>
        <p:nvSpPr>
          <p:cNvPr id="10" name="Shape 7"/>
          <p:cNvSpPr/>
          <p:nvPr/>
        </p:nvSpPr>
        <p:spPr>
          <a:xfrm>
            <a:off x="548640" y="1600200"/>
            <a:ext cx="2606040" cy="2377440"/>
          </a:xfrm>
          <a:prstGeom prst="roundRect">
            <a:avLst>
              <a:gd name="adj" fmla="val 3077"/>
            </a:avLst>
          </a:prstGeom>
          <a:solidFill>
            <a:srgbClr val="F2F2F2"/>
          </a:solidFill>
          <a:ln w="12700">
            <a:solidFill>
              <a:srgbClr val="F2F2F2"/>
            </a:solidFill>
            <a:prstDash val="solid"/>
          </a:ln>
        </p:spPr>
        <p:txBody>
          <a:bodyPr/>
          <a:lstStyle/>
          <a:p>
            <a:endParaRPr lang="es-PE"/>
          </a:p>
        </p:txBody>
      </p:sp>
      <p:sp>
        <p:nvSpPr>
          <p:cNvPr id="11" name="Text 8"/>
          <p:cNvSpPr txBox="1"/>
          <p:nvPr/>
        </p:nvSpPr>
        <p:spPr>
          <a:xfrm>
            <a:off x="713232" y="1691640"/>
            <a:ext cx="2286000" cy="292608"/>
          </a:xfrm>
          <a:prstGeom prst="rect">
            <a:avLst/>
          </a:prstGeom>
          <a:noFill/>
          <a:ln/>
        </p:spPr>
        <p:txBody>
          <a:bodyPr wrap="square" lIns="0" tIns="0" rIns="0" bIns="0" rtlCol="0" anchor="t"/>
          <a:lstStyle/>
          <a:p>
            <a:pPr marL="0" indent="0">
              <a:buNone/>
            </a:pPr>
            <a:r>
              <a:rPr lang="en-US" sz="1300" b="1" dirty="0">
                <a:solidFill>
                  <a:srgbClr val="ED2E45"/>
                </a:solidFill>
                <a:latin typeface="Montserrat" pitchFamily="34" charset="0"/>
                <a:ea typeface="Montserrat" pitchFamily="34" charset="-122"/>
                <a:cs typeface="Montserrat" pitchFamily="34" charset="-120"/>
              </a:rPr>
              <a:t>Ciencia de datos</a:t>
            </a:r>
            <a:endParaRPr lang="en-US" sz="1300" dirty="0"/>
          </a:p>
        </p:txBody>
      </p:sp>
      <p:sp>
        <p:nvSpPr>
          <p:cNvPr id="12" name="Text 9"/>
          <p:cNvSpPr txBox="1"/>
          <p:nvPr/>
        </p:nvSpPr>
        <p:spPr>
          <a:xfrm>
            <a:off x="713232" y="2029968"/>
            <a:ext cx="2331720" cy="1874520"/>
          </a:xfrm>
          <a:prstGeom prst="rect">
            <a:avLst/>
          </a:prstGeom>
          <a:noFill/>
          <a:ln/>
        </p:spPr>
        <p:txBody>
          <a:bodyPr wrap="square" lIns="0" tIns="0" rIns="0" bIns="0" rtlCol="0" anchor="t"/>
          <a:lstStyle/>
          <a:p>
            <a:pPr marL="342900" indent="-342900" algn="just">
              <a:spcAft>
                <a:spcPts val="300"/>
              </a:spcAft>
              <a:buSzPct val="100000"/>
              <a:buChar char="■"/>
            </a:pPr>
            <a:r>
              <a:rPr lang="en-US" sz="1100" dirty="0">
                <a:solidFill>
                  <a:srgbClr val="404040"/>
                </a:solidFill>
                <a:latin typeface="Calibri" pitchFamily="34" charset="0"/>
                <a:ea typeface="Calibri" pitchFamily="34" charset="-122"/>
                <a:cs typeface="Calibri" pitchFamily="34" charset="-120"/>
              </a:rPr>
              <a:t>Identificar patrones y </a:t>
            </a:r>
            <a:r>
              <a:rPr lang="en-US" sz="1100" dirty="0" err="1">
                <a:solidFill>
                  <a:srgbClr val="404040"/>
                </a:solidFill>
                <a:latin typeface="Calibri" pitchFamily="34" charset="0"/>
                <a:ea typeface="Calibri" pitchFamily="34" charset="-122"/>
                <a:cs typeface="Calibri" pitchFamily="34" charset="-120"/>
              </a:rPr>
              <a:t>desigualdades</a:t>
            </a:r>
            <a:endParaRPr lang="en-US" sz="1100" dirty="0"/>
          </a:p>
          <a:p>
            <a:pPr marL="342900" indent="-342900" algn="just">
              <a:spcAft>
                <a:spcPts val="300"/>
              </a:spcAft>
              <a:buSzPct val="100000"/>
              <a:buChar char="■"/>
            </a:pPr>
            <a:r>
              <a:rPr lang="en-US" sz="1100" dirty="0" err="1">
                <a:solidFill>
                  <a:srgbClr val="404040"/>
                </a:solidFill>
                <a:latin typeface="Calibri" pitchFamily="34" charset="0"/>
                <a:ea typeface="Calibri" pitchFamily="34" charset="-122"/>
                <a:cs typeface="Calibri" pitchFamily="34" charset="-120"/>
              </a:rPr>
              <a:t>Analizar</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poblaciones</a:t>
            </a:r>
            <a:r>
              <a:rPr lang="en-US" sz="1100" dirty="0">
                <a:solidFill>
                  <a:srgbClr val="404040"/>
                </a:solidFill>
                <a:latin typeface="Calibri" pitchFamily="34" charset="0"/>
                <a:ea typeface="Calibri" pitchFamily="34" charset="-122"/>
                <a:cs typeface="Calibri" pitchFamily="34" charset="-120"/>
              </a:rPr>
              <a:t> y </a:t>
            </a:r>
            <a:r>
              <a:rPr lang="en-US" sz="1100" dirty="0" err="1">
                <a:solidFill>
                  <a:srgbClr val="404040"/>
                </a:solidFill>
                <a:latin typeface="Calibri" pitchFamily="34" charset="0"/>
                <a:ea typeface="Calibri" pitchFamily="34" charset="-122"/>
                <a:cs typeface="Calibri" pitchFamily="34" charset="-120"/>
              </a:rPr>
              <a:t>territorios</a:t>
            </a:r>
            <a:endParaRPr lang="en-US" sz="1100" dirty="0">
              <a:solidFill>
                <a:srgbClr val="404040"/>
              </a:solidFill>
              <a:latin typeface="Calibri" pitchFamily="34" charset="0"/>
              <a:ea typeface="Calibri" pitchFamily="34" charset="-122"/>
              <a:cs typeface="Calibri" pitchFamily="34" charset="-120"/>
            </a:endParaRPr>
          </a:p>
          <a:p>
            <a:pPr marL="342900" indent="-342900" algn="just">
              <a:spcAft>
                <a:spcPts val="300"/>
              </a:spcAft>
              <a:buSzPct val="100000"/>
              <a:buChar char="■"/>
            </a:pPr>
            <a:r>
              <a:rPr lang="en-US" sz="1100" dirty="0" err="1">
                <a:solidFill>
                  <a:srgbClr val="404040"/>
                </a:solidFill>
                <a:latin typeface="Calibri" pitchFamily="34" charset="0"/>
                <a:ea typeface="Calibri" pitchFamily="34" charset="-122"/>
                <a:cs typeface="Calibri" pitchFamily="34" charset="-120"/>
              </a:rPr>
              <a:t>Construir</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indicadores</a:t>
            </a:r>
            <a:r>
              <a:rPr lang="en-US" sz="1100" dirty="0">
                <a:solidFill>
                  <a:srgbClr val="404040"/>
                </a:solidFill>
                <a:latin typeface="Calibri" pitchFamily="34" charset="0"/>
                <a:ea typeface="Calibri" pitchFamily="34" charset="-122"/>
                <a:cs typeface="Calibri" pitchFamily="34" charset="-120"/>
              </a:rPr>
              <a:t> y </a:t>
            </a:r>
            <a:r>
              <a:rPr lang="en-US" sz="1100" dirty="0" err="1">
                <a:solidFill>
                  <a:srgbClr val="404040"/>
                </a:solidFill>
                <a:latin typeface="Calibri" pitchFamily="34" charset="0"/>
                <a:ea typeface="Calibri" pitchFamily="34" charset="-122"/>
                <a:cs typeface="Calibri" pitchFamily="34" charset="-120"/>
              </a:rPr>
              <a:t>monitorear</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cambios</a:t>
            </a:r>
            <a:endParaRPr lang="en-US" sz="1100" dirty="0">
              <a:solidFill>
                <a:srgbClr val="404040"/>
              </a:solidFill>
              <a:latin typeface="Calibri" pitchFamily="34" charset="0"/>
              <a:ea typeface="Calibri" pitchFamily="34" charset="-122"/>
              <a:cs typeface="Calibri" pitchFamily="34" charset="-120"/>
            </a:endParaRPr>
          </a:p>
          <a:p>
            <a:pPr marL="342900" indent="-342900" algn="just">
              <a:spcAft>
                <a:spcPts val="300"/>
              </a:spcAft>
              <a:buSzPct val="100000"/>
              <a:buChar char="■"/>
            </a:pPr>
            <a:r>
              <a:rPr lang="en-US" sz="1100" dirty="0" err="1">
                <a:solidFill>
                  <a:srgbClr val="404040"/>
                </a:solidFill>
                <a:latin typeface="Calibri" pitchFamily="34" charset="0"/>
                <a:ea typeface="Calibri" pitchFamily="34" charset="-122"/>
                <a:cs typeface="Calibri" pitchFamily="34" charset="-120"/>
              </a:rPr>
              <a:t>Apoyar</a:t>
            </a:r>
            <a:r>
              <a:rPr lang="en-US" sz="1100" dirty="0">
                <a:solidFill>
                  <a:srgbClr val="404040"/>
                </a:solidFill>
                <a:latin typeface="Calibri" pitchFamily="34" charset="0"/>
                <a:ea typeface="Calibri" pitchFamily="34" charset="-122"/>
                <a:cs typeface="Calibri" pitchFamily="34" charset="-120"/>
              </a:rPr>
              <a:t> la </a:t>
            </a:r>
            <a:r>
              <a:rPr lang="en-US" sz="1100" dirty="0" err="1">
                <a:solidFill>
                  <a:srgbClr val="404040"/>
                </a:solidFill>
                <a:latin typeface="Calibri" pitchFamily="34" charset="0"/>
                <a:ea typeface="Calibri" pitchFamily="34" charset="-122"/>
                <a:cs typeface="Calibri" pitchFamily="34" charset="-120"/>
              </a:rPr>
              <a:t>priorizacion</a:t>
            </a:r>
            <a:r>
              <a:rPr lang="en-US" sz="1100" dirty="0">
                <a:solidFill>
                  <a:srgbClr val="404040"/>
                </a:solidFill>
                <a:latin typeface="Calibri" pitchFamily="34" charset="0"/>
                <a:ea typeface="Calibri" pitchFamily="34" charset="-122"/>
                <a:cs typeface="Calibri" pitchFamily="34" charset="-120"/>
              </a:rPr>
              <a:t> de </a:t>
            </a:r>
            <a:r>
              <a:rPr lang="en-US" sz="1100" dirty="0" err="1">
                <a:solidFill>
                  <a:srgbClr val="404040"/>
                </a:solidFill>
                <a:latin typeface="Calibri" pitchFamily="34" charset="0"/>
                <a:ea typeface="Calibri" pitchFamily="34" charset="-122"/>
                <a:cs typeface="Calibri" pitchFamily="34" charset="-120"/>
              </a:rPr>
              <a:t>intervenciones</a:t>
            </a:r>
            <a:endParaRPr lang="en-US" sz="1100" dirty="0">
              <a:solidFill>
                <a:srgbClr val="404040"/>
              </a:solidFill>
              <a:latin typeface="Calibri" pitchFamily="34" charset="0"/>
              <a:ea typeface="Calibri" pitchFamily="34" charset="-122"/>
              <a:cs typeface="Calibri" pitchFamily="34" charset="-120"/>
            </a:endParaRPr>
          </a:p>
          <a:p>
            <a:pPr marL="342900" indent="-342900" algn="just">
              <a:spcAft>
                <a:spcPts val="300"/>
              </a:spcAft>
              <a:buSzPct val="100000"/>
              <a:buChar char="■"/>
            </a:pPr>
            <a:r>
              <a:rPr lang="en-US" sz="1100" dirty="0" err="1">
                <a:solidFill>
                  <a:srgbClr val="404040"/>
                </a:solidFill>
                <a:latin typeface="Calibri" pitchFamily="34" charset="0"/>
                <a:ea typeface="Calibri" pitchFamily="34" charset="-122"/>
                <a:cs typeface="Calibri" pitchFamily="34" charset="-120"/>
              </a:rPr>
              <a:t>Orientar</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el</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uso</a:t>
            </a:r>
            <a:r>
              <a:rPr lang="en-US" sz="1100" dirty="0">
                <a:solidFill>
                  <a:srgbClr val="404040"/>
                </a:solidFill>
                <a:latin typeface="Calibri" pitchFamily="34" charset="0"/>
                <a:ea typeface="Calibri" pitchFamily="34" charset="-122"/>
                <a:cs typeface="Calibri" pitchFamily="34" charset="-120"/>
              </a:rPr>
              <a:t> de </a:t>
            </a:r>
            <a:r>
              <a:rPr lang="en-US" sz="1100" dirty="0" err="1">
                <a:solidFill>
                  <a:srgbClr val="404040"/>
                </a:solidFill>
                <a:latin typeface="Calibri" pitchFamily="34" charset="0"/>
                <a:ea typeface="Calibri" pitchFamily="34" charset="-122"/>
                <a:cs typeface="Calibri" pitchFamily="34" charset="-120"/>
              </a:rPr>
              <a:t>recursos</a:t>
            </a:r>
            <a:endParaRPr lang="en-US" sz="1100" dirty="0"/>
          </a:p>
        </p:txBody>
      </p:sp>
      <p:sp>
        <p:nvSpPr>
          <p:cNvPr id="13" name="Shape 10"/>
          <p:cNvSpPr/>
          <p:nvPr/>
        </p:nvSpPr>
        <p:spPr>
          <a:xfrm>
            <a:off x="3273552" y="1600200"/>
            <a:ext cx="2606040" cy="2377440"/>
          </a:xfrm>
          <a:prstGeom prst="roundRect">
            <a:avLst>
              <a:gd name="adj" fmla="val 3077"/>
            </a:avLst>
          </a:prstGeom>
          <a:solidFill>
            <a:srgbClr val="F2F2F2"/>
          </a:solidFill>
          <a:ln w="12700">
            <a:solidFill>
              <a:srgbClr val="F2F2F2"/>
            </a:solidFill>
            <a:prstDash val="solid"/>
          </a:ln>
        </p:spPr>
        <p:txBody>
          <a:bodyPr/>
          <a:lstStyle/>
          <a:p>
            <a:endParaRPr lang="es-PE"/>
          </a:p>
        </p:txBody>
      </p:sp>
      <p:sp>
        <p:nvSpPr>
          <p:cNvPr id="14" name="Text 11"/>
          <p:cNvSpPr txBox="1"/>
          <p:nvPr/>
        </p:nvSpPr>
        <p:spPr>
          <a:xfrm>
            <a:off x="3438144" y="1691640"/>
            <a:ext cx="2286000" cy="292608"/>
          </a:xfrm>
          <a:prstGeom prst="rect">
            <a:avLst/>
          </a:prstGeom>
          <a:noFill/>
          <a:ln/>
        </p:spPr>
        <p:txBody>
          <a:bodyPr wrap="square" lIns="0" tIns="0" rIns="0" bIns="0" rtlCol="0" anchor="t"/>
          <a:lstStyle/>
          <a:p>
            <a:pPr marL="0" indent="0">
              <a:buNone/>
            </a:pPr>
            <a:r>
              <a:rPr lang="en-US" sz="1300" b="1" dirty="0">
                <a:solidFill>
                  <a:srgbClr val="ED2E45"/>
                </a:solidFill>
                <a:latin typeface="Montserrat" pitchFamily="34" charset="0"/>
                <a:ea typeface="Montserrat" pitchFamily="34" charset="-122"/>
                <a:cs typeface="Montserrat" pitchFamily="34" charset="-120"/>
              </a:rPr>
              <a:t>Inteligencia artificial</a:t>
            </a:r>
            <a:endParaRPr lang="en-US" sz="1300" dirty="0"/>
          </a:p>
        </p:txBody>
      </p:sp>
      <p:sp>
        <p:nvSpPr>
          <p:cNvPr id="15" name="Text 12"/>
          <p:cNvSpPr txBox="1"/>
          <p:nvPr/>
        </p:nvSpPr>
        <p:spPr>
          <a:xfrm>
            <a:off x="3438144" y="2029968"/>
            <a:ext cx="2331720" cy="1874520"/>
          </a:xfrm>
          <a:prstGeom prst="rect">
            <a:avLst/>
          </a:prstGeom>
          <a:noFill/>
          <a:ln/>
        </p:spPr>
        <p:txBody>
          <a:bodyPr wrap="square" lIns="0" tIns="0" rIns="0" bIns="0" rtlCol="0" anchor="t"/>
          <a:lstStyle/>
          <a:p>
            <a:pPr marL="342900" indent="-342900" algn="just">
              <a:spcAft>
                <a:spcPts val="300"/>
              </a:spcAft>
              <a:buSzPct val="100000"/>
              <a:buChar char="■"/>
            </a:pPr>
            <a:r>
              <a:rPr lang="en-US" sz="1100" dirty="0" err="1">
                <a:solidFill>
                  <a:srgbClr val="404040"/>
                </a:solidFill>
                <a:latin typeface="Calibri" pitchFamily="34" charset="0"/>
                <a:ea typeface="Calibri" pitchFamily="34" charset="-122"/>
                <a:cs typeface="Calibri" pitchFamily="34" charset="-120"/>
              </a:rPr>
              <a:t>Clasificar</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documentos</a:t>
            </a:r>
            <a:r>
              <a:rPr lang="en-US" sz="1100" dirty="0">
                <a:solidFill>
                  <a:srgbClr val="404040"/>
                </a:solidFill>
                <a:latin typeface="Calibri" pitchFamily="34" charset="0"/>
                <a:ea typeface="Calibri" pitchFamily="34" charset="-122"/>
                <a:cs typeface="Calibri" pitchFamily="34" charset="-120"/>
              </a:rPr>
              <a:t> y </a:t>
            </a:r>
            <a:r>
              <a:rPr lang="en-US" sz="1100" dirty="0" err="1">
                <a:solidFill>
                  <a:srgbClr val="404040"/>
                </a:solidFill>
                <a:latin typeface="Calibri" pitchFamily="34" charset="0"/>
                <a:ea typeface="Calibri" pitchFamily="34" charset="-122"/>
                <a:cs typeface="Calibri" pitchFamily="34" charset="-120"/>
              </a:rPr>
              <a:t>procesar</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textos</a:t>
            </a:r>
            <a:endParaRPr lang="en-US" sz="1100" dirty="0">
              <a:solidFill>
                <a:srgbClr val="404040"/>
              </a:solidFill>
              <a:latin typeface="Calibri" pitchFamily="34" charset="0"/>
              <a:ea typeface="Calibri" pitchFamily="34" charset="-122"/>
              <a:cs typeface="Calibri" pitchFamily="34" charset="-120"/>
            </a:endParaRPr>
          </a:p>
          <a:p>
            <a:pPr marL="342900" indent="-342900" algn="just">
              <a:spcAft>
                <a:spcPts val="300"/>
              </a:spcAft>
              <a:buSzPct val="100000"/>
              <a:buChar char="■"/>
            </a:pPr>
            <a:r>
              <a:rPr lang="en-US" sz="1100" dirty="0" err="1">
                <a:solidFill>
                  <a:srgbClr val="404040"/>
                </a:solidFill>
                <a:latin typeface="Calibri" pitchFamily="34" charset="0"/>
                <a:ea typeface="Calibri" pitchFamily="34" charset="-122"/>
                <a:cs typeface="Calibri" pitchFamily="34" charset="-120"/>
              </a:rPr>
              <a:t>Apoyar</a:t>
            </a:r>
            <a:r>
              <a:rPr lang="en-US" sz="1100" dirty="0">
                <a:solidFill>
                  <a:srgbClr val="404040"/>
                </a:solidFill>
                <a:latin typeface="Calibri" pitchFamily="34" charset="0"/>
                <a:ea typeface="Calibri" pitchFamily="34" charset="-122"/>
                <a:cs typeface="Calibri" pitchFamily="34" charset="-120"/>
              </a:rPr>
              <a:t> la </a:t>
            </a:r>
            <a:r>
              <a:rPr lang="en-US" sz="1100" dirty="0" err="1">
                <a:solidFill>
                  <a:srgbClr val="404040"/>
                </a:solidFill>
                <a:latin typeface="Calibri" pitchFamily="34" charset="0"/>
                <a:ea typeface="Calibri" pitchFamily="34" charset="-122"/>
                <a:cs typeface="Calibri" pitchFamily="34" charset="-120"/>
              </a:rPr>
              <a:t>identificación</a:t>
            </a:r>
            <a:r>
              <a:rPr lang="en-US" sz="1100" dirty="0">
                <a:solidFill>
                  <a:srgbClr val="404040"/>
                </a:solidFill>
                <a:latin typeface="Calibri" pitchFamily="34" charset="0"/>
                <a:ea typeface="Calibri" pitchFamily="34" charset="-122"/>
                <a:cs typeface="Calibri" pitchFamily="34" charset="-120"/>
              </a:rPr>
              <a:t> de </a:t>
            </a:r>
            <a:r>
              <a:rPr lang="en-US" sz="1100" dirty="0" err="1">
                <a:solidFill>
                  <a:srgbClr val="404040"/>
                </a:solidFill>
                <a:latin typeface="Calibri" pitchFamily="34" charset="0"/>
                <a:ea typeface="Calibri" pitchFamily="34" charset="-122"/>
                <a:cs typeface="Calibri" pitchFamily="34" charset="-120"/>
              </a:rPr>
              <a:t>patrones</a:t>
            </a:r>
            <a:endParaRPr lang="en-US" sz="1100" dirty="0">
              <a:solidFill>
                <a:srgbClr val="404040"/>
              </a:solidFill>
              <a:latin typeface="Calibri" pitchFamily="34" charset="0"/>
              <a:ea typeface="Calibri" pitchFamily="34" charset="-122"/>
              <a:cs typeface="Calibri" pitchFamily="34" charset="-120"/>
            </a:endParaRPr>
          </a:p>
          <a:p>
            <a:pPr marL="342900" indent="-342900" algn="just">
              <a:spcAft>
                <a:spcPts val="300"/>
              </a:spcAft>
              <a:buSzPct val="100000"/>
              <a:buChar char="■"/>
            </a:pPr>
            <a:r>
              <a:rPr lang="en-US" sz="1100" dirty="0" err="1">
                <a:solidFill>
                  <a:srgbClr val="404040"/>
                </a:solidFill>
                <a:latin typeface="Calibri" pitchFamily="34" charset="0"/>
                <a:ea typeface="Calibri" pitchFamily="34" charset="-122"/>
                <a:cs typeface="Calibri" pitchFamily="34" charset="-120"/>
              </a:rPr>
              <a:t>Automatizar</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tareas</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repetitivas</a:t>
            </a:r>
            <a:r>
              <a:rPr lang="en-US" sz="1100" dirty="0">
                <a:solidFill>
                  <a:srgbClr val="404040"/>
                </a:solidFill>
                <a:latin typeface="Calibri" pitchFamily="34" charset="0"/>
                <a:ea typeface="Calibri" pitchFamily="34" charset="-122"/>
                <a:cs typeface="Calibri" pitchFamily="34" charset="-120"/>
              </a:rPr>
              <a:t> </a:t>
            </a:r>
          </a:p>
          <a:p>
            <a:pPr marL="342900" indent="-342900" algn="just">
              <a:spcAft>
                <a:spcPts val="300"/>
              </a:spcAft>
              <a:buSzPct val="100000"/>
              <a:buChar char="■"/>
            </a:pPr>
            <a:r>
              <a:rPr lang="en-US" sz="1100" dirty="0" err="1">
                <a:solidFill>
                  <a:srgbClr val="404040"/>
                </a:solidFill>
                <a:latin typeface="Calibri" pitchFamily="34" charset="0"/>
                <a:ea typeface="Calibri" pitchFamily="34" charset="-122"/>
                <a:cs typeface="Calibri" pitchFamily="34" charset="-120"/>
              </a:rPr>
              <a:t>Predecir</a:t>
            </a:r>
            <a:r>
              <a:rPr lang="en-US" sz="1100" dirty="0">
                <a:solidFill>
                  <a:srgbClr val="404040"/>
                </a:solidFill>
                <a:latin typeface="Calibri" pitchFamily="34" charset="0"/>
                <a:ea typeface="Calibri" pitchFamily="34" charset="-122"/>
                <a:cs typeface="Calibri" pitchFamily="34" charset="-120"/>
              </a:rPr>
              <a:t> con </a:t>
            </a:r>
            <a:r>
              <a:rPr lang="en-US" sz="1100" dirty="0" err="1">
                <a:solidFill>
                  <a:srgbClr val="404040"/>
                </a:solidFill>
                <a:latin typeface="Calibri" pitchFamily="34" charset="0"/>
                <a:ea typeface="Calibri" pitchFamily="34" charset="-122"/>
                <a:cs typeface="Calibri" pitchFamily="34" charset="-120"/>
              </a:rPr>
              <a:t>datos</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suficientes</a:t>
            </a:r>
            <a:r>
              <a:rPr lang="en-US" sz="1100" dirty="0">
                <a:solidFill>
                  <a:srgbClr val="404040"/>
                </a:solidFill>
                <a:latin typeface="Calibri" pitchFamily="34" charset="0"/>
                <a:ea typeface="Calibri" pitchFamily="34" charset="-122"/>
                <a:cs typeface="Calibri" pitchFamily="34" charset="-120"/>
              </a:rPr>
              <a:t> y </a:t>
            </a:r>
            <a:r>
              <a:rPr lang="en-US" sz="1100" dirty="0" err="1">
                <a:solidFill>
                  <a:srgbClr val="404040"/>
                </a:solidFill>
                <a:latin typeface="Calibri" pitchFamily="34" charset="0"/>
                <a:ea typeface="Calibri" pitchFamily="34" charset="-122"/>
                <a:cs typeface="Calibri" pitchFamily="34" charset="-120"/>
              </a:rPr>
              <a:t>validación</a:t>
            </a:r>
            <a:endParaRPr lang="en-US" sz="1100" dirty="0">
              <a:solidFill>
                <a:srgbClr val="404040"/>
              </a:solidFill>
              <a:latin typeface="Calibri" pitchFamily="34" charset="0"/>
              <a:ea typeface="Calibri" pitchFamily="34" charset="-122"/>
              <a:cs typeface="Calibri" pitchFamily="34" charset="-120"/>
            </a:endParaRPr>
          </a:p>
          <a:p>
            <a:pPr marL="342900" indent="-342900" algn="just">
              <a:spcAft>
                <a:spcPts val="300"/>
              </a:spcAft>
              <a:buSzPct val="100000"/>
              <a:buChar char="■"/>
            </a:pPr>
            <a:r>
              <a:rPr lang="en-US" sz="1100" dirty="0" err="1">
                <a:solidFill>
                  <a:srgbClr val="404040"/>
                </a:solidFill>
                <a:latin typeface="Calibri" pitchFamily="34" charset="0"/>
                <a:ea typeface="Calibri" pitchFamily="34" charset="-122"/>
                <a:cs typeface="Calibri" pitchFamily="34" charset="-120"/>
              </a:rPr>
              <a:t>Crear</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prototipos</a:t>
            </a:r>
            <a:r>
              <a:rPr lang="en-US" sz="1100" dirty="0">
                <a:solidFill>
                  <a:srgbClr val="404040"/>
                </a:solidFill>
                <a:latin typeface="Calibri" pitchFamily="34" charset="0"/>
                <a:ea typeface="Calibri" pitchFamily="34" charset="-122"/>
                <a:cs typeface="Calibri" pitchFamily="34" charset="-120"/>
              </a:rPr>
              <a:t> para </a:t>
            </a:r>
            <a:r>
              <a:rPr lang="en-US" sz="1100" dirty="0" err="1">
                <a:solidFill>
                  <a:srgbClr val="404040"/>
                </a:solidFill>
                <a:latin typeface="Calibri" pitchFamily="34" charset="0"/>
                <a:ea typeface="Calibri" pitchFamily="34" charset="-122"/>
                <a:cs typeface="Calibri" pitchFamily="34" charset="-120"/>
              </a:rPr>
              <a:t>probar</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propuestas</a:t>
            </a:r>
            <a:r>
              <a:rPr lang="en-US" sz="1100" dirty="0">
                <a:solidFill>
                  <a:srgbClr val="404040"/>
                </a:solidFill>
                <a:latin typeface="Calibri" pitchFamily="34" charset="0"/>
                <a:ea typeface="Calibri" pitchFamily="34" charset="-122"/>
                <a:cs typeface="Calibri" pitchFamily="34" charset="-120"/>
              </a:rPr>
              <a:t> </a:t>
            </a:r>
            <a:endParaRPr lang="en-US" sz="1100" dirty="0"/>
          </a:p>
        </p:txBody>
      </p:sp>
      <p:sp>
        <p:nvSpPr>
          <p:cNvPr id="16" name="Shape 13"/>
          <p:cNvSpPr/>
          <p:nvPr/>
        </p:nvSpPr>
        <p:spPr>
          <a:xfrm>
            <a:off x="5998464" y="1600200"/>
            <a:ext cx="2596896" cy="2377440"/>
          </a:xfrm>
          <a:prstGeom prst="roundRect">
            <a:avLst>
              <a:gd name="adj" fmla="val 3077"/>
            </a:avLst>
          </a:prstGeom>
          <a:solidFill>
            <a:srgbClr val="FDEBEE"/>
          </a:solidFill>
          <a:ln w="12700">
            <a:solidFill>
              <a:srgbClr val="FDEBEE"/>
            </a:solidFill>
            <a:prstDash val="solid"/>
          </a:ln>
        </p:spPr>
        <p:txBody>
          <a:bodyPr/>
          <a:lstStyle/>
          <a:p>
            <a:endParaRPr lang="es-PE"/>
          </a:p>
        </p:txBody>
      </p:sp>
      <p:sp>
        <p:nvSpPr>
          <p:cNvPr id="17" name="Text 14"/>
          <p:cNvSpPr txBox="1"/>
          <p:nvPr/>
        </p:nvSpPr>
        <p:spPr>
          <a:xfrm>
            <a:off x="6163056" y="1691640"/>
            <a:ext cx="2286000" cy="292608"/>
          </a:xfrm>
          <a:prstGeom prst="rect">
            <a:avLst/>
          </a:prstGeom>
          <a:noFill/>
          <a:ln/>
        </p:spPr>
        <p:txBody>
          <a:bodyPr wrap="square" lIns="0" tIns="0" rIns="0" bIns="0" rtlCol="0" anchor="t"/>
          <a:lstStyle/>
          <a:p>
            <a:pPr marL="0" indent="0">
              <a:buNone/>
            </a:pPr>
            <a:r>
              <a:rPr lang="en-US" sz="1300" b="1" dirty="0">
                <a:solidFill>
                  <a:srgbClr val="ED2E45"/>
                </a:solidFill>
                <a:latin typeface="Montserrat" pitchFamily="34" charset="0"/>
                <a:ea typeface="Montserrat" pitchFamily="34" charset="-122"/>
                <a:cs typeface="Montserrat" pitchFamily="34" charset="-120"/>
              </a:rPr>
              <a:t>Riesgos a considerar</a:t>
            </a:r>
            <a:endParaRPr lang="en-US" sz="1300" dirty="0"/>
          </a:p>
        </p:txBody>
      </p:sp>
      <p:sp>
        <p:nvSpPr>
          <p:cNvPr id="18" name="Text 15"/>
          <p:cNvSpPr txBox="1"/>
          <p:nvPr/>
        </p:nvSpPr>
        <p:spPr>
          <a:xfrm>
            <a:off x="6163056" y="2029968"/>
            <a:ext cx="2331720" cy="1874520"/>
          </a:xfrm>
          <a:prstGeom prst="rect">
            <a:avLst/>
          </a:prstGeom>
          <a:noFill/>
          <a:ln/>
        </p:spPr>
        <p:txBody>
          <a:bodyPr wrap="square" lIns="0" tIns="0" rIns="0" bIns="0" rtlCol="0" anchor="t"/>
          <a:lstStyle/>
          <a:p>
            <a:pPr marL="0" indent="0" algn="just">
              <a:spcAft>
                <a:spcPts val="400"/>
              </a:spcAft>
              <a:buNone/>
            </a:pPr>
            <a:r>
              <a:rPr lang="en-US" sz="1050" b="1" dirty="0" err="1">
                <a:solidFill>
                  <a:srgbClr val="C4122F"/>
                </a:solidFill>
                <a:latin typeface="Calibri" pitchFamily="34" charset="0"/>
                <a:ea typeface="Calibri" pitchFamily="34" charset="-122"/>
                <a:cs typeface="Calibri" pitchFamily="34" charset="-120"/>
              </a:rPr>
              <a:t>Sesgos</a:t>
            </a:r>
            <a:r>
              <a:rPr lang="en-US" sz="1050" b="1" dirty="0">
                <a:solidFill>
                  <a:srgbClr val="C4122F"/>
                </a:solidFill>
                <a:latin typeface="Calibri" pitchFamily="34" charset="0"/>
                <a:ea typeface="Calibri" pitchFamily="34" charset="-122"/>
                <a:cs typeface="Calibri" pitchFamily="34" charset="-120"/>
              </a:rPr>
              <a:t>: </a:t>
            </a:r>
            <a:r>
              <a:rPr lang="en-US" sz="1050" dirty="0" err="1">
                <a:latin typeface="Calibri" pitchFamily="34" charset="0"/>
                <a:ea typeface="Calibri" pitchFamily="34" charset="-122"/>
                <a:cs typeface="Calibri" pitchFamily="34" charset="-120"/>
              </a:rPr>
              <a:t>evaluar</a:t>
            </a:r>
            <a:r>
              <a:rPr lang="en-US" sz="1050" b="1" dirty="0">
                <a:latin typeface="Calibri" pitchFamily="34" charset="0"/>
                <a:ea typeface="Calibri" pitchFamily="34" charset="-122"/>
                <a:cs typeface="Calibri" pitchFamily="34" charset="-120"/>
              </a:rPr>
              <a:t> </a:t>
            </a:r>
            <a:r>
              <a:rPr lang="en-US" sz="1050" dirty="0">
                <a:latin typeface="Calibri" pitchFamily="34" charset="0"/>
                <a:ea typeface="Calibri" pitchFamily="34" charset="-122"/>
                <a:cs typeface="Calibri" pitchFamily="34" charset="-120"/>
              </a:rPr>
              <a:t>errores que perjudican a </a:t>
            </a:r>
            <a:r>
              <a:rPr lang="en-US" sz="1050" dirty="0" err="1">
                <a:latin typeface="Calibri" pitchFamily="34" charset="0"/>
                <a:ea typeface="Calibri" pitchFamily="34" charset="-122"/>
                <a:cs typeface="Calibri" pitchFamily="34" charset="-120"/>
              </a:rPr>
              <a:t>ciertos</a:t>
            </a:r>
            <a:r>
              <a:rPr lang="en-US" sz="1050" dirty="0">
                <a:latin typeface="Calibri" pitchFamily="34" charset="0"/>
                <a:ea typeface="Calibri" pitchFamily="34" charset="-122"/>
                <a:cs typeface="Calibri" pitchFamily="34" charset="-120"/>
              </a:rPr>
              <a:t> </a:t>
            </a:r>
            <a:r>
              <a:rPr lang="en-US" sz="1050" dirty="0" err="1">
                <a:latin typeface="Calibri" pitchFamily="34" charset="0"/>
                <a:ea typeface="Calibri" pitchFamily="34" charset="-122"/>
                <a:cs typeface="Calibri" pitchFamily="34" charset="-120"/>
              </a:rPr>
              <a:t>grupos</a:t>
            </a:r>
            <a:endParaRPr lang="en-US" sz="1050" dirty="0"/>
          </a:p>
          <a:p>
            <a:pPr marL="0" indent="0" algn="just">
              <a:spcAft>
                <a:spcPts val="400"/>
              </a:spcAft>
              <a:buNone/>
            </a:pPr>
            <a:r>
              <a:rPr lang="en-US" sz="1050" b="1" dirty="0">
                <a:solidFill>
                  <a:srgbClr val="C4122F"/>
                </a:solidFill>
                <a:latin typeface="Calibri" pitchFamily="34" charset="0"/>
                <a:ea typeface="Calibri" pitchFamily="34" charset="-122"/>
                <a:cs typeface="Calibri" pitchFamily="34" charset="-120"/>
              </a:rPr>
              <a:t>Calidad: </a:t>
            </a:r>
            <a:r>
              <a:rPr lang="en-US" sz="1050" dirty="0" err="1">
                <a:solidFill>
                  <a:srgbClr val="404040"/>
                </a:solidFill>
                <a:latin typeface="Calibri" pitchFamily="34" charset="0"/>
                <a:ea typeface="Calibri" pitchFamily="34" charset="-122"/>
                <a:cs typeface="Calibri" pitchFamily="34" charset="-120"/>
              </a:rPr>
              <a:t>datos</a:t>
            </a:r>
            <a:r>
              <a:rPr lang="en-US" sz="1050" dirty="0">
                <a:solidFill>
                  <a:srgbClr val="404040"/>
                </a:solidFill>
                <a:latin typeface="Calibri" pitchFamily="34" charset="0"/>
                <a:ea typeface="Calibri" pitchFamily="34" charset="-122"/>
                <a:cs typeface="Calibri" pitchFamily="34" charset="-120"/>
              </a:rPr>
              <a:t> </a:t>
            </a:r>
            <a:r>
              <a:rPr lang="en-US" sz="1050" dirty="0" err="1">
                <a:solidFill>
                  <a:srgbClr val="404040"/>
                </a:solidFill>
                <a:latin typeface="Calibri" pitchFamily="34" charset="0"/>
                <a:ea typeface="Calibri" pitchFamily="34" charset="-122"/>
                <a:cs typeface="Calibri" pitchFamily="34" charset="-120"/>
              </a:rPr>
              <a:t>adecuados</a:t>
            </a:r>
            <a:r>
              <a:rPr lang="en-US" sz="1050" dirty="0">
                <a:solidFill>
                  <a:srgbClr val="404040"/>
                </a:solidFill>
                <a:latin typeface="Calibri" pitchFamily="34" charset="0"/>
                <a:ea typeface="Calibri" pitchFamily="34" charset="-122"/>
                <a:cs typeface="Calibri" pitchFamily="34" charset="-120"/>
              </a:rPr>
              <a:t> y confiables</a:t>
            </a:r>
            <a:endParaRPr lang="en-US" sz="1050" dirty="0"/>
          </a:p>
          <a:p>
            <a:pPr marL="0" indent="0" algn="just">
              <a:spcAft>
                <a:spcPts val="400"/>
              </a:spcAft>
              <a:buNone/>
            </a:pPr>
            <a:r>
              <a:rPr lang="en-US" sz="1050" b="1" dirty="0" err="1">
                <a:solidFill>
                  <a:srgbClr val="C4122F"/>
                </a:solidFill>
                <a:latin typeface="Calibri" pitchFamily="34" charset="0"/>
                <a:ea typeface="Calibri" pitchFamily="34" charset="-122"/>
                <a:cs typeface="Calibri" pitchFamily="34" charset="-120"/>
              </a:rPr>
              <a:t>Privacidad</a:t>
            </a:r>
            <a:r>
              <a:rPr lang="en-US" sz="1050" b="1" dirty="0">
                <a:solidFill>
                  <a:srgbClr val="C4122F"/>
                </a:solidFill>
                <a:latin typeface="Calibri" pitchFamily="34" charset="0"/>
                <a:ea typeface="Calibri" pitchFamily="34" charset="-122"/>
                <a:cs typeface="Calibri" pitchFamily="34" charset="-120"/>
              </a:rPr>
              <a:t>: </a:t>
            </a:r>
            <a:r>
              <a:rPr lang="en-US" sz="1050" dirty="0">
                <a:solidFill>
                  <a:srgbClr val="404040"/>
                </a:solidFill>
                <a:latin typeface="Calibri" pitchFamily="34" charset="0"/>
                <a:ea typeface="Calibri" pitchFamily="34" charset="-122"/>
                <a:cs typeface="Calibri" pitchFamily="34" charset="-120"/>
              </a:rPr>
              <a:t>proteger datos personales</a:t>
            </a:r>
            <a:endParaRPr lang="en-US" sz="1050" dirty="0"/>
          </a:p>
          <a:p>
            <a:pPr marL="0" indent="0" algn="just">
              <a:spcAft>
                <a:spcPts val="400"/>
              </a:spcAft>
              <a:buNone/>
            </a:pPr>
            <a:r>
              <a:rPr lang="en-US" sz="1050" b="1" dirty="0">
                <a:solidFill>
                  <a:srgbClr val="C4122F"/>
                </a:solidFill>
                <a:latin typeface="Calibri" pitchFamily="34" charset="0"/>
                <a:ea typeface="Calibri" pitchFamily="34" charset="-122"/>
                <a:cs typeface="Calibri" pitchFamily="34" charset="-120"/>
              </a:rPr>
              <a:t>Transparencia: </a:t>
            </a:r>
            <a:r>
              <a:rPr lang="en-US" sz="1050" dirty="0">
                <a:solidFill>
                  <a:srgbClr val="404040"/>
                </a:solidFill>
                <a:latin typeface="Calibri" pitchFamily="34" charset="0"/>
                <a:ea typeface="Calibri" pitchFamily="34" charset="-122"/>
                <a:cs typeface="Calibri" pitchFamily="34" charset="-120"/>
              </a:rPr>
              <a:t>poder explicar cómo se decide</a:t>
            </a:r>
            <a:endParaRPr lang="en-US" sz="1050" dirty="0"/>
          </a:p>
          <a:p>
            <a:pPr marL="0" indent="0" algn="just">
              <a:spcAft>
                <a:spcPts val="400"/>
              </a:spcAft>
              <a:buNone/>
            </a:pPr>
            <a:r>
              <a:rPr lang="en-US" sz="1050" b="1" dirty="0">
                <a:solidFill>
                  <a:srgbClr val="C4122F"/>
                </a:solidFill>
                <a:latin typeface="Calibri" pitchFamily="34" charset="0"/>
                <a:ea typeface="Calibri" pitchFamily="34" charset="-122"/>
                <a:cs typeface="Calibri" pitchFamily="34" charset="-120"/>
              </a:rPr>
              <a:t>Supervisión humana: </a:t>
            </a:r>
            <a:r>
              <a:rPr lang="en-US" sz="1050" dirty="0" err="1">
                <a:solidFill>
                  <a:srgbClr val="404040"/>
                </a:solidFill>
                <a:latin typeface="Calibri" pitchFamily="34" charset="0"/>
                <a:ea typeface="Calibri" pitchFamily="34" charset="-122"/>
                <a:cs typeface="Calibri" pitchFamily="34" charset="-120"/>
              </a:rPr>
              <a:t>revisar</a:t>
            </a:r>
            <a:r>
              <a:rPr lang="en-US" sz="1050" dirty="0">
                <a:solidFill>
                  <a:srgbClr val="404040"/>
                </a:solidFill>
                <a:latin typeface="Calibri" pitchFamily="34" charset="0"/>
                <a:ea typeface="Calibri" pitchFamily="34" charset="-122"/>
                <a:cs typeface="Calibri" pitchFamily="34" charset="-120"/>
              </a:rPr>
              <a:t> </a:t>
            </a:r>
            <a:r>
              <a:rPr lang="en-US" sz="1050" dirty="0" err="1">
                <a:solidFill>
                  <a:srgbClr val="404040"/>
                </a:solidFill>
                <a:latin typeface="Calibri" pitchFamily="34" charset="0"/>
                <a:ea typeface="Calibri" pitchFamily="34" charset="-122"/>
                <a:cs typeface="Calibri" pitchFamily="34" charset="-120"/>
              </a:rPr>
              <a:t>los</a:t>
            </a:r>
            <a:r>
              <a:rPr lang="en-US" sz="1050" dirty="0">
                <a:solidFill>
                  <a:srgbClr val="404040"/>
                </a:solidFill>
                <a:latin typeface="Calibri" pitchFamily="34" charset="0"/>
                <a:ea typeface="Calibri" pitchFamily="34" charset="-122"/>
                <a:cs typeface="Calibri" pitchFamily="34" charset="-120"/>
              </a:rPr>
              <a:t> </a:t>
            </a:r>
            <a:r>
              <a:rPr lang="en-US" sz="1050" dirty="0" err="1">
                <a:solidFill>
                  <a:srgbClr val="404040"/>
                </a:solidFill>
                <a:latin typeface="Calibri" pitchFamily="34" charset="0"/>
                <a:ea typeface="Calibri" pitchFamily="34" charset="-122"/>
                <a:cs typeface="Calibri" pitchFamily="34" charset="-120"/>
              </a:rPr>
              <a:t>resultados</a:t>
            </a:r>
            <a:r>
              <a:rPr lang="en-US" sz="1050" dirty="0">
                <a:solidFill>
                  <a:srgbClr val="404040"/>
                </a:solidFill>
                <a:latin typeface="Calibri" pitchFamily="34" charset="0"/>
                <a:ea typeface="Calibri" pitchFamily="34" charset="-122"/>
                <a:cs typeface="Calibri" pitchFamily="34" charset="-120"/>
              </a:rPr>
              <a:t> antes de </a:t>
            </a:r>
            <a:r>
              <a:rPr lang="en-US" sz="1050" dirty="0" err="1">
                <a:solidFill>
                  <a:srgbClr val="404040"/>
                </a:solidFill>
                <a:latin typeface="Calibri" pitchFamily="34" charset="0"/>
                <a:ea typeface="Calibri" pitchFamily="34" charset="-122"/>
                <a:cs typeface="Calibri" pitchFamily="34" charset="-120"/>
              </a:rPr>
              <a:t>actuar</a:t>
            </a:r>
            <a:endParaRPr lang="en-US" sz="1050" dirty="0"/>
          </a:p>
        </p:txBody>
      </p:sp>
      <p:sp>
        <p:nvSpPr>
          <p:cNvPr id="19" name="Shape 16"/>
          <p:cNvSpPr/>
          <p:nvPr/>
        </p:nvSpPr>
        <p:spPr>
          <a:xfrm>
            <a:off x="548640" y="4114800"/>
            <a:ext cx="8046720" cy="685800"/>
          </a:xfrm>
          <a:prstGeom prst="rect">
            <a:avLst/>
          </a:prstGeom>
          <a:solidFill>
            <a:srgbClr val="ED2E45"/>
          </a:solidFill>
          <a:ln w="12700">
            <a:solidFill>
              <a:srgbClr val="ED2E45"/>
            </a:solidFill>
            <a:prstDash val="solid"/>
          </a:ln>
        </p:spPr>
        <p:txBody>
          <a:bodyPr/>
          <a:lstStyle/>
          <a:p>
            <a:endParaRPr lang="es-PE"/>
          </a:p>
        </p:txBody>
      </p:sp>
      <p:sp>
        <p:nvSpPr>
          <p:cNvPr id="20" name="Text 17"/>
          <p:cNvSpPr txBox="1"/>
          <p:nvPr/>
        </p:nvSpPr>
        <p:spPr>
          <a:xfrm>
            <a:off x="731520" y="4114800"/>
            <a:ext cx="7680960" cy="6858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La </a:t>
            </a:r>
            <a:r>
              <a:rPr lang="en-US" sz="1250" b="1" dirty="0" err="1">
                <a:solidFill>
                  <a:srgbClr val="FFFFFF"/>
                </a:solidFill>
                <a:latin typeface="Calibri" pitchFamily="34" charset="0"/>
                <a:ea typeface="Calibri" pitchFamily="34" charset="-122"/>
                <a:cs typeface="Calibri" pitchFamily="34" charset="-120"/>
              </a:rPr>
              <a:t>tecnología</a:t>
            </a:r>
            <a:r>
              <a:rPr lang="en-US" sz="1250" b="1" dirty="0">
                <a:solidFill>
                  <a:srgbClr val="FFFFFF"/>
                </a:solidFill>
                <a:latin typeface="Calibri" pitchFamily="34" charset="0"/>
                <a:ea typeface="Calibri" pitchFamily="34" charset="-122"/>
                <a:cs typeface="Calibri" pitchFamily="34" charset="-120"/>
              </a:rPr>
              <a:t> </a:t>
            </a:r>
            <a:r>
              <a:rPr lang="en-US" sz="1250" b="1" dirty="0" err="1">
                <a:solidFill>
                  <a:srgbClr val="FFFFFF"/>
                </a:solidFill>
                <a:latin typeface="Calibri" pitchFamily="34" charset="0"/>
                <a:ea typeface="Calibri" pitchFamily="34" charset="-122"/>
                <a:cs typeface="Calibri" pitchFamily="34" charset="-120"/>
              </a:rPr>
              <a:t>apoya</a:t>
            </a:r>
            <a:r>
              <a:rPr lang="en-US" sz="1250" b="1" dirty="0">
                <a:solidFill>
                  <a:srgbClr val="FFFFFF"/>
                </a:solidFill>
                <a:latin typeface="Calibri" pitchFamily="34" charset="0"/>
                <a:ea typeface="Calibri" pitchFamily="34" charset="-122"/>
                <a:cs typeface="Calibri" pitchFamily="34" charset="-120"/>
              </a:rPr>
              <a:t> las </a:t>
            </a:r>
            <a:r>
              <a:rPr lang="en-US" sz="1250" b="1" dirty="0" err="1">
                <a:solidFill>
                  <a:srgbClr val="FFFFFF"/>
                </a:solidFill>
                <a:latin typeface="Calibri" pitchFamily="34" charset="0"/>
                <a:ea typeface="Calibri" pitchFamily="34" charset="-122"/>
                <a:cs typeface="Calibri" pitchFamily="34" charset="-120"/>
              </a:rPr>
              <a:t>decisiones</a:t>
            </a:r>
            <a:r>
              <a:rPr lang="en-US" sz="1250" b="1" dirty="0">
                <a:solidFill>
                  <a:srgbClr val="FFFFFF"/>
                </a:solidFill>
                <a:latin typeface="Calibri" pitchFamily="34" charset="0"/>
                <a:ea typeface="Calibri" pitchFamily="34" charset="-122"/>
                <a:cs typeface="Calibri" pitchFamily="34" charset="-120"/>
              </a:rPr>
              <a:t>. El </a:t>
            </a:r>
            <a:r>
              <a:rPr lang="en-US" sz="1250" b="1" dirty="0" err="1">
                <a:solidFill>
                  <a:srgbClr val="FFFFFF"/>
                </a:solidFill>
                <a:latin typeface="Calibri" pitchFamily="34" charset="0"/>
                <a:ea typeface="Calibri" pitchFamily="34" charset="-122"/>
                <a:cs typeface="Calibri" pitchFamily="34" charset="-120"/>
              </a:rPr>
              <a:t>criterio</a:t>
            </a:r>
            <a:r>
              <a:rPr lang="en-US" sz="1250" b="1" dirty="0">
                <a:solidFill>
                  <a:srgbClr val="FFFFFF"/>
                </a:solidFill>
                <a:latin typeface="Calibri" pitchFamily="34" charset="0"/>
                <a:ea typeface="Calibri" pitchFamily="34" charset="-122"/>
                <a:cs typeface="Calibri" pitchFamily="34" charset="-120"/>
              </a:rPr>
              <a:t> </a:t>
            </a:r>
            <a:r>
              <a:rPr lang="en-US" sz="1250" b="1" dirty="0" err="1">
                <a:solidFill>
                  <a:srgbClr val="FFFFFF"/>
                </a:solidFill>
                <a:latin typeface="Calibri" pitchFamily="34" charset="0"/>
                <a:ea typeface="Calibri" pitchFamily="34" charset="-122"/>
                <a:cs typeface="Calibri" pitchFamily="34" charset="-120"/>
              </a:rPr>
              <a:t>técnico</a:t>
            </a:r>
            <a:r>
              <a:rPr lang="en-US" sz="1250" b="1" dirty="0">
                <a:solidFill>
                  <a:srgbClr val="FFFFFF"/>
                </a:solidFill>
                <a:latin typeface="Calibri" pitchFamily="34" charset="0"/>
                <a:ea typeface="Calibri" pitchFamily="34" charset="-122"/>
                <a:cs typeface="Calibri" pitchFamily="34" charset="-120"/>
              </a:rPr>
              <a:t> y la </a:t>
            </a:r>
            <a:r>
              <a:rPr lang="en-US" sz="1250" b="1" dirty="0" err="1">
                <a:solidFill>
                  <a:srgbClr val="FFFFFF"/>
                </a:solidFill>
                <a:latin typeface="Calibri" pitchFamily="34" charset="0"/>
                <a:ea typeface="Calibri" pitchFamily="34" charset="-122"/>
                <a:cs typeface="Calibri" pitchFamily="34" charset="-120"/>
              </a:rPr>
              <a:t>responsabilidad</a:t>
            </a:r>
            <a:r>
              <a:rPr lang="en-US" sz="1250" b="1" dirty="0">
                <a:solidFill>
                  <a:srgbClr val="FFFFFF"/>
                </a:solidFill>
                <a:latin typeface="Calibri" pitchFamily="34" charset="0"/>
                <a:ea typeface="Calibri" pitchFamily="34" charset="-122"/>
                <a:cs typeface="Calibri" pitchFamily="34" charset="-120"/>
              </a:rPr>
              <a:t> </a:t>
            </a:r>
            <a:r>
              <a:rPr lang="en-US" sz="1250" b="1" dirty="0" err="1">
                <a:solidFill>
                  <a:srgbClr val="FFFFFF"/>
                </a:solidFill>
                <a:latin typeface="Calibri" pitchFamily="34" charset="0"/>
                <a:ea typeface="Calibri" pitchFamily="34" charset="-122"/>
                <a:cs typeface="Calibri" pitchFamily="34" charset="-120"/>
              </a:rPr>
              <a:t>pública</a:t>
            </a:r>
            <a:r>
              <a:rPr lang="en-US" sz="1250" b="1" dirty="0">
                <a:solidFill>
                  <a:srgbClr val="FFFFFF"/>
                </a:solidFill>
                <a:latin typeface="Calibri" pitchFamily="34" charset="0"/>
                <a:ea typeface="Calibri" pitchFamily="34" charset="-122"/>
                <a:cs typeface="Calibri" pitchFamily="34" charset="-120"/>
              </a:rPr>
              <a:t> </a:t>
            </a:r>
            <a:r>
              <a:rPr lang="en-US" sz="1250" b="1" dirty="0" err="1">
                <a:solidFill>
                  <a:srgbClr val="FFFFFF"/>
                </a:solidFill>
                <a:latin typeface="Calibri" pitchFamily="34" charset="0"/>
                <a:ea typeface="Calibri" pitchFamily="34" charset="-122"/>
                <a:cs typeface="Calibri" pitchFamily="34" charset="-120"/>
              </a:rPr>
              <a:t>corresponde</a:t>
            </a:r>
            <a:r>
              <a:rPr lang="en-US" sz="1250" b="1" dirty="0">
                <a:solidFill>
                  <a:srgbClr val="FFFFFF"/>
                </a:solidFill>
                <a:latin typeface="Calibri" pitchFamily="34" charset="0"/>
                <a:ea typeface="Calibri" pitchFamily="34" charset="-122"/>
                <a:cs typeface="Calibri" pitchFamily="34" charset="-120"/>
              </a:rPr>
              <a:t> a las personas y las </a:t>
            </a:r>
            <a:r>
              <a:rPr lang="en-US" sz="1250" b="1" dirty="0" err="1">
                <a:solidFill>
                  <a:srgbClr val="FFFFFF"/>
                </a:solidFill>
                <a:latin typeface="Calibri" pitchFamily="34" charset="0"/>
                <a:ea typeface="Calibri" pitchFamily="34" charset="-122"/>
                <a:cs typeface="Calibri" pitchFamily="34" charset="-120"/>
              </a:rPr>
              <a:t>instituciones</a:t>
            </a:r>
            <a:r>
              <a:rPr lang="en-US" sz="1250" b="1" dirty="0">
                <a:solidFill>
                  <a:srgbClr val="FFFFFF"/>
                </a:solidFill>
                <a:latin typeface="Calibri" pitchFamily="34" charset="0"/>
                <a:ea typeface="Calibri" pitchFamily="34" charset="-122"/>
                <a:cs typeface="Calibri" pitchFamily="34" charset="-120"/>
              </a:rPr>
              <a:t>.</a:t>
            </a:r>
            <a:endParaRPr lang="en-US" sz="1250" dirty="0"/>
          </a:p>
        </p:txBody>
      </p:sp>
      <p:pic>
        <p:nvPicPr>
          <p:cNvPr id="21" name="Image 0" descr="a/logo_mimp_h.png"/>
          <p:cNvPicPr>
            <a:picLocks noChangeAspect="1"/>
          </p:cNvPicPr>
          <p:nvPr/>
        </p:nvPicPr>
        <p:blipFill>
          <a:blip r:embed="rId4"/>
          <a:stretch>
            <a:fillRect/>
          </a:stretch>
        </p:blipFill>
        <p:spPr>
          <a:xfrm>
            <a:off x="184709" y="110642"/>
            <a:ext cx="1790395" cy="417881"/>
          </a:xfrm>
          <a:prstGeom prst="rect">
            <a:avLst/>
          </a:prstGeom>
        </p:spPr>
      </p:pic>
      <p:pic>
        <p:nvPicPr>
          <p:cNvPr id="22" name="Image 1" descr="a/logo_30.png"/>
          <p:cNvPicPr>
            <a:picLocks noChangeAspect="1"/>
          </p:cNvPicPr>
          <p:nvPr/>
        </p:nvPicPr>
        <p:blipFill>
          <a:blip r:embed="rId5"/>
          <a:stretch>
            <a:fillRect/>
          </a:stretch>
        </p:blipFill>
        <p:spPr>
          <a:xfrm>
            <a:off x="3611880" y="2743"/>
            <a:ext cx="1158545" cy="622706"/>
          </a:xfrm>
          <a:prstGeom prst="rect">
            <a:avLst/>
          </a:prstGeom>
        </p:spPr>
      </p:pic>
      <p:pic>
        <p:nvPicPr>
          <p:cNvPr id="23" name="Image 2" descr="a/logo_peru_responde.png"/>
          <p:cNvPicPr>
            <a:picLocks noChangeAspect="1"/>
          </p:cNvPicPr>
          <p:nvPr/>
        </p:nvPicPr>
        <p:blipFill>
          <a:blip r:embed="rId6"/>
          <a:stretch>
            <a:fillRect/>
          </a:stretch>
        </p:blipFill>
        <p:spPr>
          <a:xfrm>
            <a:off x="7299655" y="102413"/>
            <a:ext cx="1602943" cy="475488"/>
          </a:xfrm>
          <a:prstGeom prst="rect">
            <a:avLst/>
          </a:prstGeom>
        </p:spPr>
      </p:pic>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65192"/>
            <a:ext cx="9144000" cy="178308"/>
          </a:xfrm>
          <a:prstGeom prst="rect">
            <a:avLst/>
          </a:prstGeom>
          <a:solidFill>
            <a:srgbClr val="ED2E45"/>
          </a:solidFill>
          <a:ln w="12700">
            <a:solidFill>
              <a:srgbClr val="ED2E45"/>
            </a:solidFill>
            <a:prstDash val="solid"/>
          </a:ln>
        </p:spPr>
        <p:txBody>
          <a:bodyPr/>
          <a:lstStyle/>
          <a:p>
            <a:endParaRPr lang="es-PE"/>
          </a:p>
        </p:txBody>
      </p:sp>
      <p:sp>
        <p:nvSpPr>
          <p:cNvPr id="3" name="Text 1"/>
          <p:cNvSpPr txBox="1"/>
          <p:nvPr/>
        </p:nvSpPr>
        <p:spPr>
          <a:xfrm>
            <a:off x="54864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 · COMPRENDER</a:t>
            </a:r>
            <a:endParaRPr lang="en-US" sz="750" dirty="0"/>
          </a:p>
        </p:txBody>
      </p:sp>
      <p:sp>
        <p:nvSpPr>
          <p:cNvPr id="4" name="Text 2"/>
          <p:cNvSpPr txBox="1"/>
          <p:nvPr/>
        </p:nvSpPr>
        <p:spPr>
          <a:xfrm>
            <a:off x="256032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II · DISEÑAR</a:t>
            </a:r>
            <a:endParaRPr lang="en-US" sz="750" dirty="0"/>
          </a:p>
        </p:txBody>
      </p:sp>
      <p:sp>
        <p:nvSpPr>
          <p:cNvPr id="5" name="Text 3"/>
          <p:cNvSpPr txBox="1"/>
          <p:nvPr/>
        </p:nvSpPr>
        <p:spPr>
          <a:xfrm>
            <a:off x="4572000" y="4965192"/>
            <a:ext cx="2011680" cy="178308"/>
          </a:xfrm>
          <a:prstGeom prst="rect">
            <a:avLst/>
          </a:prstGeom>
          <a:noFill/>
          <a:ln/>
        </p:spPr>
        <p:txBody>
          <a:bodyPr wrap="square" lIns="0" tIns="0" rIns="0" bIns="0" rtlCol="0" anchor="ctr"/>
          <a:lstStyle/>
          <a:p>
            <a:pPr marL="0" indent="0">
              <a:buNone/>
            </a:pPr>
            <a:r>
              <a:rPr lang="en-US" sz="750" b="1" kern="0" spc="100" dirty="0">
                <a:solidFill>
                  <a:srgbClr val="FFFFFF"/>
                </a:solidFill>
                <a:latin typeface="Calibri" pitchFamily="34" charset="0"/>
                <a:ea typeface="Calibri" pitchFamily="34" charset="-122"/>
                <a:cs typeface="Calibri" pitchFamily="34" charset="-120"/>
              </a:rPr>
              <a:t>III · VALIDAR</a:t>
            </a:r>
            <a:endParaRPr lang="en-US" sz="750" dirty="0"/>
          </a:p>
        </p:txBody>
      </p:sp>
      <p:sp>
        <p:nvSpPr>
          <p:cNvPr id="6" name="Text 4"/>
          <p:cNvSpPr txBox="1"/>
          <p:nvPr/>
        </p:nvSpPr>
        <p:spPr>
          <a:xfrm>
            <a:off x="658368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IV · COMUNICAR</a:t>
            </a:r>
            <a:endParaRPr lang="en-US" sz="750" dirty="0"/>
          </a:p>
        </p:txBody>
      </p:sp>
      <p:sp>
        <p:nvSpPr>
          <p:cNvPr id="8" name="Text 5"/>
          <p:cNvSpPr txBox="1"/>
          <p:nvPr/>
        </p:nvSpPr>
        <p:spPr>
          <a:xfrm>
            <a:off x="548640" y="536753"/>
            <a:ext cx="8046720" cy="502920"/>
          </a:xfrm>
          <a:prstGeom prst="rect">
            <a:avLst/>
          </a:prstGeom>
          <a:noFill/>
          <a:ln/>
        </p:spPr>
        <p:txBody>
          <a:bodyPr wrap="square" lIns="0" tIns="0" rIns="0" bIns="0" rtlCol="0" anchor="ctr"/>
          <a:lstStyle/>
          <a:p>
            <a:pPr marL="0" indent="0">
              <a:buNone/>
            </a:pPr>
            <a:r>
              <a:rPr lang="en-US" sz="2200" b="1" dirty="0">
                <a:solidFill>
                  <a:srgbClr val="ED2E45"/>
                </a:solidFill>
                <a:latin typeface="Montserrat" pitchFamily="34" charset="0"/>
                <a:ea typeface="Montserrat" pitchFamily="34" charset="-122"/>
                <a:cs typeface="Montserrat" pitchFamily="34" charset="-120"/>
              </a:rPr>
              <a:t>Viabilidad de la propuesta</a:t>
            </a:r>
            <a:endParaRPr lang="en-US" sz="2200" dirty="0"/>
          </a:p>
        </p:txBody>
      </p:sp>
      <p:sp>
        <p:nvSpPr>
          <p:cNvPr id="9" name="Shape 6"/>
          <p:cNvSpPr/>
          <p:nvPr/>
        </p:nvSpPr>
        <p:spPr>
          <a:xfrm>
            <a:off x="548640" y="1417320"/>
            <a:ext cx="8046720" cy="457200"/>
          </a:xfrm>
          <a:prstGeom prst="roundRect">
            <a:avLst>
              <a:gd name="adj" fmla="val 16000"/>
            </a:avLst>
          </a:prstGeom>
          <a:solidFill>
            <a:srgbClr val="FFFFFF"/>
          </a:solidFill>
          <a:ln w="12700">
            <a:solidFill>
              <a:srgbClr val="ED2E45"/>
            </a:solidFill>
            <a:prstDash val="solid"/>
          </a:ln>
        </p:spPr>
        <p:txBody>
          <a:bodyPr/>
          <a:lstStyle/>
          <a:p>
            <a:endParaRPr lang="es-PE"/>
          </a:p>
        </p:txBody>
      </p:sp>
      <p:sp>
        <p:nvSpPr>
          <p:cNvPr id="10" name="Shape 7"/>
          <p:cNvSpPr/>
          <p:nvPr/>
        </p:nvSpPr>
        <p:spPr>
          <a:xfrm>
            <a:off x="658368" y="1298448"/>
            <a:ext cx="868680" cy="237744"/>
          </a:xfrm>
          <a:prstGeom prst="roundRect">
            <a:avLst>
              <a:gd name="adj" fmla="val 50000"/>
            </a:avLst>
          </a:prstGeom>
          <a:solidFill>
            <a:srgbClr val="ED2E45"/>
          </a:solidFill>
          <a:ln w="12700">
            <a:solidFill>
              <a:srgbClr val="ED2E45"/>
            </a:solidFill>
            <a:prstDash val="solid"/>
          </a:ln>
        </p:spPr>
        <p:txBody>
          <a:bodyPr/>
          <a:lstStyle/>
          <a:p>
            <a:endParaRPr lang="es-PE"/>
          </a:p>
        </p:txBody>
      </p:sp>
      <p:sp>
        <p:nvSpPr>
          <p:cNvPr id="11" name="Text 8"/>
          <p:cNvSpPr txBox="1"/>
          <p:nvPr/>
        </p:nvSpPr>
        <p:spPr>
          <a:xfrm>
            <a:off x="658368" y="1298448"/>
            <a:ext cx="868680" cy="237744"/>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¿QUÉ ES?</a:t>
            </a:r>
            <a:endParaRPr lang="en-US" sz="850" dirty="0"/>
          </a:p>
        </p:txBody>
      </p:sp>
      <p:sp>
        <p:nvSpPr>
          <p:cNvPr id="12" name="Text 9"/>
          <p:cNvSpPr txBox="1"/>
          <p:nvPr/>
        </p:nvSpPr>
        <p:spPr>
          <a:xfrm>
            <a:off x="685800" y="1490472"/>
            <a:ext cx="7772400" cy="347472"/>
          </a:xfrm>
          <a:prstGeom prst="rect">
            <a:avLst/>
          </a:prstGeom>
          <a:noFill/>
          <a:ln/>
        </p:spPr>
        <p:txBody>
          <a:bodyPr wrap="square" lIns="0" tIns="0" rIns="0" bIns="0" rtlCol="0" anchor="ctr"/>
          <a:lstStyle/>
          <a:p>
            <a:pPr marL="0" indent="0">
              <a:buNone/>
            </a:pPr>
            <a:r>
              <a:rPr lang="en-US" sz="1100" b="1" dirty="0">
                <a:solidFill>
                  <a:srgbClr val="ED2E45"/>
                </a:solidFill>
                <a:latin typeface="Calibri" pitchFamily="34" charset="0"/>
                <a:ea typeface="Calibri" pitchFamily="34" charset="-122"/>
                <a:cs typeface="Calibri" pitchFamily="34" charset="-120"/>
              </a:rPr>
              <a:t>Viabilidad: </a:t>
            </a:r>
            <a:r>
              <a:rPr lang="en-US" sz="1100" dirty="0" err="1">
                <a:solidFill>
                  <a:srgbClr val="404040"/>
                </a:solidFill>
                <a:latin typeface="Calibri" pitchFamily="34" charset="0"/>
                <a:ea typeface="Calibri" pitchFamily="34" charset="-122"/>
                <a:cs typeface="Calibri" pitchFamily="34" charset="-120"/>
              </a:rPr>
              <a:t>una</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propuesta</a:t>
            </a:r>
            <a:r>
              <a:rPr lang="en-US" sz="1100" dirty="0">
                <a:solidFill>
                  <a:srgbClr val="404040"/>
                </a:solidFill>
                <a:latin typeface="Calibri" pitchFamily="34" charset="0"/>
                <a:ea typeface="Calibri" pitchFamily="34" charset="-122"/>
                <a:cs typeface="Calibri" pitchFamily="34" charset="-120"/>
              </a:rPr>
              <a:t> es viable </a:t>
            </a:r>
            <a:r>
              <a:rPr lang="en-US" sz="1100" dirty="0" err="1">
                <a:solidFill>
                  <a:srgbClr val="404040"/>
                </a:solidFill>
                <a:latin typeface="Calibri" pitchFamily="34" charset="0"/>
                <a:ea typeface="Calibri" pitchFamily="34" charset="-122"/>
                <a:cs typeface="Calibri" pitchFamily="34" charset="-120"/>
              </a:rPr>
              <a:t>cuando</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puede</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implementarse</a:t>
            </a:r>
            <a:r>
              <a:rPr lang="en-US" sz="1100" dirty="0">
                <a:solidFill>
                  <a:srgbClr val="404040"/>
                </a:solidFill>
                <a:latin typeface="Calibri" pitchFamily="34" charset="0"/>
                <a:ea typeface="Calibri" pitchFamily="34" charset="-122"/>
                <a:cs typeface="Calibri" pitchFamily="34" charset="-120"/>
              </a:rPr>
              <a:t> con </a:t>
            </a:r>
            <a:r>
              <a:rPr lang="en-US" sz="1100" dirty="0" err="1">
                <a:solidFill>
                  <a:srgbClr val="404040"/>
                </a:solidFill>
                <a:latin typeface="Calibri" pitchFamily="34" charset="0"/>
                <a:ea typeface="Calibri" pitchFamily="34" charset="-122"/>
                <a:cs typeface="Calibri" pitchFamily="34" charset="-120"/>
              </a:rPr>
              <a:t>los</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datos</a:t>
            </a:r>
            <a:r>
              <a:rPr lang="en-US" sz="1100" dirty="0">
                <a:solidFill>
                  <a:srgbClr val="404040"/>
                </a:solidFill>
                <a:latin typeface="Calibri" pitchFamily="34" charset="0"/>
                <a:ea typeface="Calibri" pitchFamily="34" charset="-122"/>
                <a:cs typeface="Calibri" pitchFamily="34" charset="-120"/>
              </a:rPr>
              <a:t>, las </a:t>
            </a:r>
            <a:r>
              <a:rPr lang="en-US" sz="1100" dirty="0" err="1">
                <a:solidFill>
                  <a:srgbClr val="404040"/>
                </a:solidFill>
                <a:latin typeface="Calibri" pitchFamily="34" charset="0"/>
                <a:ea typeface="Calibri" pitchFamily="34" charset="-122"/>
                <a:cs typeface="Calibri" pitchFamily="34" charset="-120"/>
              </a:rPr>
              <a:t>capacidades</a:t>
            </a:r>
            <a:r>
              <a:rPr lang="en-US" sz="1100" dirty="0">
                <a:solidFill>
                  <a:srgbClr val="404040"/>
                </a:solidFill>
                <a:latin typeface="Calibri" pitchFamily="34" charset="0"/>
                <a:ea typeface="Calibri" pitchFamily="34" charset="-122"/>
                <a:cs typeface="Calibri" pitchFamily="34" charset="-120"/>
              </a:rPr>
              <a:t> y </a:t>
            </a:r>
            <a:r>
              <a:rPr lang="en-US" sz="1100" dirty="0" err="1">
                <a:solidFill>
                  <a:srgbClr val="404040"/>
                </a:solidFill>
                <a:latin typeface="Calibri" pitchFamily="34" charset="0"/>
                <a:ea typeface="Calibri" pitchFamily="34" charset="-122"/>
                <a:cs typeface="Calibri" pitchFamily="34" charset="-120"/>
              </a:rPr>
              <a:t>los</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recursos</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disponibles</a:t>
            </a:r>
            <a:r>
              <a:rPr lang="en-US" sz="1100" dirty="0">
                <a:solidFill>
                  <a:srgbClr val="404040"/>
                </a:solidFill>
                <a:latin typeface="Calibri" pitchFamily="34" charset="0"/>
                <a:ea typeface="Calibri" pitchFamily="34" charset="-122"/>
                <a:cs typeface="Calibri" pitchFamily="34" charset="-120"/>
              </a:rPr>
              <a:t>.</a:t>
            </a:r>
            <a:endParaRPr lang="en-US" sz="1100" dirty="0"/>
          </a:p>
        </p:txBody>
      </p:sp>
      <p:sp>
        <p:nvSpPr>
          <p:cNvPr id="13" name="Shape 10"/>
          <p:cNvSpPr/>
          <p:nvPr/>
        </p:nvSpPr>
        <p:spPr>
          <a:xfrm>
            <a:off x="548640" y="2103120"/>
            <a:ext cx="1499616" cy="502920"/>
          </a:xfrm>
          <a:prstGeom prst="rect">
            <a:avLst/>
          </a:prstGeom>
          <a:solidFill>
            <a:srgbClr val="ED2E45"/>
          </a:solidFill>
          <a:ln w="12700">
            <a:solidFill>
              <a:srgbClr val="ED2E45"/>
            </a:solidFill>
            <a:prstDash val="solid"/>
          </a:ln>
        </p:spPr>
        <p:txBody>
          <a:bodyPr/>
          <a:lstStyle/>
          <a:p>
            <a:endParaRPr lang="es-PE"/>
          </a:p>
        </p:txBody>
      </p:sp>
      <p:sp>
        <p:nvSpPr>
          <p:cNvPr id="14" name="Text 11"/>
          <p:cNvSpPr txBox="1"/>
          <p:nvPr/>
        </p:nvSpPr>
        <p:spPr>
          <a:xfrm>
            <a:off x="548640" y="2103120"/>
            <a:ext cx="1499616"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Montserrat" pitchFamily="34" charset="0"/>
                <a:ea typeface="Montserrat" pitchFamily="34" charset="-122"/>
                <a:cs typeface="Montserrat" pitchFamily="34" charset="-120"/>
              </a:rPr>
              <a:t>Técnica</a:t>
            </a:r>
            <a:endParaRPr lang="en-US" sz="1250" dirty="0"/>
          </a:p>
        </p:txBody>
      </p:sp>
      <p:sp>
        <p:nvSpPr>
          <p:cNvPr id="15" name="Shape 12"/>
          <p:cNvSpPr/>
          <p:nvPr/>
        </p:nvSpPr>
        <p:spPr>
          <a:xfrm>
            <a:off x="548640" y="2606040"/>
            <a:ext cx="1499616" cy="1575207"/>
          </a:xfrm>
          <a:prstGeom prst="rect">
            <a:avLst/>
          </a:prstGeom>
          <a:solidFill>
            <a:srgbClr val="F2F2F2"/>
          </a:solidFill>
          <a:ln w="12700">
            <a:solidFill>
              <a:srgbClr val="F2F2F2"/>
            </a:solidFill>
            <a:prstDash val="solid"/>
          </a:ln>
        </p:spPr>
        <p:txBody>
          <a:bodyPr/>
          <a:lstStyle/>
          <a:p>
            <a:endParaRPr lang="es-PE"/>
          </a:p>
        </p:txBody>
      </p:sp>
      <p:sp>
        <p:nvSpPr>
          <p:cNvPr id="16" name="Text 13"/>
          <p:cNvSpPr txBox="1"/>
          <p:nvPr/>
        </p:nvSpPr>
        <p:spPr>
          <a:xfrm>
            <a:off x="640080" y="2724912"/>
            <a:ext cx="1316736" cy="1508760"/>
          </a:xfrm>
          <a:prstGeom prst="rect">
            <a:avLst/>
          </a:prstGeom>
          <a:noFill/>
          <a:ln/>
        </p:spPr>
        <p:txBody>
          <a:bodyPr wrap="square" lIns="0" tIns="0" rIns="0" bIns="0" rtlCol="0" anchor="t"/>
          <a:lstStyle/>
          <a:p>
            <a:pPr marL="342900" indent="-342900" algn="just">
              <a:spcAft>
                <a:spcPts val="300"/>
              </a:spcAft>
              <a:buSzPct val="100000"/>
              <a:buChar char="■"/>
            </a:pPr>
            <a:r>
              <a:rPr lang="en-US" sz="1100" dirty="0">
                <a:solidFill>
                  <a:srgbClr val="404040"/>
                </a:solidFill>
                <a:latin typeface="Calibri" pitchFamily="34" charset="0"/>
                <a:ea typeface="Calibri" pitchFamily="34" charset="-122"/>
                <a:cs typeface="Calibri" pitchFamily="34" charset="-120"/>
              </a:rPr>
              <a:t>¿Los </a:t>
            </a:r>
            <a:r>
              <a:rPr lang="en-US" sz="1100" dirty="0" err="1">
                <a:solidFill>
                  <a:srgbClr val="404040"/>
                </a:solidFill>
                <a:latin typeface="Calibri" pitchFamily="34" charset="0"/>
                <a:ea typeface="Calibri" pitchFamily="34" charset="-122"/>
                <a:cs typeface="Calibri" pitchFamily="34" charset="-120"/>
              </a:rPr>
              <a:t>datos</a:t>
            </a:r>
            <a:r>
              <a:rPr lang="en-US" sz="1100" dirty="0">
                <a:solidFill>
                  <a:srgbClr val="404040"/>
                </a:solidFill>
                <a:latin typeface="Calibri" pitchFamily="34" charset="0"/>
                <a:ea typeface="Calibri" pitchFamily="34" charset="-122"/>
                <a:cs typeface="Calibri" pitchFamily="34" charset="-120"/>
              </a:rPr>
              <a:t> son </a:t>
            </a:r>
            <a:r>
              <a:rPr lang="en-US" sz="1100" dirty="0" err="1">
                <a:solidFill>
                  <a:srgbClr val="404040"/>
                </a:solidFill>
                <a:latin typeface="Calibri" pitchFamily="34" charset="0"/>
                <a:ea typeface="Calibri" pitchFamily="34" charset="-122"/>
                <a:cs typeface="Calibri" pitchFamily="34" charset="-120"/>
              </a:rPr>
              <a:t>accesibles</a:t>
            </a:r>
            <a:r>
              <a:rPr lang="en-US" sz="1100" dirty="0">
                <a:solidFill>
                  <a:srgbClr val="404040"/>
                </a:solidFill>
                <a:latin typeface="Calibri" pitchFamily="34" charset="0"/>
                <a:ea typeface="Calibri" pitchFamily="34" charset="-122"/>
                <a:cs typeface="Calibri" pitchFamily="34" charset="-120"/>
              </a:rPr>
              <a:t> y de </a:t>
            </a:r>
            <a:r>
              <a:rPr lang="en-US" sz="1100" dirty="0" err="1">
                <a:solidFill>
                  <a:srgbClr val="404040"/>
                </a:solidFill>
                <a:latin typeface="Calibri" pitchFamily="34" charset="0"/>
                <a:ea typeface="Calibri" pitchFamily="34" charset="-122"/>
                <a:cs typeface="Calibri" pitchFamily="34" charset="-120"/>
              </a:rPr>
              <a:t>calidad</a:t>
            </a:r>
            <a:r>
              <a:rPr lang="en-US" sz="1100" dirty="0">
                <a:solidFill>
                  <a:srgbClr val="404040"/>
                </a:solidFill>
                <a:latin typeface="Calibri" pitchFamily="34" charset="0"/>
                <a:ea typeface="Calibri" pitchFamily="34" charset="-122"/>
                <a:cs typeface="Calibri" pitchFamily="34" charset="-120"/>
              </a:rPr>
              <a:t>?</a:t>
            </a:r>
            <a:endParaRPr lang="en-US" sz="1100" dirty="0"/>
          </a:p>
          <a:p>
            <a:pPr marL="342900" indent="-342900" algn="just">
              <a:spcAft>
                <a:spcPts val="300"/>
              </a:spcAft>
              <a:buSzPct val="100000"/>
              <a:buChar char="■"/>
            </a:pPr>
            <a:r>
              <a:rPr lang="en-US" sz="1100" dirty="0">
                <a:solidFill>
                  <a:srgbClr val="404040"/>
                </a:solidFill>
                <a:latin typeface="Calibri" pitchFamily="34" charset="0"/>
                <a:ea typeface="Calibri" pitchFamily="34" charset="-122"/>
                <a:cs typeface="Calibri" pitchFamily="34" charset="-120"/>
              </a:rPr>
              <a:t>¿La </a:t>
            </a:r>
            <a:r>
              <a:rPr lang="en-US" sz="1100" dirty="0" err="1">
                <a:solidFill>
                  <a:srgbClr val="404040"/>
                </a:solidFill>
                <a:latin typeface="Calibri" pitchFamily="34" charset="0"/>
                <a:ea typeface="Calibri" pitchFamily="34" charset="-122"/>
                <a:cs typeface="Calibri" pitchFamily="34" charset="-120"/>
              </a:rPr>
              <a:t>metodología</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permite</a:t>
            </a:r>
            <a:r>
              <a:rPr lang="en-US" sz="1100" dirty="0">
                <a:solidFill>
                  <a:srgbClr val="404040"/>
                </a:solidFill>
                <a:latin typeface="Calibri" pitchFamily="34" charset="0"/>
                <a:ea typeface="Calibri" pitchFamily="34" charset="-122"/>
                <a:cs typeface="Calibri" pitchFamily="34" charset="-120"/>
              </a:rPr>
              <a:t> responder al </a:t>
            </a:r>
            <a:r>
              <a:rPr lang="en-US" sz="1100" dirty="0" err="1">
                <a:solidFill>
                  <a:srgbClr val="404040"/>
                </a:solidFill>
                <a:latin typeface="Calibri" pitchFamily="34" charset="0"/>
                <a:ea typeface="Calibri" pitchFamily="34" charset="-122"/>
                <a:cs typeface="Calibri" pitchFamily="34" charset="-120"/>
              </a:rPr>
              <a:t>problema</a:t>
            </a:r>
            <a:r>
              <a:rPr lang="en-US" sz="1100" dirty="0">
                <a:solidFill>
                  <a:srgbClr val="404040"/>
                </a:solidFill>
                <a:latin typeface="Calibri" pitchFamily="34" charset="0"/>
                <a:ea typeface="Calibri" pitchFamily="34" charset="-122"/>
                <a:cs typeface="Calibri" pitchFamily="34" charset="-120"/>
              </a:rPr>
              <a:t>?</a:t>
            </a:r>
            <a:endParaRPr lang="en-US" sz="1100" dirty="0"/>
          </a:p>
        </p:txBody>
      </p:sp>
      <p:sp>
        <p:nvSpPr>
          <p:cNvPr id="17" name="Shape 14"/>
          <p:cNvSpPr/>
          <p:nvPr/>
        </p:nvSpPr>
        <p:spPr>
          <a:xfrm>
            <a:off x="2185416" y="2103120"/>
            <a:ext cx="1499616" cy="502920"/>
          </a:xfrm>
          <a:prstGeom prst="rect">
            <a:avLst/>
          </a:prstGeom>
          <a:solidFill>
            <a:srgbClr val="ED2E45"/>
          </a:solidFill>
          <a:ln w="12700">
            <a:solidFill>
              <a:srgbClr val="ED2E45"/>
            </a:solidFill>
            <a:prstDash val="solid"/>
          </a:ln>
        </p:spPr>
        <p:txBody>
          <a:bodyPr/>
          <a:lstStyle/>
          <a:p>
            <a:endParaRPr lang="es-PE"/>
          </a:p>
        </p:txBody>
      </p:sp>
      <p:sp>
        <p:nvSpPr>
          <p:cNvPr id="18" name="Text 15"/>
          <p:cNvSpPr txBox="1"/>
          <p:nvPr/>
        </p:nvSpPr>
        <p:spPr>
          <a:xfrm>
            <a:off x="2185416" y="2103120"/>
            <a:ext cx="1499616"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Montserrat" pitchFamily="34" charset="0"/>
                <a:ea typeface="Montserrat" pitchFamily="34" charset="-122"/>
                <a:cs typeface="Montserrat" pitchFamily="34" charset="-120"/>
              </a:rPr>
              <a:t>Institucional</a:t>
            </a:r>
            <a:endParaRPr lang="en-US" sz="1250" dirty="0"/>
          </a:p>
        </p:txBody>
      </p:sp>
      <p:sp>
        <p:nvSpPr>
          <p:cNvPr id="19" name="Shape 16"/>
          <p:cNvSpPr/>
          <p:nvPr/>
        </p:nvSpPr>
        <p:spPr>
          <a:xfrm>
            <a:off x="2185416" y="2606040"/>
            <a:ext cx="1499616" cy="1627632"/>
          </a:xfrm>
          <a:prstGeom prst="rect">
            <a:avLst/>
          </a:prstGeom>
          <a:solidFill>
            <a:srgbClr val="F2F2F2"/>
          </a:solidFill>
          <a:ln w="12700">
            <a:solidFill>
              <a:srgbClr val="F2F2F2"/>
            </a:solidFill>
            <a:prstDash val="solid"/>
          </a:ln>
        </p:spPr>
        <p:txBody>
          <a:bodyPr/>
          <a:lstStyle/>
          <a:p>
            <a:endParaRPr lang="es-PE"/>
          </a:p>
        </p:txBody>
      </p:sp>
      <p:sp>
        <p:nvSpPr>
          <p:cNvPr id="20" name="Text 17"/>
          <p:cNvSpPr txBox="1"/>
          <p:nvPr/>
        </p:nvSpPr>
        <p:spPr>
          <a:xfrm>
            <a:off x="2276856" y="2724912"/>
            <a:ext cx="1408176" cy="160904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404040"/>
                </a:solidFill>
                <a:latin typeface="Calibri" pitchFamily="34" charset="0"/>
                <a:ea typeface="Calibri" pitchFamily="34" charset="-122"/>
                <a:cs typeface="Calibri" pitchFamily="34" charset="-120"/>
              </a:rPr>
              <a:t>¿</a:t>
            </a:r>
            <a:r>
              <a:rPr lang="en-US" sz="1100" dirty="0" err="1">
                <a:solidFill>
                  <a:srgbClr val="404040"/>
                </a:solidFill>
                <a:latin typeface="Calibri" pitchFamily="34" charset="0"/>
                <a:ea typeface="Calibri" pitchFamily="34" charset="-122"/>
                <a:cs typeface="Calibri" pitchFamily="34" charset="-120"/>
              </a:rPr>
              <a:t>Qué</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entidad</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tiene</a:t>
            </a:r>
            <a:r>
              <a:rPr lang="en-US" sz="1100" dirty="0">
                <a:solidFill>
                  <a:srgbClr val="404040"/>
                </a:solidFill>
                <a:latin typeface="Calibri" pitchFamily="34" charset="0"/>
                <a:ea typeface="Calibri" pitchFamily="34" charset="-122"/>
                <a:cs typeface="Calibri" pitchFamily="34" charset="-120"/>
              </a:rPr>
              <a:t> la </a:t>
            </a:r>
            <a:r>
              <a:rPr lang="en-US" sz="1100" dirty="0" err="1">
                <a:solidFill>
                  <a:srgbClr val="404040"/>
                </a:solidFill>
                <a:latin typeface="Calibri" pitchFamily="34" charset="0"/>
                <a:ea typeface="Calibri" pitchFamily="34" charset="-122"/>
                <a:cs typeface="Calibri" pitchFamily="34" charset="-120"/>
              </a:rPr>
              <a:t>competencia</a:t>
            </a:r>
            <a:r>
              <a:rPr lang="en-US" sz="1100" dirty="0">
                <a:solidFill>
                  <a:srgbClr val="404040"/>
                </a:solidFill>
                <a:latin typeface="Calibri" pitchFamily="34" charset="0"/>
                <a:ea typeface="Calibri" pitchFamily="34" charset="-122"/>
                <a:cs typeface="Calibri" pitchFamily="34" charset="-120"/>
              </a:rPr>
              <a:t> para </a:t>
            </a:r>
            <a:r>
              <a:rPr lang="en-US" sz="1100" dirty="0" err="1">
                <a:solidFill>
                  <a:srgbClr val="404040"/>
                </a:solidFill>
                <a:latin typeface="Calibri" pitchFamily="34" charset="0"/>
                <a:ea typeface="Calibri" pitchFamily="34" charset="-122"/>
                <a:cs typeface="Calibri" pitchFamily="34" charset="-120"/>
              </a:rPr>
              <a:t>implementarla</a:t>
            </a:r>
            <a:r>
              <a:rPr lang="en-US" sz="1100" dirty="0">
                <a:solidFill>
                  <a:srgbClr val="404040"/>
                </a:solidFill>
                <a:latin typeface="Calibri" pitchFamily="34" charset="0"/>
                <a:ea typeface="Calibri" pitchFamily="34" charset="-122"/>
                <a:cs typeface="Calibri" pitchFamily="34" charset="-120"/>
              </a:rPr>
              <a:t>?</a:t>
            </a:r>
          </a:p>
          <a:p>
            <a:pPr marL="342900" indent="-342900">
              <a:spcAft>
                <a:spcPts val="300"/>
              </a:spcAft>
              <a:buSzPct val="100000"/>
              <a:buChar char="■"/>
            </a:pPr>
            <a:r>
              <a:rPr lang="en-US" sz="1100" dirty="0">
                <a:solidFill>
                  <a:srgbClr val="404040"/>
                </a:solidFill>
                <a:latin typeface="Calibri" pitchFamily="34" charset="0"/>
                <a:ea typeface="Calibri" pitchFamily="34" charset="-122"/>
                <a:cs typeface="Calibri" pitchFamily="34" charset="-120"/>
              </a:rPr>
              <a:t>¿</a:t>
            </a:r>
            <a:r>
              <a:rPr lang="en-US" sz="1100" dirty="0" err="1">
                <a:solidFill>
                  <a:srgbClr val="404040"/>
                </a:solidFill>
                <a:latin typeface="Calibri" pitchFamily="34" charset="0"/>
                <a:ea typeface="Calibri" pitchFamily="34" charset="-122"/>
                <a:cs typeface="Calibri" pitchFamily="34" charset="-120"/>
              </a:rPr>
              <a:t>Qué</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coordinación</a:t>
            </a:r>
            <a:r>
              <a:rPr lang="en-US" sz="1100" dirty="0">
                <a:solidFill>
                  <a:srgbClr val="404040"/>
                </a:solidFill>
                <a:latin typeface="Calibri" pitchFamily="34" charset="0"/>
                <a:ea typeface="Calibri" pitchFamily="34" charset="-122"/>
                <a:cs typeface="Calibri" pitchFamily="34" charset="-120"/>
              </a:rPr>
              <a:t> y </a:t>
            </a:r>
            <a:r>
              <a:rPr lang="en-US" sz="1100" dirty="0" err="1">
                <a:solidFill>
                  <a:srgbClr val="404040"/>
                </a:solidFill>
                <a:latin typeface="Calibri" pitchFamily="34" charset="0"/>
                <a:ea typeface="Calibri" pitchFamily="34" charset="-122"/>
                <a:cs typeface="Calibri" pitchFamily="34" charset="-120"/>
              </a:rPr>
              <a:t>capacidades</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necesita</a:t>
            </a:r>
            <a:r>
              <a:rPr lang="en-US" sz="1100" dirty="0">
                <a:solidFill>
                  <a:srgbClr val="404040"/>
                </a:solidFill>
                <a:latin typeface="Calibri" pitchFamily="34" charset="0"/>
                <a:ea typeface="Calibri" pitchFamily="34" charset="-122"/>
                <a:cs typeface="Calibri" pitchFamily="34" charset="-120"/>
              </a:rPr>
              <a:t>?</a:t>
            </a:r>
            <a:endParaRPr lang="en-US" sz="1100" dirty="0"/>
          </a:p>
        </p:txBody>
      </p:sp>
      <p:sp>
        <p:nvSpPr>
          <p:cNvPr id="21" name="Shape 18"/>
          <p:cNvSpPr/>
          <p:nvPr/>
        </p:nvSpPr>
        <p:spPr>
          <a:xfrm>
            <a:off x="3822192" y="2103120"/>
            <a:ext cx="1499616" cy="502920"/>
          </a:xfrm>
          <a:prstGeom prst="rect">
            <a:avLst/>
          </a:prstGeom>
          <a:solidFill>
            <a:srgbClr val="ED2E45"/>
          </a:solidFill>
          <a:ln w="12700">
            <a:solidFill>
              <a:srgbClr val="ED2E45"/>
            </a:solidFill>
            <a:prstDash val="solid"/>
          </a:ln>
        </p:spPr>
        <p:txBody>
          <a:bodyPr/>
          <a:lstStyle/>
          <a:p>
            <a:endParaRPr lang="es-PE"/>
          </a:p>
        </p:txBody>
      </p:sp>
      <p:sp>
        <p:nvSpPr>
          <p:cNvPr id="22" name="Text 19"/>
          <p:cNvSpPr txBox="1"/>
          <p:nvPr/>
        </p:nvSpPr>
        <p:spPr>
          <a:xfrm>
            <a:off x="3822192" y="2103120"/>
            <a:ext cx="1499616"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Montserrat" pitchFamily="34" charset="0"/>
                <a:ea typeface="Montserrat" pitchFamily="34" charset="-122"/>
                <a:cs typeface="Montserrat" pitchFamily="34" charset="-120"/>
              </a:rPr>
              <a:t>Económica</a:t>
            </a:r>
            <a:endParaRPr lang="en-US" sz="1250" dirty="0"/>
          </a:p>
        </p:txBody>
      </p:sp>
      <p:sp>
        <p:nvSpPr>
          <p:cNvPr id="23" name="Shape 20"/>
          <p:cNvSpPr/>
          <p:nvPr/>
        </p:nvSpPr>
        <p:spPr>
          <a:xfrm>
            <a:off x="3822192" y="2606040"/>
            <a:ext cx="1499616" cy="1672133"/>
          </a:xfrm>
          <a:prstGeom prst="rect">
            <a:avLst/>
          </a:prstGeom>
          <a:solidFill>
            <a:srgbClr val="F2F2F2"/>
          </a:solidFill>
          <a:ln w="12700">
            <a:solidFill>
              <a:srgbClr val="F2F2F2"/>
            </a:solidFill>
            <a:prstDash val="solid"/>
          </a:ln>
        </p:spPr>
        <p:txBody>
          <a:bodyPr/>
          <a:lstStyle/>
          <a:p>
            <a:endParaRPr lang="es-PE"/>
          </a:p>
        </p:txBody>
      </p:sp>
      <p:sp>
        <p:nvSpPr>
          <p:cNvPr id="24" name="Text 21"/>
          <p:cNvSpPr txBox="1"/>
          <p:nvPr/>
        </p:nvSpPr>
        <p:spPr>
          <a:xfrm>
            <a:off x="3913632" y="2724912"/>
            <a:ext cx="1316736" cy="1405433"/>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404040"/>
                </a:solidFill>
                <a:latin typeface="Calibri" pitchFamily="34" charset="0"/>
                <a:ea typeface="Calibri" pitchFamily="34" charset="-122"/>
                <a:cs typeface="Calibri" pitchFamily="34" charset="-120"/>
              </a:rPr>
              <a:t>¿</a:t>
            </a:r>
            <a:r>
              <a:rPr lang="en-US" sz="1100" dirty="0" err="1">
                <a:solidFill>
                  <a:srgbClr val="404040"/>
                </a:solidFill>
                <a:latin typeface="Calibri" pitchFamily="34" charset="0"/>
                <a:ea typeface="Calibri" pitchFamily="34" charset="-122"/>
                <a:cs typeface="Calibri" pitchFamily="34" charset="-120"/>
              </a:rPr>
              <a:t>Cuánto</a:t>
            </a:r>
            <a:r>
              <a:rPr lang="en-US" sz="1100" dirty="0">
                <a:solidFill>
                  <a:srgbClr val="404040"/>
                </a:solidFill>
                <a:latin typeface="Calibri" pitchFamily="34" charset="0"/>
                <a:ea typeface="Calibri" pitchFamily="34" charset="-122"/>
                <a:cs typeface="Calibri" pitchFamily="34" charset="-120"/>
              </a:rPr>
              <a:t> cuesta </a:t>
            </a:r>
            <a:r>
              <a:rPr lang="en-US" sz="1100" dirty="0" err="1">
                <a:solidFill>
                  <a:srgbClr val="404040"/>
                </a:solidFill>
                <a:latin typeface="Calibri" pitchFamily="34" charset="0"/>
                <a:ea typeface="Calibri" pitchFamily="34" charset="-122"/>
                <a:cs typeface="Calibri" pitchFamily="34" charset="-120"/>
              </a:rPr>
              <a:t>implementarla</a:t>
            </a:r>
            <a:r>
              <a:rPr lang="en-US" sz="1100" dirty="0">
                <a:solidFill>
                  <a:srgbClr val="404040"/>
                </a:solidFill>
                <a:latin typeface="Calibri" pitchFamily="34" charset="0"/>
                <a:ea typeface="Calibri" pitchFamily="34" charset="-122"/>
                <a:cs typeface="Calibri" pitchFamily="34" charset="-120"/>
              </a:rPr>
              <a:t> y </a:t>
            </a:r>
            <a:r>
              <a:rPr lang="en-US" sz="1100" dirty="0" err="1">
                <a:solidFill>
                  <a:srgbClr val="404040"/>
                </a:solidFill>
                <a:latin typeface="Calibri" pitchFamily="34" charset="0"/>
                <a:ea typeface="Calibri" pitchFamily="34" charset="-122"/>
                <a:cs typeface="Calibri" pitchFamily="34" charset="-120"/>
              </a:rPr>
              <a:t>mantenerla</a:t>
            </a:r>
            <a:r>
              <a:rPr lang="en-US" sz="1100" dirty="0">
                <a:solidFill>
                  <a:srgbClr val="404040"/>
                </a:solidFill>
                <a:latin typeface="Calibri" pitchFamily="34" charset="0"/>
                <a:ea typeface="Calibri" pitchFamily="34" charset="-122"/>
                <a:cs typeface="Calibri" pitchFamily="34" charset="-120"/>
              </a:rPr>
              <a:t>?</a:t>
            </a:r>
          </a:p>
          <a:p>
            <a:pPr marL="342900" indent="-342900">
              <a:spcAft>
                <a:spcPts val="300"/>
              </a:spcAft>
              <a:buSzPct val="100000"/>
              <a:buChar char="■"/>
            </a:pPr>
            <a:r>
              <a:rPr lang="en-US" sz="1100" dirty="0">
                <a:solidFill>
                  <a:srgbClr val="404040"/>
                </a:solidFill>
                <a:latin typeface="Calibri" pitchFamily="34" charset="0"/>
                <a:ea typeface="Calibri" pitchFamily="34" charset="-122"/>
                <a:cs typeface="Calibri" pitchFamily="34" charset="-120"/>
              </a:rPr>
              <a:t>¿De </a:t>
            </a:r>
            <a:r>
              <a:rPr lang="en-US" sz="1100" dirty="0" err="1">
                <a:solidFill>
                  <a:srgbClr val="404040"/>
                </a:solidFill>
                <a:latin typeface="Calibri" pitchFamily="34" charset="0"/>
                <a:ea typeface="Calibri" pitchFamily="34" charset="-122"/>
                <a:cs typeface="Calibri" pitchFamily="34" charset="-120"/>
              </a:rPr>
              <a:t>dónde</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provendrán</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los</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recursos</a:t>
            </a:r>
            <a:r>
              <a:rPr lang="en-US" sz="1100" dirty="0">
                <a:solidFill>
                  <a:srgbClr val="404040"/>
                </a:solidFill>
                <a:latin typeface="Calibri" pitchFamily="34" charset="0"/>
                <a:ea typeface="Calibri" pitchFamily="34" charset="-122"/>
                <a:cs typeface="Calibri" pitchFamily="34" charset="-120"/>
              </a:rPr>
              <a:t>?</a:t>
            </a:r>
            <a:endParaRPr lang="en-US" sz="1100" dirty="0"/>
          </a:p>
        </p:txBody>
      </p:sp>
      <p:sp>
        <p:nvSpPr>
          <p:cNvPr id="25" name="Shape 22"/>
          <p:cNvSpPr/>
          <p:nvPr/>
        </p:nvSpPr>
        <p:spPr>
          <a:xfrm>
            <a:off x="5458968" y="2103120"/>
            <a:ext cx="1499616" cy="502920"/>
          </a:xfrm>
          <a:prstGeom prst="rect">
            <a:avLst/>
          </a:prstGeom>
          <a:solidFill>
            <a:srgbClr val="ED2E45"/>
          </a:solidFill>
          <a:ln w="12700">
            <a:solidFill>
              <a:srgbClr val="ED2E45"/>
            </a:solidFill>
            <a:prstDash val="solid"/>
          </a:ln>
        </p:spPr>
        <p:txBody>
          <a:bodyPr/>
          <a:lstStyle/>
          <a:p>
            <a:endParaRPr lang="es-PE"/>
          </a:p>
        </p:txBody>
      </p:sp>
      <p:sp>
        <p:nvSpPr>
          <p:cNvPr id="26" name="Text 23"/>
          <p:cNvSpPr txBox="1"/>
          <p:nvPr/>
        </p:nvSpPr>
        <p:spPr>
          <a:xfrm>
            <a:off x="5458968" y="2103120"/>
            <a:ext cx="1499616"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Montserrat" pitchFamily="34" charset="0"/>
                <a:ea typeface="Montserrat" pitchFamily="34" charset="-122"/>
                <a:cs typeface="Montserrat" pitchFamily="34" charset="-120"/>
              </a:rPr>
              <a:t>Operativa</a:t>
            </a:r>
            <a:endParaRPr lang="en-US" sz="1250" dirty="0"/>
          </a:p>
        </p:txBody>
      </p:sp>
      <p:sp>
        <p:nvSpPr>
          <p:cNvPr id="27" name="Shape 24"/>
          <p:cNvSpPr/>
          <p:nvPr/>
        </p:nvSpPr>
        <p:spPr>
          <a:xfrm>
            <a:off x="5458968" y="2606040"/>
            <a:ext cx="1499616" cy="1672133"/>
          </a:xfrm>
          <a:prstGeom prst="rect">
            <a:avLst/>
          </a:prstGeom>
          <a:solidFill>
            <a:srgbClr val="F2F2F2"/>
          </a:solidFill>
          <a:ln w="12700">
            <a:solidFill>
              <a:srgbClr val="F2F2F2"/>
            </a:solidFill>
            <a:prstDash val="solid"/>
          </a:ln>
        </p:spPr>
        <p:txBody>
          <a:bodyPr/>
          <a:lstStyle/>
          <a:p>
            <a:endParaRPr lang="es-PE"/>
          </a:p>
        </p:txBody>
      </p:sp>
      <p:sp>
        <p:nvSpPr>
          <p:cNvPr id="28" name="Text 25"/>
          <p:cNvSpPr txBox="1"/>
          <p:nvPr/>
        </p:nvSpPr>
        <p:spPr>
          <a:xfrm>
            <a:off x="5550408" y="2724912"/>
            <a:ext cx="1316736" cy="1200912"/>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404040"/>
                </a:solidFill>
                <a:latin typeface="Calibri" pitchFamily="34" charset="0"/>
                <a:ea typeface="Calibri" pitchFamily="34" charset="-122"/>
                <a:cs typeface="Calibri" pitchFamily="34" charset="-120"/>
              </a:rPr>
              <a:t>¿</a:t>
            </a:r>
            <a:r>
              <a:rPr lang="en-US" sz="1100" dirty="0" err="1">
                <a:solidFill>
                  <a:srgbClr val="404040"/>
                </a:solidFill>
                <a:latin typeface="Calibri" pitchFamily="34" charset="0"/>
                <a:ea typeface="Calibri" pitchFamily="34" charset="-122"/>
                <a:cs typeface="Calibri" pitchFamily="34" charset="-120"/>
              </a:rPr>
              <a:t>Quién</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hará</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qué</a:t>
            </a:r>
            <a:r>
              <a:rPr lang="en-US" sz="1100" dirty="0">
                <a:solidFill>
                  <a:srgbClr val="404040"/>
                </a:solidFill>
                <a:latin typeface="Calibri" pitchFamily="34" charset="0"/>
                <a:ea typeface="Calibri" pitchFamily="34" charset="-122"/>
                <a:cs typeface="Calibri" pitchFamily="34" charset="-120"/>
              </a:rPr>
              <a:t> y </a:t>
            </a:r>
            <a:r>
              <a:rPr lang="en-US" sz="1100" dirty="0" err="1">
                <a:solidFill>
                  <a:srgbClr val="404040"/>
                </a:solidFill>
                <a:latin typeface="Calibri" pitchFamily="34" charset="0"/>
                <a:ea typeface="Calibri" pitchFamily="34" charset="-122"/>
                <a:cs typeface="Calibri" pitchFamily="34" charset="-120"/>
              </a:rPr>
              <a:t>en</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qué</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plazo</a:t>
            </a:r>
            <a:r>
              <a:rPr lang="en-US" sz="1100" dirty="0">
                <a:solidFill>
                  <a:srgbClr val="404040"/>
                </a:solidFill>
                <a:latin typeface="Calibri" pitchFamily="34" charset="0"/>
                <a:ea typeface="Calibri" pitchFamily="34" charset="-122"/>
                <a:cs typeface="Calibri" pitchFamily="34" charset="-120"/>
              </a:rPr>
              <a:t>?</a:t>
            </a:r>
          </a:p>
          <a:p>
            <a:pPr marL="342900" indent="-342900">
              <a:spcAft>
                <a:spcPts val="300"/>
              </a:spcAft>
              <a:buSzPct val="100000"/>
              <a:buChar char="■"/>
            </a:pPr>
            <a:r>
              <a:rPr lang="en-US" sz="1100" dirty="0">
                <a:solidFill>
                  <a:srgbClr val="404040"/>
                </a:solidFill>
                <a:latin typeface="Calibri" pitchFamily="34" charset="0"/>
                <a:ea typeface="Calibri" pitchFamily="34" charset="-122"/>
                <a:cs typeface="Calibri" pitchFamily="34" charset="-120"/>
              </a:rPr>
              <a:t>¿</a:t>
            </a:r>
            <a:r>
              <a:rPr lang="en-US" sz="1100" dirty="0" err="1">
                <a:solidFill>
                  <a:srgbClr val="404040"/>
                </a:solidFill>
                <a:latin typeface="Calibri" pitchFamily="34" charset="0"/>
                <a:ea typeface="Calibri" pitchFamily="34" charset="-122"/>
                <a:cs typeface="Calibri" pitchFamily="34" charset="-120"/>
              </a:rPr>
              <a:t>Puede</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integrarse</a:t>
            </a:r>
            <a:r>
              <a:rPr lang="en-US" sz="1100" dirty="0">
                <a:solidFill>
                  <a:srgbClr val="404040"/>
                </a:solidFill>
                <a:latin typeface="Calibri" pitchFamily="34" charset="0"/>
                <a:ea typeface="Calibri" pitchFamily="34" charset="-122"/>
                <a:cs typeface="Calibri" pitchFamily="34" charset="-120"/>
              </a:rPr>
              <a:t> al </a:t>
            </a:r>
            <a:r>
              <a:rPr lang="en-US" sz="1100" dirty="0" err="1">
                <a:solidFill>
                  <a:srgbClr val="404040"/>
                </a:solidFill>
                <a:latin typeface="Calibri" pitchFamily="34" charset="0"/>
                <a:ea typeface="Calibri" pitchFamily="34" charset="-122"/>
                <a:cs typeface="Calibri" pitchFamily="34" charset="-120"/>
              </a:rPr>
              <a:t>trabajo</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cotidiano</a:t>
            </a:r>
            <a:r>
              <a:rPr lang="en-US" sz="1100" dirty="0">
                <a:solidFill>
                  <a:srgbClr val="404040"/>
                </a:solidFill>
                <a:latin typeface="Calibri" pitchFamily="34" charset="0"/>
                <a:ea typeface="Calibri" pitchFamily="34" charset="-122"/>
                <a:cs typeface="Calibri" pitchFamily="34" charset="-120"/>
              </a:rPr>
              <a:t>?</a:t>
            </a:r>
            <a:endParaRPr lang="en-US" sz="1100" dirty="0"/>
          </a:p>
        </p:txBody>
      </p:sp>
      <p:sp>
        <p:nvSpPr>
          <p:cNvPr id="29" name="Shape 26"/>
          <p:cNvSpPr/>
          <p:nvPr/>
        </p:nvSpPr>
        <p:spPr>
          <a:xfrm>
            <a:off x="7095744" y="2103120"/>
            <a:ext cx="1499616" cy="502920"/>
          </a:xfrm>
          <a:prstGeom prst="rect">
            <a:avLst/>
          </a:prstGeom>
          <a:solidFill>
            <a:srgbClr val="C4122F"/>
          </a:solidFill>
          <a:ln w="12700">
            <a:solidFill>
              <a:srgbClr val="C4122F"/>
            </a:solidFill>
            <a:prstDash val="solid"/>
          </a:ln>
        </p:spPr>
        <p:txBody>
          <a:bodyPr/>
          <a:lstStyle/>
          <a:p>
            <a:endParaRPr lang="es-PE"/>
          </a:p>
        </p:txBody>
      </p:sp>
      <p:sp>
        <p:nvSpPr>
          <p:cNvPr id="30" name="Text 27"/>
          <p:cNvSpPr txBox="1"/>
          <p:nvPr/>
        </p:nvSpPr>
        <p:spPr>
          <a:xfrm>
            <a:off x="7095744" y="2103120"/>
            <a:ext cx="1499616" cy="502920"/>
          </a:xfrm>
          <a:prstGeom prst="rect">
            <a:avLst/>
          </a:prstGeom>
          <a:noFill/>
          <a:ln/>
        </p:spPr>
        <p:txBody>
          <a:bodyPr wrap="square" lIns="0" tIns="0" rIns="0" bIns="0" rtlCol="0" anchor="ctr"/>
          <a:lstStyle/>
          <a:p>
            <a:pPr marL="0" indent="0" algn="ctr">
              <a:buNone/>
            </a:pPr>
            <a:r>
              <a:rPr lang="en-US" sz="1250" b="1" dirty="0">
                <a:solidFill>
                  <a:srgbClr val="FFFFFF"/>
                </a:solidFill>
                <a:latin typeface="Montserrat" pitchFamily="34" charset="0"/>
                <a:ea typeface="Montserrat" pitchFamily="34" charset="-122"/>
                <a:cs typeface="Montserrat" pitchFamily="34" charset="-120"/>
              </a:rPr>
              <a:t>Ética y social</a:t>
            </a:r>
            <a:endParaRPr lang="en-US" sz="1250" dirty="0"/>
          </a:p>
        </p:txBody>
      </p:sp>
      <p:sp>
        <p:nvSpPr>
          <p:cNvPr id="31" name="Shape 28"/>
          <p:cNvSpPr/>
          <p:nvPr/>
        </p:nvSpPr>
        <p:spPr>
          <a:xfrm>
            <a:off x="7095744" y="2606040"/>
            <a:ext cx="1499616" cy="1672133"/>
          </a:xfrm>
          <a:prstGeom prst="rect">
            <a:avLst/>
          </a:prstGeom>
          <a:solidFill>
            <a:srgbClr val="F2F2F2"/>
          </a:solidFill>
          <a:ln w="12700">
            <a:solidFill>
              <a:srgbClr val="F2F2F2"/>
            </a:solidFill>
            <a:prstDash val="solid"/>
          </a:ln>
        </p:spPr>
        <p:txBody>
          <a:bodyPr/>
          <a:lstStyle/>
          <a:p>
            <a:endParaRPr lang="es-PE"/>
          </a:p>
        </p:txBody>
      </p:sp>
      <p:sp>
        <p:nvSpPr>
          <p:cNvPr id="32" name="Text 29"/>
          <p:cNvSpPr txBox="1"/>
          <p:nvPr/>
        </p:nvSpPr>
        <p:spPr>
          <a:xfrm>
            <a:off x="7187184" y="2724912"/>
            <a:ext cx="1453896" cy="1405433"/>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404040"/>
                </a:solidFill>
                <a:latin typeface="Calibri" pitchFamily="34" charset="0"/>
                <a:ea typeface="Calibri" pitchFamily="34" charset="-122"/>
                <a:cs typeface="Calibri" pitchFamily="34" charset="-120"/>
              </a:rPr>
              <a:t>¿Protege los derechos y </a:t>
            </a:r>
            <a:r>
              <a:rPr lang="en-US" sz="1100" dirty="0" err="1">
                <a:solidFill>
                  <a:srgbClr val="404040"/>
                </a:solidFill>
                <a:latin typeface="Calibri" pitchFamily="34" charset="0"/>
                <a:ea typeface="Calibri" pitchFamily="34" charset="-122"/>
                <a:cs typeface="Calibri" pitchFamily="34" charset="-120"/>
              </a:rPr>
              <a:t>los</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datos</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personales</a:t>
            </a:r>
            <a:r>
              <a:rPr lang="en-US" sz="1100" dirty="0">
                <a:solidFill>
                  <a:srgbClr val="404040"/>
                </a:solidFill>
                <a:latin typeface="Calibri" pitchFamily="34" charset="0"/>
                <a:ea typeface="Calibri" pitchFamily="34" charset="-122"/>
                <a:cs typeface="Calibri" pitchFamily="34" charset="-120"/>
              </a:rPr>
              <a:t>?</a:t>
            </a:r>
            <a:endParaRPr lang="en-US" sz="1100" dirty="0"/>
          </a:p>
          <a:p>
            <a:pPr marL="342900" indent="-342900">
              <a:spcAft>
                <a:spcPts val="300"/>
              </a:spcAft>
              <a:buSzPct val="100000"/>
              <a:buChar char="■"/>
            </a:pPr>
            <a:r>
              <a:rPr lang="en-US" sz="1100" dirty="0">
                <a:solidFill>
                  <a:srgbClr val="404040"/>
                </a:solidFill>
                <a:latin typeface="Calibri" pitchFamily="34" charset="0"/>
                <a:ea typeface="Calibri" pitchFamily="34" charset="-122"/>
                <a:cs typeface="Calibri" pitchFamily="34" charset="-120"/>
              </a:rPr>
              <a:t>¿Evita </a:t>
            </a:r>
            <a:r>
              <a:rPr lang="en-US" sz="1100" dirty="0" err="1">
                <a:solidFill>
                  <a:srgbClr val="404040"/>
                </a:solidFill>
                <a:latin typeface="Calibri" pitchFamily="34" charset="0"/>
                <a:ea typeface="Calibri" pitchFamily="34" charset="-122"/>
                <a:cs typeface="Calibri" pitchFamily="34" charset="-120"/>
              </a:rPr>
              <a:t>discriminación</a:t>
            </a:r>
            <a:r>
              <a:rPr lang="en-US" sz="1100" dirty="0">
                <a:solidFill>
                  <a:srgbClr val="404040"/>
                </a:solidFill>
                <a:latin typeface="Calibri" pitchFamily="34" charset="0"/>
                <a:ea typeface="Calibri" pitchFamily="34" charset="-122"/>
                <a:cs typeface="Calibri" pitchFamily="34" charset="-120"/>
              </a:rPr>
              <a:t> y barreras de </a:t>
            </a:r>
            <a:r>
              <a:rPr lang="en-US" sz="1100" dirty="0" err="1">
                <a:solidFill>
                  <a:srgbClr val="404040"/>
                </a:solidFill>
                <a:latin typeface="Calibri" pitchFamily="34" charset="0"/>
                <a:ea typeface="Calibri" pitchFamily="34" charset="-122"/>
                <a:cs typeface="Calibri" pitchFamily="34" charset="-120"/>
              </a:rPr>
              <a:t>acceso</a:t>
            </a:r>
            <a:r>
              <a:rPr lang="en-US" sz="1100" dirty="0">
                <a:solidFill>
                  <a:srgbClr val="404040"/>
                </a:solidFill>
                <a:latin typeface="Calibri" pitchFamily="34" charset="0"/>
                <a:ea typeface="Calibri" pitchFamily="34" charset="-122"/>
                <a:cs typeface="Calibri" pitchFamily="34" charset="-120"/>
              </a:rPr>
              <a:t>?</a:t>
            </a:r>
            <a:endParaRPr lang="en-US" sz="1100" dirty="0"/>
          </a:p>
        </p:txBody>
      </p:sp>
      <p:pic>
        <p:nvPicPr>
          <p:cNvPr id="33" name="Image 0" descr="a/logo_mimp_h.png"/>
          <p:cNvPicPr>
            <a:picLocks noChangeAspect="1"/>
          </p:cNvPicPr>
          <p:nvPr/>
        </p:nvPicPr>
        <p:blipFill>
          <a:blip r:embed="rId4"/>
          <a:stretch>
            <a:fillRect/>
          </a:stretch>
        </p:blipFill>
        <p:spPr>
          <a:xfrm>
            <a:off x="184709" y="110642"/>
            <a:ext cx="1790395" cy="417881"/>
          </a:xfrm>
          <a:prstGeom prst="rect">
            <a:avLst/>
          </a:prstGeom>
        </p:spPr>
      </p:pic>
      <p:pic>
        <p:nvPicPr>
          <p:cNvPr id="34" name="Image 1" descr="a/logo_30.png"/>
          <p:cNvPicPr>
            <a:picLocks noChangeAspect="1"/>
          </p:cNvPicPr>
          <p:nvPr/>
        </p:nvPicPr>
        <p:blipFill>
          <a:blip r:embed="rId5"/>
          <a:stretch>
            <a:fillRect/>
          </a:stretch>
        </p:blipFill>
        <p:spPr>
          <a:xfrm>
            <a:off x="3611880" y="2743"/>
            <a:ext cx="1158545" cy="622706"/>
          </a:xfrm>
          <a:prstGeom prst="rect">
            <a:avLst/>
          </a:prstGeom>
        </p:spPr>
      </p:pic>
      <p:pic>
        <p:nvPicPr>
          <p:cNvPr id="35" name="Image 2" descr="a/logo_peru_responde.png"/>
          <p:cNvPicPr>
            <a:picLocks noChangeAspect="1"/>
          </p:cNvPicPr>
          <p:nvPr/>
        </p:nvPicPr>
        <p:blipFill>
          <a:blip r:embed="rId6"/>
          <a:stretch>
            <a:fillRect/>
          </a:stretch>
        </p:blipFill>
        <p:spPr>
          <a:xfrm>
            <a:off x="7299655" y="102413"/>
            <a:ext cx="1602943" cy="475488"/>
          </a:xfrm>
          <a:prstGeom prst="rect">
            <a:avLst/>
          </a:prstGeom>
        </p:spPr>
      </p:pic>
      <p:sp>
        <p:nvSpPr>
          <p:cNvPr id="7" name="Text 5">
            <a:extLst>
              <a:ext uri="{FF2B5EF4-FFF2-40B4-BE49-F238E27FC236}">
                <a16:creationId xmlns:a16="http://schemas.microsoft.com/office/drawing/2014/main" id="{B05D0FC2-C89F-B357-7841-5AFB1D421B7C}"/>
              </a:ext>
            </a:extLst>
          </p:cNvPr>
          <p:cNvSpPr txBox="1"/>
          <p:nvPr/>
        </p:nvSpPr>
        <p:spPr>
          <a:xfrm>
            <a:off x="548640" y="809548"/>
            <a:ext cx="8095488" cy="502920"/>
          </a:xfrm>
          <a:prstGeom prst="rect">
            <a:avLst/>
          </a:prstGeom>
          <a:noFill/>
          <a:ln/>
        </p:spPr>
        <p:txBody>
          <a:bodyPr wrap="square" lIns="0" tIns="0" rIns="0" bIns="0" rtlCol="0" anchor="ctr"/>
          <a:lstStyle/>
          <a:p>
            <a:pPr marL="0" indent="0">
              <a:buNone/>
            </a:pPr>
            <a:r>
              <a:rPr lang="en-US" sz="1600" b="1" dirty="0">
                <a:solidFill>
                  <a:schemeClr val="tx1">
                    <a:lumMod val="65000"/>
                    <a:lumOff val="35000"/>
                  </a:schemeClr>
                </a:solidFill>
                <a:latin typeface="Montserrat" pitchFamily="34" charset="0"/>
                <a:ea typeface="Montserrat" pitchFamily="34" charset="-122"/>
                <a:cs typeface="Montserrat" pitchFamily="34" charset="-120"/>
              </a:rPr>
              <a:t>¿</a:t>
            </a:r>
            <a:r>
              <a:rPr lang="en-US" sz="1600" b="1" dirty="0" err="1">
                <a:solidFill>
                  <a:schemeClr val="tx1">
                    <a:lumMod val="65000"/>
                    <a:lumOff val="35000"/>
                  </a:schemeClr>
                </a:solidFill>
                <a:latin typeface="Montserrat" pitchFamily="34" charset="0"/>
                <a:ea typeface="Montserrat" pitchFamily="34" charset="-122"/>
                <a:cs typeface="Montserrat" pitchFamily="34" charset="-120"/>
              </a:rPr>
              <a:t>Qué</a:t>
            </a:r>
            <a:r>
              <a:rPr lang="en-US" sz="1600" b="1" dirty="0">
                <a:solidFill>
                  <a:schemeClr val="tx1">
                    <a:lumMod val="65000"/>
                    <a:lumOff val="35000"/>
                  </a:schemeClr>
                </a:solidFill>
                <a:latin typeface="Montserrat" pitchFamily="34" charset="0"/>
                <a:ea typeface="Montserrat" pitchFamily="34" charset="-122"/>
                <a:cs typeface="Montserrat" pitchFamily="34" charset="-120"/>
              </a:rPr>
              <a:t> </a:t>
            </a:r>
            <a:r>
              <a:rPr lang="en-US" sz="1600" b="1" dirty="0" err="1">
                <a:solidFill>
                  <a:schemeClr val="tx1">
                    <a:lumMod val="65000"/>
                    <a:lumOff val="35000"/>
                  </a:schemeClr>
                </a:solidFill>
                <a:latin typeface="Montserrat" pitchFamily="34" charset="0"/>
                <a:ea typeface="Montserrat" pitchFamily="34" charset="-122"/>
                <a:cs typeface="Montserrat" pitchFamily="34" charset="-120"/>
              </a:rPr>
              <a:t>condiciones</a:t>
            </a:r>
            <a:r>
              <a:rPr lang="en-US" sz="1600" b="1" dirty="0">
                <a:solidFill>
                  <a:schemeClr val="tx1">
                    <a:lumMod val="65000"/>
                    <a:lumOff val="35000"/>
                  </a:schemeClr>
                </a:solidFill>
                <a:latin typeface="Montserrat" pitchFamily="34" charset="0"/>
                <a:ea typeface="Montserrat" pitchFamily="34" charset="-122"/>
                <a:cs typeface="Montserrat" pitchFamily="34" charset="-120"/>
              </a:rPr>
              <a:t> </a:t>
            </a:r>
            <a:r>
              <a:rPr lang="en-US" sz="1600" b="1" dirty="0" err="1">
                <a:solidFill>
                  <a:schemeClr val="tx1">
                    <a:lumMod val="65000"/>
                    <a:lumOff val="35000"/>
                  </a:schemeClr>
                </a:solidFill>
                <a:latin typeface="Montserrat" pitchFamily="34" charset="0"/>
                <a:ea typeface="Montserrat" pitchFamily="34" charset="-122"/>
                <a:cs typeface="Montserrat" pitchFamily="34" charset="-120"/>
              </a:rPr>
              <a:t>necesitamos</a:t>
            </a:r>
            <a:r>
              <a:rPr lang="en-US" sz="1600" b="1" dirty="0">
                <a:solidFill>
                  <a:schemeClr val="tx1">
                    <a:lumMod val="65000"/>
                    <a:lumOff val="35000"/>
                  </a:schemeClr>
                </a:solidFill>
                <a:latin typeface="Montserrat" pitchFamily="34" charset="0"/>
                <a:ea typeface="Montserrat" pitchFamily="34" charset="-122"/>
                <a:cs typeface="Montserrat" pitchFamily="34" charset="-120"/>
              </a:rPr>
              <a:t> para </a:t>
            </a:r>
            <a:r>
              <a:rPr lang="en-US" sz="1600" b="1" dirty="0" err="1">
                <a:solidFill>
                  <a:schemeClr val="tx1">
                    <a:lumMod val="65000"/>
                    <a:lumOff val="35000"/>
                  </a:schemeClr>
                </a:solidFill>
                <a:latin typeface="Montserrat" pitchFamily="34" charset="0"/>
                <a:ea typeface="Montserrat" pitchFamily="34" charset="-122"/>
                <a:cs typeface="Montserrat" pitchFamily="34" charset="-120"/>
              </a:rPr>
              <a:t>llevarla</a:t>
            </a:r>
            <a:r>
              <a:rPr lang="en-US" sz="1600" b="1" dirty="0">
                <a:solidFill>
                  <a:schemeClr val="tx1">
                    <a:lumMod val="65000"/>
                    <a:lumOff val="35000"/>
                  </a:schemeClr>
                </a:solidFill>
                <a:latin typeface="Montserrat" pitchFamily="34" charset="0"/>
                <a:ea typeface="Montserrat" pitchFamily="34" charset="-122"/>
                <a:cs typeface="Montserrat" pitchFamily="34" charset="-120"/>
              </a:rPr>
              <a:t> a la </a:t>
            </a:r>
            <a:r>
              <a:rPr lang="en-US" sz="1600" b="1" dirty="0" err="1">
                <a:solidFill>
                  <a:schemeClr val="tx1">
                    <a:lumMod val="65000"/>
                    <a:lumOff val="35000"/>
                  </a:schemeClr>
                </a:solidFill>
                <a:latin typeface="Montserrat" pitchFamily="34" charset="0"/>
                <a:ea typeface="Montserrat" pitchFamily="34" charset="-122"/>
                <a:cs typeface="Montserrat" pitchFamily="34" charset="-120"/>
              </a:rPr>
              <a:t>práctica</a:t>
            </a:r>
            <a:r>
              <a:rPr lang="en-US" sz="1600" b="1" dirty="0">
                <a:solidFill>
                  <a:schemeClr val="tx1">
                    <a:lumMod val="65000"/>
                    <a:lumOff val="35000"/>
                  </a:schemeClr>
                </a:solidFill>
                <a:latin typeface="Montserrat" pitchFamily="34" charset="0"/>
                <a:ea typeface="Montserrat" pitchFamily="34" charset="-122"/>
                <a:cs typeface="Montserrat" pitchFamily="34" charset="-120"/>
              </a:rPr>
              <a:t> y </a:t>
            </a:r>
            <a:r>
              <a:rPr lang="en-US" sz="1600" b="1" dirty="0" err="1">
                <a:solidFill>
                  <a:schemeClr val="tx1">
                    <a:lumMod val="65000"/>
                    <a:lumOff val="35000"/>
                  </a:schemeClr>
                </a:solidFill>
                <a:latin typeface="Montserrat" pitchFamily="34" charset="0"/>
                <a:ea typeface="Montserrat" pitchFamily="34" charset="-122"/>
                <a:cs typeface="Montserrat" pitchFamily="34" charset="-120"/>
              </a:rPr>
              <a:t>sostenerla</a:t>
            </a:r>
            <a:r>
              <a:rPr lang="en-US" sz="1600" b="1" dirty="0">
                <a:solidFill>
                  <a:schemeClr val="tx1">
                    <a:lumMod val="65000"/>
                    <a:lumOff val="35000"/>
                  </a:schemeClr>
                </a:solidFill>
                <a:latin typeface="Montserrat" pitchFamily="34" charset="0"/>
                <a:ea typeface="Montserrat" pitchFamily="34" charset="-122"/>
                <a:cs typeface="Montserrat" pitchFamily="34" charset="-120"/>
              </a:rPr>
              <a:t>?</a:t>
            </a:r>
            <a:endParaRPr lang="en-US" sz="1600" dirty="0">
              <a:solidFill>
                <a:schemeClr val="tx1">
                  <a:lumMod val="65000"/>
                  <a:lumOff val="35000"/>
                </a:schemeClr>
              </a:solidFill>
            </a:endParaRPr>
          </a:p>
        </p:txBody>
      </p:sp>
      <p:sp>
        <p:nvSpPr>
          <p:cNvPr id="36" name="Text 5">
            <a:extLst>
              <a:ext uri="{FF2B5EF4-FFF2-40B4-BE49-F238E27FC236}">
                <a16:creationId xmlns:a16="http://schemas.microsoft.com/office/drawing/2014/main" id="{46B3E65C-C6FB-AC94-CD3B-4D52F21AF6BF}"/>
              </a:ext>
            </a:extLst>
          </p:cNvPr>
          <p:cNvSpPr txBox="1"/>
          <p:nvPr/>
        </p:nvSpPr>
        <p:spPr>
          <a:xfrm>
            <a:off x="548640" y="4345838"/>
            <a:ext cx="8046720" cy="502920"/>
          </a:xfrm>
          <a:prstGeom prst="rect">
            <a:avLst/>
          </a:prstGeom>
          <a:noFill/>
          <a:ln/>
        </p:spPr>
        <p:txBody>
          <a:bodyPr wrap="square" lIns="0" tIns="0" rIns="0" bIns="0" rtlCol="0" anchor="ctr"/>
          <a:lstStyle/>
          <a:p>
            <a:pPr marL="0" indent="0" algn="ctr">
              <a:buNone/>
            </a:pPr>
            <a:r>
              <a:rPr lang="en-US" sz="1200" b="1" dirty="0" err="1">
                <a:solidFill>
                  <a:srgbClr val="ED2E45"/>
                </a:solidFill>
                <a:latin typeface="Montserrat" pitchFamily="34" charset="0"/>
                <a:ea typeface="Montserrat" pitchFamily="34" charset="-122"/>
                <a:cs typeface="Montserrat" pitchFamily="34" charset="-120"/>
              </a:rPr>
              <a:t>Identificar</a:t>
            </a:r>
            <a:r>
              <a:rPr lang="en-US" sz="1200" b="1" dirty="0">
                <a:solidFill>
                  <a:srgbClr val="ED2E45"/>
                </a:solidFill>
                <a:latin typeface="Montserrat" pitchFamily="34" charset="0"/>
                <a:ea typeface="Montserrat" pitchFamily="34" charset="-122"/>
                <a:cs typeface="Montserrat" pitchFamily="34" charset="-120"/>
              </a:rPr>
              <a:t> las </a:t>
            </a:r>
            <a:r>
              <a:rPr lang="en-US" sz="1200" b="1" dirty="0" err="1">
                <a:solidFill>
                  <a:srgbClr val="ED2E45"/>
                </a:solidFill>
                <a:latin typeface="Montserrat" pitchFamily="34" charset="0"/>
                <a:ea typeface="Montserrat" pitchFamily="34" charset="-122"/>
                <a:cs typeface="Montserrat" pitchFamily="34" charset="-120"/>
              </a:rPr>
              <a:t>condiciones</a:t>
            </a:r>
            <a:r>
              <a:rPr lang="en-US" sz="1200" b="1" dirty="0">
                <a:solidFill>
                  <a:srgbClr val="ED2E45"/>
                </a:solidFill>
                <a:latin typeface="Montserrat" pitchFamily="34" charset="0"/>
                <a:ea typeface="Montserrat" pitchFamily="34" charset="-122"/>
                <a:cs typeface="Montserrat" pitchFamily="34" charset="-120"/>
              </a:rPr>
              <a:t> </a:t>
            </a:r>
            <a:r>
              <a:rPr lang="en-US" sz="1200" b="1" dirty="0" err="1">
                <a:solidFill>
                  <a:srgbClr val="ED2E45"/>
                </a:solidFill>
                <a:latin typeface="Montserrat" pitchFamily="34" charset="0"/>
                <a:ea typeface="Montserrat" pitchFamily="34" charset="-122"/>
                <a:cs typeface="Montserrat" pitchFamily="34" charset="-120"/>
              </a:rPr>
              <a:t>pendientes</a:t>
            </a:r>
            <a:r>
              <a:rPr lang="en-US" sz="1200" b="1" dirty="0">
                <a:solidFill>
                  <a:srgbClr val="ED2E45"/>
                </a:solidFill>
                <a:latin typeface="Montserrat" pitchFamily="34" charset="0"/>
                <a:ea typeface="Montserrat" pitchFamily="34" charset="-122"/>
                <a:cs typeface="Montserrat" pitchFamily="34" charset="-120"/>
              </a:rPr>
              <a:t> </a:t>
            </a:r>
            <a:r>
              <a:rPr lang="en-US" sz="1200" b="1" dirty="0" err="1">
                <a:solidFill>
                  <a:srgbClr val="ED2E45"/>
                </a:solidFill>
                <a:latin typeface="Montserrat" pitchFamily="34" charset="0"/>
                <a:ea typeface="Montserrat" pitchFamily="34" charset="-122"/>
                <a:cs typeface="Montserrat" pitchFamily="34" charset="-120"/>
              </a:rPr>
              <a:t>permite</a:t>
            </a:r>
            <a:r>
              <a:rPr lang="en-US" sz="1200" b="1" dirty="0">
                <a:solidFill>
                  <a:srgbClr val="ED2E45"/>
                </a:solidFill>
                <a:latin typeface="Montserrat" pitchFamily="34" charset="0"/>
                <a:ea typeface="Montserrat" pitchFamily="34" charset="-122"/>
                <a:cs typeface="Montserrat" pitchFamily="34" charset="-120"/>
              </a:rPr>
              <a:t> </a:t>
            </a:r>
            <a:r>
              <a:rPr lang="en-US" sz="1200" b="1" dirty="0" err="1">
                <a:solidFill>
                  <a:srgbClr val="ED2E45"/>
                </a:solidFill>
                <a:latin typeface="Montserrat" pitchFamily="34" charset="0"/>
                <a:ea typeface="Montserrat" pitchFamily="34" charset="-122"/>
                <a:cs typeface="Montserrat" pitchFamily="34" charset="-120"/>
              </a:rPr>
              <a:t>ajustar</a:t>
            </a:r>
            <a:r>
              <a:rPr lang="en-US" sz="1200" b="1" dirty="0">
                <a:solidFill>
                  <a:srgbClr val="ED2E45"/>
                </a:solidFill>
                <a:latin typeface="Montserrat" pitchFamily="34" charset="0"/>
                <a:ea typeface="Montserrat" pitchFamily="34" charset="-122"/>
                <a:cs typeface="Montserrat" pitchFamily="34" charset="-120"/>
              </a:rPr>
              <a:t> la </a:t>
            </a:r>
            <a:r>
              <a:rPr lang="en-US" sz="1200" b="1" dirty="0" err="1">
                <a:solidFill>
                  <a:srgbClr val="ED2E45"/>
                </a:solidFill>
                <a:latin typeface="Montserrat" pitchFamily="34" charset="0"/>
                <a:ea typeface="Montserrat" pitchFamily="34" charset="-122"/>
                <a:cs typeface="Montserrat" pitchFamily="34" charset="-120"/>
              </a:rPr>
              <a:t>propuesta</a:t>
            </a:r>
            <a:r>
              <a:rPr lang="en-US" sz="1200" b="1" dirty="0">
                <a:solidFill>
                  <a:srgbClr val="ED2E45"/>
                </a:solidFill>
                <a:latin typeface="Montserrat" pitchFamily="34" charset="0"/>
                <a:ea typeface="Montserrat" pitchFamily="34" charset="-122"/>
                <a:cs typeface="Montserrat" pitchFamily="34" charset="-120"/>
              </a:rPr>
              <a:t> antes de </a:t>
            </a:r>
            <a:r>
              <a:rPr lang="en-US" sz="1200" b="1" dirty="0" err="1">
                <a:solidFill>
                  <a:srgbClr val="ED2E45"/>
                </a:solidFill>
                <a:latin typeface="Montserrat" pitchFamily="34" charset="0"/>
                <a:ea typeface="Montserrat" pitchFamily="34" charset="-122"/>
                <a:cs typeface="Montserrat" pitchFamily="34" charset="-120"/>
              </a:rPr>
              <a:t>implementarla</a:t>
            </a:r>
            <a:endParaRPr lang="en-US" sz="12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65192"/>
            <a:ext cx="9144000" cy="178308"/>
          </a:xfrm>
          <a:prstGeom prst="rect">
            <a:avLst/>
          </a:prstGeom>
          <a:solidFill>
            <a:srgbClr val="ED2E45"/>
          </a:solidFill>
          <a:ln w="12700">
            <a:solidFill>
              <a:srgbClr val="ED2E45"/>
            </a:solidFill>
            <a:prstDash val="solid"/>
          </a:ln>
        </p:spPr>
        <p:txBody>
          <a:bodyPr/>
          <a:lstStyle/>
          <a:p>
            <a:endParaRPr lang="es-PE"/>
          </a:p>
        </p:txBody>
      </p:sp>
      <p:sp>
        <p:nvSpPr>
          <p:cNvPr id="3" name="Text 1"/>
          <p:cNvSpPr txBox="1"/>
          <p:nvPr/>
        </p:nvSpPr>
        <p:spPr>
          <a:xfrm>
            <a:off x="54864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 · COMPRENDER</a:t>
            </a:r>
            <a:endParaRPr lang="en-US" sz="750" dirty="0"/>
          </a:p>
        </p:txBody>
      </p:sp>
      <p:sp>
        <p:nvSpPr>
          <p:cNvPr id="4" name="Text 2"/>
          <p:cNvSpPr txBox="1"/>
          <p:nvPr/>
        </p:nvSpPr>
        <p:spPr>
          <a:xfrm>
            <a:off x="256032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II · DISEÑAR</a:t>
            </a:r>
            <a:endParaRPr lang="en-US" sz="750" dirty="0"/>
          </a:p>
        </p:txBody>
      </p:sp>
      <p:sp>
        <p:nvSpPr>
          <p:cNvPr id="5" name="Text 3"/>
          <p:cNvSpPr txBox="1"/>
          <p:nvPr/>
        </p:nvSpPr>
        <p:spPr>
          <a:xfrm>
            <a:off x="4572000" y="4965192"/>
            <a:ext cx="2011680" cy="178308"/>
          </a:xfrm>
          <a:prstGeom prst="rect">
            <a:avLst/>
          </a:prstGeom>
          <a:noFill/>
          <a:ln/>
        </p:spPr>
        <p:txBody>
          <a:bodyPr wrap="square" lIns="0" tIns="0" rIns="0" bIns="0" rtlCol="0" anchor="ctr"/>
          <a:lstStyle/>
          <a:p>
            <a:pPr marL="0" indent="0">
              <a:buNone/>
            </a:pPr>
            <a:r>
              <a:rPr lang="en-US" sz="750" b="1" kern="0" spc="100" dirty="0">
                <a:solidFill>
                  <a:srgbClr val="FFFFFF"/>
                </a:solidFill>
                <a:latin typeface="Calibri" pitchFamily="34" charset="0"/>
                <a:ea typeface="Calibri" pitchFamily="34" charset="-122"/>
                <a:cs typeface="Calibri" pitchFamily="34" charset="-120"/>
              </a:rPr>
              <a:t>III · VALIDAR</a:t>
            </a:r>
            <a:endParaRPr lang="en-US" sz="750" dirty="0"/>
          </a:p>
        </p:txBody>
      </p:sp>
      <p:sp>
        <p:nvSpPr>
          <p:cNvPr id="6" name="Text 4"/>
          <p:cNvSpPr txBox="1"/>
          <p:nvPr/>
        </p:nvSpPr>
        <p:spPr>
          <a:xfrm>
            <a:off x="658368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IV · COMUNICAR</a:t>
            </a:r>
            <a:endParaRPr lang="en-US" sz="750" dirty="0"/>
          </a:p>
        </p:txBody>
      </p:sp>
      <p:sp>
        <p:nvSpPr>
          <p:cNvPr id="8" name="Text 5"/>
          <p:cNvSpPr txBox="1"/>
          <p:nvPr/>
        </p:nvSpPr>
        <p:spPr>
          <a:xfrm>
            <a:off x="548640" y="731520"/>
            <a:ext cx="8046720" cy="502920"/>
          </a:xfrm>
          <a:prstGeom prst="rect">
            <a:avLst/>
          </a:prstGeom>
          <a:noFill/>
          <a:ln/>
        </p:spPr>
        <p:txBody>
          <a:bodyPr wrap="square" lIns="0" tIns="0" rIns="0" bIns="0" rtlCol="0" anchor="ctr"/>
          <a:lstStyle/>
          <a:p>
            <a:pPr marL="0" indent="0">
              <a:buNone/>
            </a:pPr>
            <a:r>
              <a:rPr lang="en-US" sz="2200" b="1" dirty="0">
                <a:solidFill>
                  <a:srgbClr val="ED2E45"/>
                </a:solidFill>
                <a:latin typeface="Montserrat" pitchFamily="34" charset="0"/>
                <a:ea typeface="Montserrat" pitchFamily="34" charset="-122"/>
                <a:cs typeface="Montserrat" pitchFamily="34" charset="-120"/>
              </a:rPr>
              <a:t>Indicadores: ¿</a:t>
            </a:r>
            <a:r>
              <a:rPr lang="en-US" sz="2200" b="1" dirty="0" err="1">
                <a:solidFill>
                  <a:srgbClr val="ED2E45"/>
                </a:solidFill>
                <a:latin typeface="Montserrat" pitchFamily="34" charset="0"/>
                <a:ea typeface="Montserrat" pitchFamily="34" charset="-122"/>
                <a:cs typeface="Montserrat" pitchFamily="34" charset="-120"/>
              </a:rPr>
              <a:t>cómo</a:t>
            </a:r>
            <a:r>
              <a:rPr lang="en-US" sz="2200" b="1" dirty="0">
                <a:solidFill>
                  <a:srgbClr val="ED2E45"/>
                </a:solidFill>
                <a:latin typeface="Montserrat" pitchFamily="34" charset="0"/>
                <a:ea typeface="Montserrat" pitchFamily="34" charset="-122"/>
                <a:cs typeface="Montserrat" pitchFamily="34" charset="-120"/>
              </a:rPr>
              <a:t> </a:t>
            </a:r>
            <a:r>
              <a:rPr lang="en-US" sz="2200" b="1" dirty="0" err="1">
                <a:solidFill>
                  <a:srgbClr val="ED2E45"/>
                </a:solidFill>
                <a:latin typeface="Montserrat" pitchFamily="34" charset="0"/>
                <a:ea typeface="Montserrat" pitchFamily="34" charset="-122"/>
                <a:cs typeface="Montserrat" pitchFamily="34" charset="-120"/>
              </a:rPr>
              <a:t>medimos</a:t>
            </a:r>
            <a:r>
              <a:rPr lang="en-US" sz="2200" b="1" dirty="0">
                <a:solidFill>
                  <a:srgbClr val="ED2E45"/>
                </a:solidFill>
                <a:latin typeface="Montserrat" pitchFamily="34" charset="0"/>
                <a:ea typeface="Montserrat" pitchFamily="34" charset="-122"/>
                <a:cs typeface="Montserrat" pitchFamily="34" charset="-120"/>
              </a:rPr>
              <a:t> </a:t>
            </a:r>
            <a:r>
              <a:rPr lang="en-US" sz="2200" b="1" dirty="0" err="1">
                <a:solidFill>
                  <a:srgbClr val="ED2E45"/>
                </a:solidFill>
                <a:latin typeface="Montserrat" pitchFamily="34" charset="0"/>
                <a:ea typeface="Montserrat" pitchFamily="34" charset="-122"/>
                <a:cs typeface="Montserrat" pitchFamily="34" charset="-120"/>
              </a:rPr>
              <a:t>los</a:t>
            </a:r>
            <a:r>
              <a:rPr lang="en-US" sz="2200" b="1" dirty="0">
                <a:solidFill>
                  <a:srgbClr val="ED2E45"/>
                </a:solidFill>
                <a:latin typeface="Montserrat" pitchFamily="34" charset="0"/>
                <a:ea typeface="Montserrat" pitchFamily="34" charset="-122"/>
                <a:cs typeface="Montserrat" pitchFamily="34" charset="-120"/>
              </a:rPr>
              <a:t> </a:t>
            </a:r>
            <a:r>
              <a:rPr lang="en-US" sz="2200" b="1" dirty="0" err="1">
                <a:solidFill>
                  <a:srgbClr val="ED2E45"/>
                </a:solidFill>
                <a:latin typeface="Montserrat" pitchFamily="34" charset="0"/>
                <a:ea typeface="Montserrat" pitchFamily="34" charset="-122"/>
                <a:cs typeface="Montserrat" pitchFamily="34" charset="-120"/>
              </a:rPr>
              <a:t>avances</a:t>
            </a:r>
            <a:r>
              <a:rPr lang="en-US" sz="2200" b="1" dirty="0">
                <a:solidFill>
                  <a:srgbClr val="ED2E45"/>
                </a:solidFill>
                <a:latin typeface="Montserrat" pitchFamily="34" charset="0"/>
                <a:ea typeface="Montserrat" pitchFamily="34" charset="-122"/>
                <a:cs typeface="Montserrat" pitchFamily="34" charset="-120"/>
              </a:rPr>
              <a:t>?</a:t>
            </a:r>
            <a:endParaRPr lang="en-US" sz="2200" dirty="0"/>
          </a:p>
        </p:txBody>
      </p:sp>
      <p:sp>
        <p:nvSpPr>
          <p:cNvPr id="9" name="Shape 6"/>
          <p:cNvSpPr/>
          <p:nvPr/>
        </p:nvSpPr>
        <p:spPr>
          <a:xfrm>
            <a:off x="548640" y="1371600"/>
            <a:ext cx="1691640" cy="566928"/>
          </a:xfrm>
          <a:prstGeom prst="chevron">
            <a:avLst/>
          </a:prstGeom>
          <a:solidFill>
            <a:srgbClr val="8A8B8D"/>
          </a:solidFill>
          <a:ln w="12700">
            <a:solidFill>
              <a:srgbClr val="FFFFFF"/>
            </a:solidFill>
            <a:prstDash val="solid"/>
          </a:ln>
        </p:spPr>
        <p:txBody>
          <a:bodyPr/>
          <a:lstStyle/>
          <a:p>
            <a:endParaRPr lang="es-PE"/>
          </a:p>
        </p:txBody>
      </p:sp>
      <p:sp>
        <p:nvSpPr>
          <p:cNvPr id="10" name="Text 7"/>
          <p:cNvSpPr txBox="1"/>
          <p:nvPr/>
        </p:nvSpPr>
        <p:spPr>
          <a:xfrm>
            <a:off x="777240" y="1371600"/>
            <a:ext cx="1234440"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Insumos</a:t>
            </a:r>
            <a:endParaRPr lang="en-US" sz="1200" dirty="0"/>
          </a:p>
        </p:txBody>
      </p:sp>
      <p:sp>
        <p:nvSpPr>
          <p:cNvPr id="11" name="Shape 8"/>
          <p:cNvSpPr/>
          <p:nvPr/>
        </p:nvSpPr>
        <p:spPr>
          <a:xfrm>
            <a:off x="2139696" y="1371600"/>
            <a:ext cx="1691640" cy="566928"/>
          </a:xfrm>
          <a:prstGeom prst="chevron">
            <a:avLst/>
          </a:prstGeom>
          <a:solidFill>
            <a:srgbClr val="58595B"/>
          </a:solidFill>
          <a:ln w="12700">
            <a:solidFill>
              <a:srgbClr val="FFFFFF"/>
            </a:solidFill>
            <a:prstDash val="solid"/>
          </a:ln>
        </p:spPr>
        <p:txBody>
          <a:bodyPr/>
          <a:lstStyle/>
          <a:p>
            <a:endParaRPr lang="es-PE"/>
          </a:p>
        </p:txBody>
      </p:sp>
      <p:sp>
        <p:nvSpPr>
          <p:cNvPr id="12" name="Text 9"/>
          <p:cNvSpPr txBox="1"/>
          <p:nvPr/>
        </p:nvSpPr>
        <p:spPr>
          <a:xfrm>
            <a:off x="2368296" y="1371600"/>
            <a:ext cx="1234440"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Actividades</a:t>
            </a:r>
            <a:endParaRPr lang="en-US" sz="1200" dirty="0"/>
          </a:p>
        </p:txBody>
      </p:sp>
      <p:sp>
        <p:nvSpPr>
          <p:cNvPr id="13" name="Shape 10"/>
          <p:cNvSpPr/>
          <p:nvPr/>
        </p:nvSpPr>
        <p:spPr>
          <a:xfrm>
            <a:off x="3730752" y="1371600"/>
            <a:ext cx="1691640" cy="566928"/>
          </a:xfrm>
          <a:prstGeom prst="chevron">
            <a:avLst/>
          </a:prstGeom>
          <a:solidFill>
            <a:srgbClr val="F28A99"/>
          </a:solidFill>
          <a:ln w="12700">
            <a:solidFill>
              <a:srgbClr val="FFFFFF"/>
            </a:solidFill>
            <a:prstDash val="solid"/>
          </a:ln>
        </p:spPr>
        <p:txBody>
          <a:bodyPr/>
          <a:lstStyle/>
          <a:p>
            <a:endParaRPr lang="es-PE"/>
          </a:p>
        </p:txBody>
      </p:sp>
      <p:sp>
        <p:nvSpPr>
          <p:cNvPr id="14" name="Text 11"/>
          <p:cNvSpPr txBox="1"/>
          <p:nvPr/>
        </p:nvSpPr>
        <p:spPr>
          <a:xfrm>
            <a:off x="3959352" y="1371600"/>
            <a:ext cx="1234440"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Productos</a:t>
            </a:r>
            <a:endParaRPr lang="en-US" sz="1200" dirty="0"/>
          </a:p>
        </p:txBody>
      </p:sp>
      <p:sp>
        <p:nvSpPr>
          <p:cNvPr id="15" name="Shape 12"/>
          <p:cNvSpPr/>
          <p:nvPr/>
        </p:nvSpPr>
        <p:spPr>
          <a:xfrm>
            <a:off x="5321808" y="1371600"/>
            <a:ext cx="1691640" cy="566928"/>
          </a:xfrm>
          <a:prstGeom prst="chevron">
            <a:avLst/>
          </a:prstGeom>
          <a:solidFill>
            <a:srgbClr val="ED2E45"/>
          </a:solidFill>
          <a:ln w="12700">
            <a:solidFill>
              <a:srgbClr val="FFFFFF"/>
            </a:solidFill>
            <a:prstDash val="solid"/>
          </a:ln>
        </p:spPr>
        <p:txBody>
          <a:bodyPr/>
          <a:lstStyle/>
          <a:p>
            <a:endParaRPr lang="es-PE"/>
          </a:p>
        </p:txBody>
      </p:sp>
      <p:sp>
        <p:nvSpPr>
          <p:cNvPr id="16" name="Text 13"/>
          <p:cNvSpPr txBox="1"/>
          <p:nvPr/>
        </p:nvSpPr>
        <p:spPr>
          <a:xfrm>
            <a:off x="5550408" y="1371600"/>
            <a:ext cx="1234440"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Resultados</a:t>
            </a:r>
            <a:endParaRPr lang="en-US" sz="1200" dirty="0"/>
          </a:p>
        </p:txBody>
      </p:sp>
      <p:sp>
        <p:nvSpPr>
          <p:cNvPr id="17" name="Shape 14"/>
          <p:cNvSpPr/>
          <p:nvPr/>
        </p:nvSpPr>
        <p:spPr>
          <a:xfrm>
            <a:off x="6912864" y="1371600"/>
            <a:ext cx="1691640" cy="566928"/>
          </a:xfrm>
          <a:prstGeom prst="chevron">
            <a:avLst/>
          </a:prstGeom>
          <a:solidFill>
            <a:srgbClr val="C4122F"/>
          </a:solidFill>
          <a:ln w="12700">
            <a:solidFill>
              <a:srgbClr val="FFFFFF"/>
            </a:solidFill>
            <a:prstDash val="solid"/>
          </a:ln>
        </p:spPr>
        <p:txBody>
          <a:bodyPr/>
          <a:lstStyle/>
          <a:p>
            <a:endParaRPr lang="es-PE"/>
          </a:p>
        </p:txBody>
      </p:sp>
      <p:sp>
        <p:nvSpPr>
          <p:cNvPr id="18" name="Text 15"/>
          <p:cNvSpPr txBox="1"/>
          <p:nvPr/>
        </p:nvSpPr>
        <p:spPr>
          <a:xfrm>
            <a:off x="7141464" y="1371600"/>
            <a:ext cx="1234440"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Impacto</a:t>
            </a:r>
            <a:endParaRPr lang="en-US" sz="1200" dirty="0"/>
          </a:p>
        </p:txBody>
      </p:sp>
      <p:sp>
        <p:nvSpPr>
          <p:cNvPr id="19" name="Shape 16"/>
          <p:cNvSpPr/>
          <p:nvPr/>
        </p:nvSpPr>
        <p:spPr>
          <a:xfrm>
            <a:off x="548640" y="2194560"/>
            <a:ext cx="8046720" cy="457200"/>
          </a:xfrm>
          <a:prstGeom prst="roundRect">
            <a:avLst>
              <a:gd name="adj" fmla="val 16000"/>
            </a:avLst>
          </a:prstGeom>
          <a:solidFill>
            <a:srgbClr val="FFFFFF"/>
          </a:solidFill>
          <a:ln w="12700">
            <a:solidFill>
              <a:srgbClr val="ED2E45"/>
            </a:solidFill>
            <a:prstDash val="solid"/>
          </a:ln>
        </p:spPr>
        <p:txBody>
          <a:bodyPr/>
          <a:lstStyle/>
          <a:p>
            <a:endParaRPr lang="es-PE"/>
          </a:p>
        </p:txBody>
      </p:sp>
      <p:sp>
        <p:nvSpPr>
          <p:cNvPr id="20" name="Shape 17"/>
          <p:cNvSpPr/>
          <p:nvPr/>
        </p:nvSpPr>
        <p:spPr>
          <a:xfrm>
            <a:off x="658368" y="2075688"/>
            <a:ext cx="868680" cy="237744"/>
          </a:xfrm>
          <a:prstGeom prst="roundRect">
            <a:avLst>
              <a:gd name="adj" fmla="val 50000"/>
            </a:avLst>
          </a:prstGeom>
          <a:solidFill>
            <a:srgbClr val="ED2E45"/>
          </a:solidFill>
          <a:ln w="12700">
            <a:solidFill>
              <a:srgbClr val="ED2E45"/>
            </a:solidFill>
            <a:prstDash val="solid"/>
          </a:ln>
        </p:spPr>
        <p:txBody>
          <a:bodyPr/>
          <a:lstStyle/>
          <a:p>
            <a:endParaRPr lang="es-PE"/>
          </a:p>
        </p:txBody>
      </p:sp>
      <p:sp>
        <p:nvSpPr>
          <p:cNvPr id="21" name="Text 18"/>
          <p:cNvSpPr txBox="1"/>
          <p:nvPr/>
        </p:nvSpPr>
        <p:spPr>
          <a:xfrm>
            <a:off x="658368" y="2075688"/>
            <a:ext cx="868680" cy="237744"/>
          </a:xfrm>
          <a:prstGeom prst="rect">
            <a:avLst/>
          </a:prstGeom>
          <a:noFill/>
          <a:ln/>
        </p:spPr>
        <p:txBody>
          <a:bodyPr wrap="square" lIns="0" tIns="0" rIns="0" bIns="0" rtlCol="0" anchor="ctr"/>
          <a:lstStyle/>
          <a:p>
            <a:pPr marL="0" indent="0" algn="ctr">
              <a:buNone/>
            </a:pPr>
            <a:r>
              <a:rPr lang="en-US" sz="850" b="1" kern="0" spc="100" dirty="0">
                <a:solidFill>
                  <a:srgbClr val="FFFFFF"/>
                </a:solidFill>
                <a:latin typeface="Calibri" pitchFamily="34" charset="0"/>
                <a:ea typeface="Calibri" pitchFamily="34" charset="-122"/>
                <a:cs typeface="Calibri" pitchFamily="34" charset="-120"/>
              </a:rPr>
              <a:t>¿QUÉ ES?</a:t>
            </a:r>
            <a:endParaRPr lang="en-US" sz="850" dirty="0"/>
          </a:p>
        </p:txBody>
      </p:sp>
      <p:sp>
        <p:nvSpPr>
          <p:cNvPr id="22" name="Text 19"/>
          <p:cNvSpPr txBox="1"/>
          <p:nvPr/>
        </p:nvSpPr>
        <p:spPr>
          <a:xfrm>
            <a:off x="685800" y="2267712"/>
            <a:ext cx="7772400" cy="347472"/>
          </a:xfrm>
          <a:prstGeom prst="rect">
            <a:avLst/>
          </a:prstGeom>
          <a:noFill/>
          <a:ln/>
        </p:spPr>
        <p:txBody>
          <a:bodyPr wrap="square" lIns="0" tIns="0" rIns="0" bIns="0" rtlCol="0" anchor="ctr"/>
          <a:lstStyle/>
          <a:p>
            <a:pPr marL="0" indent="0">
              <a:buNone/>
            </a:pPr>
            <a:r>
              <a:rPr lang="es-PE" sz="1100" b="1" dirty="0">
                <a:solidFill>
                  <a:srgbClr val="ED2E45"/>
                </a:solidFill>
                <a:latin typeface="Calibri" pitchFamily="34" charset="0"/>
                <a:ea typeface="Calibri" pitchFamily="34" charset="-122"/>
                <a:cs typeface="Calibri" pitchFamily="34" charset="-120"/>
              </a:rPr>
              <a:t>Indicador: </a:t>
            </a:r>
            <a:r>
              <a:rPr lang="es-PE" sz="1100" dirty="0">
                <a:solidFill>
                  <a:srgbClr val="404040"/>
                </a:solidFill>
                <a:latin typeface="Calibri" pitchFamily="34" charset="0"/>
                <a:ea typeface="Calibri" pitchFamily="34" charset="-122"/>
                <a:cs typeface="Calibri" pitchFamily="34" charset="-120"/>
              </a:rPr>
              <a:t>medida  que permite </a:t>
            </a:r>
            <a:r>
              <a:rPr lang="es-PE" sz="1100" dirty="0" err="1">
                <a:solidFill>
                  <a:srgbClr val="404040"/>
                </a:solidFill>
                <a:latin typeface="Calibri" pitchFamily="34" charset="0"/>
                <a:ea typeface="Calibri" pitchFamily="34" charset="-122"/>
                <a:cs typeface="Calibri" pitchFamily="34" charset="-120"/>
              </a:rPr>
              <a:t>observer</a:t>
            </a:r>
            <a:r>
              <a:rPr lang="es-PE" sz="1100" dirty="0">
                <a:solidFill>
                  <a:srgbClr val="404040"/>
                </a:solidFill>
                <a:latin typeface="Calibri" pitchFamily="34" charset="0"/>
                <a:ea typeface="Calibri" pitchFamily="34" charset="-122"/>
                <a:cs typeface="Calibri" pitchFamily="34" charset="-120"/>
              </a:rPr>
              <a:t> el avance de una intervención o un cambio en la población.</a:t>
            </a:r>
            <a:endParaRPr lang="es-PE" sz="1100" dirty="0"/>
          </a:p>
        </p:txBody>
      </p:sp>
      <p:sp>
        <p:nvSpPr>
          <p:cNvPr id="23" name="Shape 20"/>
          <p:cNvSpPr/>
          <p:nvPr/>
        </p:nvSpPr>
        <p:spPr>
          <a:xfrm>
            <a:off x="548640" y="2852928"/>
            <a:ext cx="2578608" cy="868680"/>
          </a:xfrm>
          <a:prstGeom prst="roundRect">
            <a:avLst>
              <a:gd name="adj" fmla="val 8421"/>
            </a:avLst>
          </a:prstGeom>
          <a:solidFill>
            <a:srgbClr val="FDEBEE"/>
          </a:solidFill>
          <a:ln w="12700">
            <a:solidFill>
              <a:srgbClr val="FDEBEE"/>
            </a:solidFill>
            <a:prstDash val="solid"/>
          </a:ln>
        </p:spPr>
        <p:txBody>
          <a:bodyPr/>
          <a:lstStyle/>
          <a:p>
            <a:endParaRPr lang="es-PE"/>
          </a:p>
        </p:txBody>
      </p:sp>
      <p:sp>
        <p:nvSpPr>
          <p:cNvPr id="24" name="Text 21"/>
          <p:cNvSpPr txBox="1"/>
          <p:nvPr/>
        </p:nvSpPr>
        <p:spPr>
          <a:xfrm>
            <a:off x="685800" y="2926080"/>
            <a:ext cx="2331720" cy="274320"/>
          </a:xfrm>
          <a:prstGeom prst="rect">
            <a:avLst/>
          </a:prstGeom>
          <a:noFill/>
          <a:ln/>
        </p:spPr>
        <p:txBody>
          <a:bodyPr wrap="square" lIns="0" tIns="0" rIns="0" bIns="0" rtlCol="0" anchor="t"/>
          <a:lstStyle/>
          <a:p>
            <a:pPr marL="0" indent="0">
              <a:buNone/>
            </a:pPr>
            <a:r>
              <a:rPr lang="en-US" sz="1200" b="1" dirty="0">
                <a:solidFill>
                  <a:srgbClr val="ED2E45"/>
                </a:solidFill>
                <a:latin typeface="Montserrat" pitchFamily="34" charset="0"/>
                <a:ea typeface="Montserrat" pitchFamily="34" charset="-122"/>
                <a:cs typeface="Montserrat" pitchFamily="34" charset="-120"/>
              </a:rPr>
              <a:t>Indicador de producto</a:t>
            </a:r>
            <a:endParaRPr lang="en-US" sz="1200" dirty="0"/>
          </a:p>
        </p:txBody>
      </p:sp>
      <p:sp>
        <p:nvSpPr>
          <p:cNvPr id="25" name="Text 22"/>
          <p:cNvSpPr txBox="1"/>
          <p:nvPr/>
        </p:nvSpPr>
        <p:spPr>
          <a:xfrm>
            <a:off x="617221" y="3124360"/>
            <a:ext cx="2578607" cy="576072"/>
          </a:xfrm>
          <a:prstGeom prst="rect">
            <a:avLst/>
          </a:prstGeom>
          <a:noFill/>
          <a:ln/>
        </p:spPr>
        <p:txBody>
          <a:bodyPr wrap="square" lIns="0" tIns="0" rIns="0" bIns="0" rtlCol="0" anchor="t"/>
          <a:lstStyle/>
          <a:p>
            <a:pPr marL="0" indent="0" algn="just">
              <a:buNone/>
            </a:pPr>
            <a:r>
              <a:rPr lang="en-US" sz="1050" dirty="0" err="1">
                <a:solidFill>
                  <a:srgbClr val="404040"/>
                </a:solidFill>
                <a:latin typeface="Calibri" pitchFamily="34" charset="0"/>
                <a:ea typeface="Calibri" pitchFamily="34" charset="-122"/>
                <a:cs typeface="Calibri" pitchFamily="34" charset="-120"/>
              </a:rPr>
              <a:t>Mide</a:t>
            </a:r>
            <a:r>
              <a:rPr lang="en-US" sz="1050" dirty="0">
                <a:solidFill>
                  <a:srgbClr val="404040"/>
                </a:solidFill>
                <a:latin typeface="Calibri" pitchFamily="34" charset="0"/>
                <a:ea typeface="Calibri" pitchFamily="34" charset="-122"/>
                <a:cs typeface="Calibri" pitchFamily="34" charset="-120"/>
              </a:rPr>
              <a:t> </a:t>
            </a:r>
            <a:r>
              <a:rPr lang="en-US" sz="1050" dirty="0" err="1">
                <a:solidFill>
                  <a:srgbClr val="404040"/>
                </a:solidFill>
                <a:latin typeface="Calibri" pitchFamily="34" charset="0"/>
                <a:ea typeface="Calibri" pitchFamily="34" charset="-122"/>
                <a:cs typeface="Calibri" pitchFamily="34" charset="-120"/>
              </a:rPr>
              <a:t>los</a:t>
            </a:r>
            <a:r>
              <a:rPr lang="en-US" sz="1050" dirty="0">
                <a:solidFill>
                  <a:srgbClr val="404040"/>
                </a:solidFill>
                <a:latin typeface="Calibri" pitchFamily="34" charset="0"/>
                <a:ea typeface="Calibri" pitchFamily="34" charset="-122"/>
                <a:cs typeface="Calibri" pitchFamily="34" charset="-120"/>
              </a:rPr>
              <a:t> </a:t>
            </a:r>
            <a:r>
              <a:rPr lang="en-US" sz="1050" dirty="0" err="1">
                <a:solidFill>
                  <a:srgbClr val="404040"/>
                </a:solidFill>
                <a:latin typeface="Calibri" pitchFamily="34" charset="0"/>
                <a:ea typeface="Calibri" pitchFamily="34" charset="-122"/>
                <a:cs typeface="Calibri" pitchFamily="34" charset="-120"/>
              </a:rPr>
              <a:t>bienes</a:t>
            </a:r>
            <a:r>
              <a:rPr lang="en-US" sz="1050" dirty="0">
                <a:solidFill>
                  <a:srgbClr val="404040"/>
                </a:solidFill>
                <a:latin typeface="Calibri" pitchFamily="34" charset="0"/>
                <a:ea typeface="Calibri" pitchFamily="34" charset="-122"/>
                <a:cs typeface="Calibri" pitchFamily="34" charset="-120"/>
              </a:rPr>
              <a:t> o </a:t>
            </a:r>
            <a:r>
              <a:rPr lang="en-US" sz="1050" dirty="0" err="1">
                <a:solidFill>
                  <a:srgbClr val="404040"/>
                </a:solidFill>
                <a:latin typeface="Calibri" pitchFamily="34" charset="0"/>
                <a:ea typeface="Calibri" pitchFamily="34" charset="-122"/>
                <a:cs typeface="Calibri" pitchFamily="34" charset="-120"/>
              </a:rPr>
              <a:t>servicios</a:t>
            </a:r>
            <a:r>
              <a:rPr lang="en-US" sz="1050" dirty="0">
                <a:solidFill>
                  <a:srgbClr val="404040"/>
                </a:solidFill>
                <a:latin typeface="Calibri" pitchFamily="34" charset="0"/>
                <a:ea typeface="Calibri" pitchFamily="34" charset="-122"/>
                <a:cs typeface="Calibri" pitchFamily="34" charset="-120"/>
              </a:rPr>
              <a:t> </a:t>
            </a:r>
            <a:r>
              <a:rPr lang="en-US" sz="1050" dirty="0" err="1">
                <a:solidFill>
                  <a:srgbClr val="404040"/>
                </a:solidFill>
                <a:latin typeface="Calibri" pitchFamily="34" charset="0"/>
                <a:ea typeface="Calibri" pitchFamily="34" charset="-122"/>
                <a:cs typeface="Calibri" pitchFamily="34" charset="-120"/>
              </a:rPr>
              <a:t>entregados</a:t>
            </a:r>
            <a:r>
              <a:rPr lang="en-US" sz="1050" dirty="0">
                <a:solidFill>
                  <a:srgbClr val="404040"/>
                </a:solidFill>
                <a:latin typeface="Calibri" pitchFamily="34" charset="0"/>
                <a:ea typeface="Calibri" pitchFamily="34" charset="-122"/>
                <a:cs typeface="Calibri" pitchFamily="34" charset="-120"/>
              </a:rPr>
              <a:t>. </a:t>
            </a:r>
            <a:r>
              <a:rPr lang="en-US" sz="1050" dirty="0" err="1">
                <a:solidFill>
                  <a:srgbClr val="404040"/>
                </a:solidFill>
                <a:latin typeface="Calibri" pitchFamily="34" charset="0"/>
                <a:ea typeface="Calibri" pitchFamily="34" charset="-122"/>
                <a:cs typeface="Calibri" pitchFamily="34" charset="-120"/>
              </a:rPr>
              <a:t>Ejemplo</a:t>
            </a:r>
            <a:r>
              <a:rPr lang="en-US" sz="1050" dirty="0">
                <a:solidFill>
                  <a:srgbClr val="404040"/>
                </a:solidFill>
                <a:latin typeface="Calibri" pitchFamily="34" charset="0"/>
                <a:ea typeface="Calibri" pitchFamily="34" charset="-122"/>
                <a:cs typeface="Calibri" pitchFamily="34" charset="-120"/>
              </a:rPr>
              <a:t>: </a:t>
            </a:r>
            <a:r>
              <a:rPr lang="en-US" sz="1050" dirty="0" err="1">
                <a:solidFill>
                  <a:srgbClr val="404040"/>
                </a:solidFill>
                <a:latin typeface="Calibri" pitchFamily="34" charset="0"/>
                <a:ea typeface="Calibri" pitchFamily="34" charset="-122"/>
                <a:cs typeface="Calibri" pitchFamily="34" charset="-120"/>
              </a:rPr>
              <a:t>número</a:t>
            </a:r>
            <a:r>
              <a:rPr lang="en-US" sz="1050" dirty="0">
                <a:solidFill>
                  <a:srgbClr val="404040"/>
                </a:solidFill>
                <a:latin typeface="Calibri" pitchFamily="34" charset="0"/>
                <a:ea typeface="Calibri" pitchFamily="34" charset="-122"/>
                <a:cs typeface="Calibri" pitchFamily="34" charset="-120"/>
              </a:rPr>
              <a:t> de personas que </a:t>
            </a:r>
            <a:r>
              <a:rPr lang="en-US" sz="1050" dirty="0" err="1">
                <a:solidFill>
                  <a:srgbClr val="404040"/>
                </a:solidFill>
                <a:latin typeface="Calibri" pitchFamily="34" charset="0"/>
                <a:ea typeface="Calibri" pitchFamily="34" charset="-122"/>
                <a:cs typeface="Calibri" pitchFamily="34" charset="-120"/>
              </a:rPr>
              <a:t>completan</a:t>
            </a:r>
            <a:r>
              <a:rPr lang="en-US" sz="1050" dirty="0">
                <a:solidFill>
                  <a:srgbClr val="404040"/>
                </a:solidFill>
                <a:latin typeface="Calibri" pitchFamily="34" charset="0"/>
                <a:ea typeface="Calibri" pitchFamily="34" charset="-122"/>
                <a:cs typeface="Calibri" pitchFamily="34" charset="-120"/>
              </a:rPr>
              <a:t> la </a:t>
            </a:r>
            <a:r>
              <a:rPr lang="en-US" sz="1050" dirty="0" err="1">
                <a:solidFill>
                  <a:srgbClr val="404040"/>
                </a:solidFill>
                <a:latin typeface="Calibri" pitchFamily="34" charset="0"/>
                <a:ea typeface="Calibri" pitchFamily="34" charset="-122"/>
                <a:cs typeface="Calibri" pitchFamily="34" charset="-120"/>
              </a:rPr>
              <a:t>capacitación</a:t>
            </a:r>
            <a:r>
              <a:rPr lang="en-US" sz="1050" dirty="0">
                <a:solidFill>
                  <a:srgbClr val="404040"/>
                </a:solidFill>
                <a:latin typeface="Calibri" pitchFamily="34" charset="0"/>
                <a:ea typeface="Calibri" pitchFamily="34" charset="-122"/>
                <a:cs typeface="Calibri" pitchFamily="34" charset="-120"/>
              </a:rPr>
              <a:t> </a:t>
            </a:r>
            <a:r>
              <a:rPr lang="en-US" sz="1050" dirty="0" err="1">
                <a:solidFill>
                  <a:srgbClr val="404040"/>
                </a:solidFill>
                <a:latin typeface="Calibri" pitchFamily="34" charset="0"/>
                <a:ea typeface="Calibri" pitchFamily="34" charset="-122"/>
                <a:cs typeface="Calibri" pitchFamily="34" charset="-120"/>
              </a:rPr>
              <a:t>en</a:t>
            </a:r>
            <a:r>
              <a:rPr lang="en-US" sz="1050" dirty="0">
                <a:solidFill>
                  <a:srgbClr val="404040"/>
                </a:solidFill>
                <a:latin typeface="Calibri" pitchFamily="34" charset="0"/>
                <a:ea typeface="Calibri" pitchFamily="34" charset="-122"/>
                <a:cs typeface="Calibri" pitchFamily="34" charset="-120"/>
              </a:rPr>
              <a:t> </a:t>
            </a:r>
            <a:r>
              <a:rPr lang="en-US" sz="1050" dirty="0" err="1">
                <a:solidFill>
                  <a:srgbClr val="404040"/>
                </a:solidFill>
                <a:latin typeface="Calibri" pitchFamily="34" charset="0"/>
                <a:ea typeface="Calibri" pitchFamily="34" charset="-122"/>
                <a:cs typeface="Calibri" pitchFamily="34" charset="-120"/>
              </a:rPr>
              <a:t>prevención</a:t>
            </a:r>
            <a:r>
              <a:rPr lang="en-US" sz="1050" dirty="0">
                <a:solidFill>
                  <a:srgbClr val="404040"/>
                </a:solidFill>
                <a:latin typeface="Calibri" pitchFamily="34" charset="0"/>
                <a:ea typeface="Calibri" pitchFamily="34" charset="-122"/>
                <a:cs typeface="Calibri" pitchFamily="34" charset="-120"/>
              </a:rPr>
              <a:t> de </a:t>
            </a:r>
            <a:r>
              <a:rPr lang="en-US" sz="1050" dirty="0" err="1">
                <a:solidFill>
                  <a:srgbClr val="404040"/>
                </a:solidFill>
                <a:latin typeface="Calibri" pitchFamily="34" charset="0"/>
                <a:ea typeface="Calibri" pitchFamily="34" charset="-122"/>
                <a:cs typeface="Calibri" pitchFamily="34" charset="-120"/>
              </a:rPr>
              <a:t>violencia</a:t>
            </a:r>
            <a:r>
              <a:rPr lang="en-US" sz="1050" dirty="0">
                <a:solidFill>
                  <a:srgbClr val="404040"/>
                </a:solidFill>
                <a:latin typeface="Calibri" pitchFamily="34" charset="0"/>
                <a:ea typeface="Calibri" pitchFamily="34" charset="-122"/>
                <a:cs typeface="Calibri" pitchFamily="34" charset="-120"/>
              </a:rPr>
              <a:t> </a:t>
            </a:r>
            <a:endParaRPr lang="en-US" sz="1050" dirty="0"/>
          </a:p>
        </p:txBody>
      </p:sp>
      <p:sp>
        <p:nvSpPr>
          <p:cNvPr id="26" name="Shape 23"/>
          <p:cNvSpPr/>
          <p:nvPr/>
        </p:nvSpPr>
        <p:spPr>
          <a:xfrm>
            <a:off x="3264408" y="2852928"/>
            <a:ext cx="2578608" cy="868680"/>
          </a:xfrm>
          <a:prstGeom prst="roundRect">
            <a:avLst>
              <a:gd name="adj" fmla="val 8421"/>
            </a:avLst>
          </a:prstGeom>
          <a:solidFill>
            <a:srgbClr val="FDEBEE"/>
          </a:solidFill>
          <a:ln w="12700">
            <a:solidFill>
              <a:srgbClr val="FDEBEE"/>
            </a:solidFill>
            <a:prstDash val="solid"/>
          </a:ln>
        </p:spPr>
        <p:txBody>
          <a:bodyPr/>
          <a:lstStyle/>
          <a:p>
            <a:endParaRPr lang="es-PE"/>
          </a:p>
        </p:txBody>
      </p:sp>
      <p:sp>
        <p:nvSpPr>
          <p:cNvPr id="27" name="Text 24"/>
          <p:cNvSpPr txBox="1"/>
          <p:nvPr/>
        </p:nvSpPr>
        <p:spPr>
          <a:xfrm>
            <a:off x="3401568" y="2926080"/>
            <a:ext cx="2331720" cy="274320"/>
          </a:xfrm>
          <a:prstGeom prst="rect">
            <a:avLst/>
          </a:prstGeom>
          <a:noFill/>
          <a:ln/>
        </p:spPr>
        <p:txBody>
          <a:bodyPr wrap="square" lIns="0" tIns="0" rIns="0" bIns="0" rtlCol="0" anchor="t"/>
          <a:lstStyle/>
          <a:p>
            <a:pPr marL="0" indent="0">
              <a:buNone/>
            </a:pPr>
            <a:r>
              <a:rPr lang="en-US" sz="1200" b="1" dirty="0">
                <a:solidFill>
                  <a:srgbClr val="ED2E45"/>
                </a:solidFill>
                <a:latin typeface="Montserrat" pitchFamily="34" charset="0"/>
                <a:ea typeface="Montserrat" pitchFamily="34" charset="-122"/>
                <a:cs typeface="Montserrat" pitchFamily="34" charset="-120"/>
              </a:rPr>
              <a:t>Indicador de resultado</a:t>
            </a:r>
            <a:endParaRPr lang="en-US" sz="1200" dirty="0"/>
          </a:p>
        </p:txBody>
      </p:sp>
      <p:sp>
        <p:nvSpPr>
          <p:cNvPr id="28" name="Text 25"/>
          <p:cNvSpPr txBox="1"/>
          <p:nvPr/>
        </p:nvSpPr>
        <p:spPr>
          <a:xfrm>
            <a:off x="3401568" y="3069496"/>
            <a:ext cx="2331720" cy="457200"/>
          </a:xfrm>
          <a:prstGeom prst="rect">
            <a:avLst/>
          </a:prstGeom>
          <a:noFill/>
          <a:ln/>
        </p:spPr>
        <p:txBody>
          <a:bodyPr wrap="square" lIns="0" tIns="0" rIns="0" bIns="0" rtlCol="0" anchor="t"/>
          <a:lstStyle/>
          <a:p>
            <a:pPr marL="0" indent="0" algn="just">
              <a:buNone/>
            </a:pPr>
            <a:r>
              <a:rPr lang="en-US" sz="1050" dirty="0" err="1">
                <a:solidFill>
                  <a:srgbClr val="404040"/>
                </a:solidFill>
                <a:latin typeface="Calibri" pitchFamily="34" charset="0"/>
                <a:ea typeface="Calibri" pitchFamily="34" charset="-122"/>
                <a:cs typeface="Calibri" pitchFamily="34" charset="-120"/>
              </a:rPr>
              <a:t>Mide</a:t>
            </a:r>
            <a:r>
              <a:rPr lang="en-US" sz="1050" dirty="0">
                <a:solidFill>
                  <a:srgbClr val="404040"/>
                </a:solidFill>
                <a:latin typeface="Calibri" pitchFamily="34" charset="0"/>
                <a:ea typeface="Calibri" pitchFamily="34" charset="-122"/>
                <a:cs typeface="Calibri" pitchFamily="34" charset="-120"/>
              </a:rPr>
              <a:t> </a:t>
            </a:r>
            <a:r>
              <a:rPr lang="en-US" sz="1050" dirty="0" err="1">
                <a:solidFill>
                  <a:srgbClr val="404040"/>
                </a:solidFill>
                <a:latin typeface="Calibri" pitchFamily="34" charset="0"/>
                <a:ea typeface="Calibri" pitchFamily="34" charset="-122"/>
                <a:cs typeface="Calibri" pitchFamily="34" charset="-120"/>
              </a:rPr>
              <a:t>cambios</a:t>
            </a:r>
            <a:r>
              <a:rPr lang="en-US" sz="1050" dirty="0">
                <a:solidFill>
                  <a:srgbClr val="404040"/>
                </a:solidFill>
                <a:latin typeface="Calibri" pitchFamily="34" charset="0"/>
                <a:ea typeface="Calibri" pitchFamily="34" charset="-122"/>
                <a:cs typeface="Calibri" pitchFamily="34" charset="-120"/>
              </a:rPr>
              <a:t> </a:t>
            </a:r>
            <a:r>
              <a:rPr lang="en-US" sz="1050" dirty="0" err="1">
                <a:solidFill>
                  <a:srgbClr val="404040"/>
                </a:solidFill>
                <a:latin typeface="Calibri" pitchFamily="34" charset="0"/>
                <a:ea typeface="Calibri" pitchFamily="34" charset="-122"/>
                <a:cs typeface="Calibri" pitchFamily="34" charset="-120"/>
              </a:rPr>
              <a:t>en</a:t>
            </a:r>
            <a:r>
              <a:rPr lang="en-US" sz="1050" dirty="0">
                <a:solidFill>
                  <a:srgbClr val="404040"/>
                </a:solidFill>
                <a:latin typeface="Calibri" pitchFamily="34" charset="0"/>
                <a:ea typeface="Calibri" pitchFamily="34" charset="-122"/>
                <a:cs typeface="Calibri" pitchFamily="34" charset="-120"/>
              </a:rPr>
              <a:t> la población </a:t>
            </a:r>
            <a:r>
              <a:rPr lang="en-US" sz="1050" dirty="0" err="1">
                <a:solidFill>
                  <a:srgbClr val="404040"/>
                </a:solidFill>
                <a:latin typeface="Calibri" pitchFamily="34" charset="0"/>
                <a:ea typeface="Calibri" pitchFamily="34" charset="-122"/>
                <a:cs typeface="Calibri" pitchFamily="34" charset="-120"/>
              </a:rPr>
              <a:t>atendida</a:t>
            </a:r>
            <a:r>
              <a:rPr lang="en-US" sz="1050" dirty="0">
                <a:solidFill>
                  <a:srgbClr val="404040"/>
                </a:solidFill>
                <a:latin typeface="Calibri" pitchFamily="34" charset="0"/>
                <a:ea typeface="Calibri" pitchFamily="34" charset="-122"/>
                <a:cs typeface="Calibri" pitchFamily="34" charset="-120"/>
              </a:rPr>
              <a:t>. </a:t>
            </a:r>
            <a:r>
              <a:rPr lang="en-US" sz="1050" dirty="0" err="1">
                <a:solidFill>
                  <a:srgbClr val="404040"/>
                </a:solidFill>
                <a:latin typeface="Calibri" pitchFamily="34" charset="0"/>
                <a:ea typeface="Calibri" pitchFamily="34" charset="-122"/>
                <a:cs typeface="Calibri" pitchFamily="34" charset="-120"/>
              </a:rPr>
              <a:t>Ejemplo</a:t>
            </a:r>
            <a:r>
              <a:rPr lang="en-US" sz="1050" dirty="0">
                <a:solidFill>
                  <a:srgbClr val="404040"/>
                </a:solidFill>
                <a:latin typeface="Calibri" pitchFamily="34" charset="0"/>
                <a:ea typeface="Calibri" pitchFamily="34" charset="-122"/>
                <a:cs typeface="Calibri" pitchFamily="34" charset="-120"/>
              </a:rPr>
              <a:t>: </a:t>
            </a:r>
            <a:r>
              <a:rPr lang="en-US" sz="1050" dirty="0" err="1">
                <a:solidFill>
                  <a:srgbClr val="404040"/>
                </a:solidFill>
                <a:latin typeface="Calibri" pitchFamily="34" charset="0"/>
                <a:ea typeface="Calibri" pitchFamily="34" charset="-122"/>
                <a:cs typeface="Calibri" pitchFamily="34" charset="-120"/>
              </a:rPr>
              <a:t>porcentaje</a:t>
            </a:r>
            <a:r>
              <a:rPr lang="en-US" sz="1050" dirty="0">
                <a:solidFill>
                  <a:srgbClr val="404040"/>
                </a:solidFill>
                <a:latin typeface="Calibri" pitchFamily="34" charset="0"/>
                <a:ea typeface="Calibri" pitchFamily="34" charset="-122"/>
                <a:cs typeface="Calibri" pitchFamily="34" charset="-120"/>
              </a:rPr>
              <a:t> que </a:t>
            </a:r>
            <a:r>
              <a:rPr lang="en-US" sz="1050" dirty="0" err="1">
                <a:solidFill>
                  <a:srgbClr val="404040"/>
                </a:solidFill>
                <a:latin typeface="Calibri" pitchFamily="34" charset="0"/>
                <a:ea typeface="Calibri" pitchFamily="34" charset="-122"/>
                <a:cs typeface="Calibri" pitchFamily="34" charset="-120"/>
              </a:rPr>
              <a:t>reconoce</a:t>
            </a:r>
            <a:r>
              <a:rPr lang="en-US" sz="1050" dirty="0">
                <a:solidFill>
                  <a:srgbClr val="404040"/>
                </a:solidFill>
                <a:latin typeface="Calibri" pitchFamily="34" charset="0"/>
                <a:ea typeface="Calibri" pitchFamily="34" charset="-122"/>
                <a:cs typeface="Calibri" pitchFamily="34" charset="-120"/>
              </a:rPr>
              <a:t> las </a:t>
            </a:r>
            <a:r>
              <a:rPr lang="en-US" sz="1050" dirty="0" err="1">
                <a:solidFill>
                  <a:srgbClr val="404040"/>
                </a:solidFill>
                <a:latin typeface="Calibri" pitchFamily="34" charset="0"/>
                <a:ea typeface="Calibri" pitchFamily="34" charset="-122"/>
                <a:cs typeface="Calibri" pitchFamily="34" charset="-120"/>
              </a:rPr>
              <a:t>rutas</a:t>
            </a:r>
            <a:r>
              <a:rPr lang="en-US" sz="1050" dirty="0">
                <a:solidFill>
                  <a:srgbClr val="404040"/>
                </a:solidFill>
                <a:latin typeface="Calibri" pitchFamily="34" charset="0"/>
                <a:ea typeface="Calibri" pitchFamily="34" charset="-122"/>
                <a:cs typeface="Calibri" pitchFamily="34" charset="-120"/>
              </a:rPr>
              <a:t> de </a:t>
            </a:r>
            <a:r>
              <a:rPr lang="en-US" sz="1050" dirty="0" err="1">
                <a:solidFill>
                  <a:srgbClr val="404040"/>
                </a:solidFill>
                <a:latin typeface="Calibri" pitchFamily="34" charset="0"/>
                <a:ea typeface="Calibri" pitchFamily="34" charset="-122"/>
                <a:cs typeface="Calibri" pitchFamily="34" charset="-120"/>
              </a:rPr>
              <a:t>atención</a:t>
            </a:r>
            <a:r>
              <a:rPr lang="en-US" sz="1050" dirty="0">
                <a:solidFill>
                  <a:srgbClr val="404040"/>
                </a:solidFill>
                <a:latin typeface="Calibri" pitchFamily="34" charset="0"/>
                <a:ea typeface="Calibri" pitchFamily="34" charset="-122"/>
                <a:cs typeface="Calibri" pitchFamily="34" charset="-120"/>
              </a:rPr>
              <a:t> al </a:t>
            </a:r>
            <a:r>
              <a:rPr lang="en-US" sz="1050" dirty="0" err="1">
                <a:solidFill>
                  <a:srgbClr val="404040"/>
                </a:solidFill>
                <a:latin typeface="Calibri" pitchFamily="34" charset="0"/>
                <a:ea typeface="Calibri" pitchFamily="34" charset="-122"/>
                <a:cs typeface="Calibri" pitchFamily="34" charset="-120"/>
              </a:rPr>
              <a:t>finalizar</a:t>
            </a:r>
            <a:r>
              <a:rPr lang="en-US" sz="1050" dirty="0">
                <a:solidFill>
                  <a:srgbClr val="404040"/>
                </a:solidFill>
                <a:latin typeface="Calibri" pitchFamily="34" charset="0"/>
                <a:ea typeface="Calibri" pitchFamily="34" charset="-122"/>
                <a:cs typeface="Calibri" pitchFamily="34" charset="-120"/>
              </a:rPr>
              <a:t> la </a:t>
            </a:r>
            <a:r>
              <a:rPr lang="en-US" sz="1050" dirty="0" err="1">
                <a:solidFill>
                  <a:srgbClr val="404040"/>
                </a:solidFill>
                <a:latin typeface="Calibri" pitchFamily="34" charset="0"/>
                <a:ea typeface="Calibri" pitchFamily="34" charset="-122"/>
                <a:cs typeface="Calibri" pitchFamily="34" charset="-120"/>
              </a:rPr>
              <a:t>capacitación</a:t>
            </a:r>
            <a:r>
              <a:rPr lang="en-US" sz="1050" dirty="0">
                <a:solidFill>
                  <a:srgbClr val="404040"/>
                </a:solidFill>
                <a:latin typeface="Calibri" pitchFamily="34" charset="0"/>
                <a:ea typeface="Calibri" pitchFamily="34" charset="-122"/>
                <a:cs typeface="Calibri" pitchFamily="34" charset="-120"/>
              </a:rPr>
              <a:t>.</a:t>
            </a:r>
            <a:endParaRPr lang="en-US" sz="1050" dirty="0"/>
          </a:p>
        </p:txBody>
      </p:sp>
      <p:sp>
        <p:nvSpPr>
          <p:cNvPr id="29" name="Shape 26"/>
          <p:cNvSpPr/>
          <p:nvPr/>
        </p:nvSpPr>
        <p:spPr>
          <a:xfrm>
            <a:off x="5980176" y="2852928"/>
            <a:ext cx="2578608" cy="868680"/>
          </a:xfrm>
          <a:prstGeom prst="roundRect">
            <a:avLst>
              <a:gd name="adj" fmla="val 8421"/>
            </a:avLst>
          </a:prstGeom>
          <a:solidFill>
            <a:srgbClr val="F2F2F2"/>
          </a:solidFill>
          <a:ln w="12700">
            <a:solidFill>
              <a:srgbClr val="F2F2F2"/>
            </a:solidFill>
            <a:prstDash val="solid"/>
          </a:ln>
        </p:spPr>
        <p:txBody>
          <a:bodyPr/>
          <a:lstStyle/>
          <a:p>
            <a:endParaRPr lang="es-PE"/>
          </a:p>
        </p:txBody>
      </p:sp>
      <p:sp>
        <p:nvSpPr>
          <p:cNvPr id="30" name="Text 27"/>
          <p:cNvSpPr txBox="1"/>
          <p:nvPr/>
        </p:nvSpPr>
        <p:spPr>
          <a:xfrm>
            <a:off x="6117336" y="2926080"/>
            <a:ext cx="2331720" cy="274320"/>
          </a:xfrm>
          <a:prstGeom prst="rect">
            <a:avLst/>
          </a:prstGeom>
          <a:noFill/>
          <a:ln/>
        </p:spPr>
        <p:txBody>
          <a:bodyPr wrap="square" lIns="0" tIns="0" rIns="0" bIns="0" rtlCol="0" anchor="t"/>
          <a:lstStyle/>
          <a:p>
            <a:pPr marL="0" indent="0">
              <a:buNone/>
            </a:pPr>
            <a:r>
              <a:rPr lang="en-US" sz="1200" b="1" dirty="0">
                <a:solidFill>
                  <a:srgbClr val="ED2E45"/>
                </a:solidFill>
                <a:latin typeface="Montserrat" pitchFamily="34" charset="0"/>
                <a:ea typeface="Montserrat" pitchFamily="34" charset="-122"/>
                <a:cs typeface="Montserrat" pitchFamily="34" charset="-120"/>
              </a:rPr>
              <a:t>Fuente de información</a:t>
            </a:r>
            <a:endParaRPr lang="en-US" sz="1200" dirty="0"/>
          </a:p>
        </p:txBody>
      </p:sp>
      <p:sp>
        <p:nvSpPr>
          <p:cNvPr id="31" name="Text 28"/>
          <p:cNvSpPr txBox="1"/>
          <p:nvPr/>
        </p:nvSpPr>
        <p:spPr>
          <a:xfrm>
            <a:off x="6117336" y="3218688"/>
            <a:ext cx="2331720" cy="457200"/>
          </a:xfrm>
          <a:prstGeom prst="rect">
            <a:avLst/>
          </a:prstGeom>
          <a:noFill/>
          <a:ln/>
        </p:spPr>
        <p:txBody>
          <a:bodyPr wrap="square" lIns="0" tIns="0" rIns="0" bIns="0" rtlCol="0" anchor="t"/>
          <a:lstStyle/>
          <a:p>
            <a:pPr marL="0" indent="0">
              <a:buNone/>
            </a:pPr>
            <a:r>
              <a:rPr lang="en-US" sz="1100" dirty="0">
                <a:solidFill>
                  <a:srgbClr val="404040"/>
                </a:solidFill>
                <a:latin typeface="Calibri" pitchFamily="34" charset="0"/>
                <a:ea typeface="Calibri" pitchFamily="34" charset="-122"/>
                <a:cs typeface="Calibri" pitchFamily="34" charset="-120"/>
              </a:rPr>
              <a:t>¿de </a:t>
            </a:r>
            <a:r>
              <a:rPr lang="en-US" sz="1100" dirty="0" err="1">
                <a:solidFill>
                  <a:srgbClr val="404040"/>
                </a:solidFill>
                <a:latin typeface="Calibri" pitchFamily="34" charset="0"/>
                <a:ea typeface="Calibri" pitchFamily="34" charset="-122"/>
                <a:cs typeface="Calibri" pitchFamily="34" charset="-120"/>
              </a:rPr>
              <a:t>dónde</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obtendremos</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los</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datos</a:t>
            </a:r>
            <a:r>
              <a:rPr lang="en-US" sz="1100" dirty="0">
                <a:solidFill>
                  <a:srgbClr val="404040"/>
                </a:solidFill>
                <a:latin typeface="Calibri" pitchFamily="34" charset="0"/>
                <a:ea typeface="Calibri" pitchFamily="34" charset="-122"/>
                <a:cs typeface="Calibri" pitchFamily="34" charset="-120"/>
              </a:rPr>
              <a:t>?</a:t>
            </a:r>
          </a:p>
          <a:p>
            <a:pPr marL="0" indent="0">
              <a:buNone/>
            </a:pPr>
            <a:r>
              <a:rPr lang="en-US" sz="1100" dirty="0" err="1">
                <a:solidFill>
                  <a:srgbClr val="404040"/>
                </a:solidFill>
                <a:latin typeface="Calibri" pitchFamily="34" charset="0"/>
                <a:ea typeface="Calibri" pitchFamily="34" charset="-122"/>
                <a:cs typeface="Calibri" pitchFamily="34" charset="-120"/>
              </a:rPr>
              <a:t>Registros</a:t>
            </a:r>
            <a:r>
              <a:rPr lang="en-US" sz="1100" dirty="0">
                <a:solidFill>
                  <a:srgbClr val="404040"/>
                </a:solidFill>
                <a:latin typeface="Calibri" pitchFamily="34" charset="0"/>
                <a:ea typeface="Calibri" pitchFamily="34" charset="-122"/>
                <a:cs typeface="Calibri" pitchFamily="34" charset="-120"/>
              </a:rPr>
              <a:t> de </a:t>
            </a:r>
            <a:r>
              <a:rPr lang="en-US" sz="1100" dirty="0" err="1">
                <a:solidFill>
                  <a:srgbClr val="404040"/>
                </a:solidFill>
                <a:latin typeface="Calibri" pitchFamily="34" charset="0"/>
                <a:ea typeface="Calibri" pitchFamily="34" charset="-122"/>
                <a:cs typeface="Calibri" pitchFamily="34" charset="-120"/>
              </a:rPr>
              <a:t>atención</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encuestas</a:t>
            </a:r>
            <a:r>
              <a:rPr lang="en-US" sz="1100" dirty="0">
                <a:solidFill>
                  <a:srgbClr val="404040"/>
                </a:solidFill>
                <a:latin typeface="Calibri" pitchFamily="34" charset="0"/>
                <a:ea typeface="Calibri" pitchFamily="34" charset="-122"/>
                <a:cs typeface="Calibri" pitchFamily="34" charset="-120"/>
              </a:rPr>
              <a:t> u </a:t>
            </a:r>
            <a:r>
              <a:rPr lang="en-US" sz="1100" dirty="0" err="1">
                <a:solidFill>
                  <a:srgbClr val="404040"/>
                </a:solidFill>
                <a:latin typeface="Calibri" pitchFamily="34" charset="0"/>
                <a:ea typeface="Calibri" pitchFamily="34" charset="-122"/>
                <a:cs typeface="Calibri" pitchFamily="34" charset="-120"/>
              </a:rPr>
              <a:t>otras</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fuentes</a:t>
            </a:r>
            <a:r>
              <a:rPr lang="en-US" sz="1100" dirty="0">
                <a:solidFill>
                  <a:srgbClr val="404040"/>
                </a:solidFill>
                <a:latin typeface="Calibri" pitchFamily="34" charset="0"/>
                <a:ea typeface="Calibri" pitchFamily="34" charset="-122"/>
                <a:cs typeface="Calibri" pitchFamily="34" charset="-120"/>
              </a:rPr>
              <a:t>.</a:t>
            </a:r>
            <a:endParaRPr lang="en-US" sz="1100" dirty="0"/>
          </a:p>
        </p:txBody>
      </p:sp>
      <p:sp>
        <p:nvSpPr>
          <p:cNvPr id="32" name="Shape 29"/>
          <p:cNvSpPr/>
          <p:nvPr/>
        </p:nvSpPr>
        <p:spPr>
          <a:xfrm>
            <a:off x="548640" y="3840480"/>
            <a:ext cx="2578608" cy="868680"/>
          </a:xfrm>
          <a:prstGeom prst="roundRect">
            <a:avLst>
              <a:gd name="adj" fmla="val 8421"/>
            </a:avLst>
          </a:prstGeom>
          <a:solidFill>
            <a:srgbClr val="F2F2F2"/>
          </a:solidFill>
          <a:ln w="12700">
            <a:solidFill>
              <a:srgbClr val="F2F2F2"/>
            </a:solidFill>
            <a:prstDash val="solid"/>
          </a:ln>
        </p:spPr>
        <p:txBody>
          <a:bodyPr/>
          <a:lstStyle/>
          <a:p>
            <a:endParaRPr lang="es-PE"/>
          </a:p>
        </p:txBody>
      </p:sp>
      <p:sp>
        <p:nvSpPr>
          <p:cNvPr id="33" name="Text 30"/>
          <p:cNvSpPr txBox="1"/>
          <p:nvPr/>
        </p:nvSpPr>
        <p:spPr>
          <a:xfrm>
            <a:off x="685800" y="3913632"/>
            <a:ext cx="2331720" cy="274320"/>
          </a:xfrm>
          <a:prstGeom prst="rect">
            <a:avLst/>
          </a:prstGeom>
          <a:noFill/>
          <a:ln/>
        </p:spPr>
        <p:txBody>
          <a:bodyPr wrap="square" lIns="0" tIns="0" rIns="0" bIns="0" rtlCol="0" anchor="t"/>
          <a:lstStyle/>
          <a:p>
            <a:pPr marL="0" indent="0">
              <a:buNone/>
            </a:pPr>
            <a:r>
              <a:rPr lang="en-US" sz="1200" b="1" dirty="0">
                <a:solidFill>
                  <a:srgbClr val="ED2E45"/>
                </a:solidFill>
                <a:latin typeface="Montserrat" pitchFamily="34" charset="0"/>
                <a:ea typeface="Montserrat" pitchFamily="34" charset="-122"/>
                <a:cs typeface="Montserrat" pitchFamily="34" charset="-120"/>
              </a:rPr>
              <a:t>Línea base</a:t>
            </a:r>
            <a:endParaRPr lang="en-US" sz="1200" dirty="0"/>
          </a:p>
        </p:txBody>
      </p:sp>
      <p:sp>
        <p:nvSpPr>
          <p:cNvPr id="34" name="Text 31"/>
          <p:cNvSpPr txBox="1"/>
          <p:nvPr/>
        </p:nvSpPr>
        <p:spPr>
          <a:xfrm>
            <a:off x="685800" y="4206240"/>
            <a:ext cx="2331720" cy="457200"/>
          </a:xfrm>
          <a:prstGeom prst="rect">
            <a:avLst/>
          </a:prstGeom>
          <a:noFill/>
          <a:ln/>
        </p:spPr>
        <p:txBody>
          <a:bodyPr wrap="square" lIns="0" tIns="0" rIns="0" bIns="0" rtlCol="0" anchor="t"/>
          <a:lstStyle/>
          <a:p>
            <a:pPr marL="0" indent="0">
              <a:buNone/>
            </a:pPr>
            <a:r>
              <a:rPr lang="en-US" sz="1100" dirty="0">
                <a:solidFill>
                  <a:srgbClr val="404040"/>
                </a:solidFill>
                <a:latin typeface="Calibri" pitchFamily="34" charset="0"/>
                <a:ea typeface="Calibri" pitchFamily="34" charset="-122"/>
                <a:cs typeface="Calibri" pitchFamily="34" charset="-120"/>
              </a:rPr>
              <a:t>Valor </a:t>
            </a:r>
            <a:r>
              <a:rPr lang="en-US" sz="1100" dirty="0" err="1">
                <a:solidFill>
                  <a:srgbClr val="404040"/>
                </a:solidFill>
                <a:latin typeface="Calibri" pitchFamily="34" charset="0"/>
                <a:ea typeface="Calibri" pitchFamily="34" charset="-122"/>
                <a:cs typeface="Calibri" pitchFamily="34" charset="-120"/>
              </a:rPr>
              <a:t>en</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su</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etapa</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inicial</a:t>
            </a:r>
            <a:r>
              <a:rPr lang="en-US" sz="1100" dirty="0">
                <a:solidFill>
                  <a:srgbClr val="404040"/>
                </a:solidFill>
                <a:latin typeface="Calibri" pitchFamily="34" charset="0"/>
                <a:ea typeface="Calibri" pitchFamily="34" charset="-122"/>
                <a:cs typeface="Calibri" pitchFamily="34" charset="-120"/>
              </a:rPr>
              <a:t> del </a:t>
            </a:r>
            <a:r>
              <a:rPr lang="en-US" sz="1100" dirty="0" err="1">
                <a:solidFill>
                  <a:srgbClr val="404040"/>
                </a:solidFill>
                <a:latin typeface="Calibri" pitchFamily="34" charset="0"/>
                <a:ea typeface="Calibri" pitchFamily="34" charset="-122"/>
                <a:cs typeface="Calibri" pitchFamily="34" charset="-120"/>
              </a:rPr>
              <a:t>indicador</a:t>
            </a:r>
            <a:r>
              <a:rPr lang="en-US" sz="1100" dirty="0">
                <a:solidFill>
                  <a:srgbClr val="404040"/>
                </a:solidFill>
                <a:latin typeface="Calibri" pitchFamily="34" charset="0"/>
                <a:ea typeface="Calibri" pitchFamily="34" charset="-122"/>
                <a:cs typeface="Calibri" pitchFamily="34" charset="-120"/>
              </a:rPr>
              <a:t>, antes de la </a:t>
            </a:r>
            <a:r>
              <a:rPr lang="en-US" sz="1100" dirty="0" err="1">
                <a:solidFill>
                  <a:srgbClr val="404040"/>
                </a:solidFill>
                <a:latin typeface="Calibri" pitchFamily="34" charset="0"/>
                <a:ea typeface="Calibri" pitchFamily="34" charset="-122"/>
                <a:cs typeface="Calibri" pitchFamily="34" charset="-120"/>
              </a:rPr>
              <a:t>intervención</a:t>
            </a:r>
            <a:r>
              <a:rPr lang="en-US" sz="1100" dirty="0">
                <a:solidFill>
                  <a:srgbClr val="404040"/>
                </a:solidFill>
                <a:latin typeface="Calibri" pitchFamily="34" charset="0"/>
                <a:ea typeface="Calibri" pitchFamily="34" charset="-122"/>
                <a:cs typeface="Calibri" pitchFamily="34" charset="-120"/>
              </a:rPr>
              <a:t>.</a:t>
            </a:r>
            <a:endParaRPr lang="en-US" sz="1100" dirty="0"/>
          </a:p>
        </p:txBody>
      </p:sp>
      <p:sp>
        <p:nvSpPr>
          <p:cNvPr id="35" name="Shape 32"/>
          <p:cNvSpPr/>
          <p:nvPr/>
        </p:nvSpPr>
        <p:spPr>
          <a:xfrm>
            <a:off x="3264408" y="3840480"/>
            <a:ext cx="2578608" cy="868680"/>
          </a:xfrm>
          <a:prstGeom prst="roundRect">
            <a:avLst>
              <a:gd name="adj" fmla="val 8421"/>
            </a:avLst>
          </a:prstGeom>
          <a:solidFill>
            <a:srgbClr val="F2F2F2"/>
          </a:solidFill>
          <a:ln w="12700">
            <a:solidFill>
              <a:srgbClr val="F2F2F2"/>
            </a:solidFill>
            <a:prstDash val="solid"/>
          </a:ln>
        </p:spPr>
        <p:txBody>
          <a:bodyPr/>
          <a:lstStyle/>
          <a:p>
            <a:endParaRPr lang="es-PE"/>
          </a:p>
        </p:txBody>
      </p:sp>
      <p:sp>
        <p:nvSpPr>
          <p:cNvPr id="36" name="Text 33"/>
          <p:cNvSpPr txBox="1"/>
          <p:nvPr/>
        </p:nvSpPr>
        <p:spPr>
          <a:xfrm>
            <a:off x="3401568" y="3913632"/>
            <a:ext cx="2331720" cy="274320"/>
          </a:xfrm>
          <a:prstGeom prst="rect">
            <a:avLst/>
          </a:prstGeom>
          <a:noFill/>
          <a:ln/>
        </p:spPr>
        <p:txBody>
          <a:bodyPr wrap="square" lIns="0" tIns="0" rIns="0" bIns="0" rtlCol="0" anchor="t"/>
          <a:lstStyle/>
          <a:p>
            <a:pPr marL="0" indent="0">
              <a:buNone/>
            </a:pPr>
            <a:r>
              <a:rPr lang="en-US" sz="1200" b="1" dirty="0">
                <a:solidFill>
                  <a:srgbClr val="ED2E45"/>
                </a:solidFill>
                <a:latin typeface="Montserrat" pitchFamily="34" charset="0"/>
                <a:ea typeface="Montserrat" pitchFamily="34" charset="-122"/>
                <a:cs typeface="Montserrat" pitchFamily="34" charset="-120"/>
              </a:rPr>
              <a:t>Meta y </a:t>
            </a:r>
            <a:r>
              <a:rPr lang="en-US" sz="1200" b="1" dirty="0" err="1">
                <a:solidFill>
                  <a:srgbClr val="ED2E45"/>
                </a:solidFill>
                <a:latin typeface="Montserrat" pitchFamily="34" charset="0"/>
                <a:ea typeface="Montserrat" pitchFamily="34" charset="-122"/>
                <a:cs typeface="Montserrat" pitchFamily="34" charset="-120"/>
              </a:rPr>
              <a:t>plazo</a:t>
            </a:r>
            <a:endParaRPr lang="en-US" sz="1200" dirty="0"/>
          </a:p>
        </p:txBody>
      </p:sp>
      <p:sp>
        <p:nvSpPr>
          <p:cNvPr id="37" name="Text 34"/>
          <p:cNvSpPr txBox="1"/>
          <p:nvPr/>
        </p:nvSpPr>
        <p:spPr>
          <a:xfrm>
            <a:off x="3401568" y="4206240"/>
            <a:ext cx="2331720" cy="457200"/>
          </a:xfrm>
          <a:prstGeom prst="rect">
            <a:avLst/>
          </a:prstGeom>
          <a:noFill/>
          <a:ln/>
        </p:spPr>
        <p:txBody>
          <a:bodyPr wrap="square" lIns="0" tIns="0" rIns="0" bIns="0" rtlCol="0" anchor="t"/>
          <a:lstStyle/>
          <a:p>
            <a:pPr marL="0" indent="0">
              <a:buNone/>
            </a:pPr>
            <a:r>
              <a:rPr lang="en-US" sz="1100" dirty="0">
                <a:solidFill>
                  <a:srgbClr val="404040"/>
                </a:solidFill>
                <a:latin typeface="Calibri" pitchFamily="34" charset="0"/>
                <a:ea typeface="Calibri" pitchFamily="34" charset="-122"/>
                <a:cs typeface="Calibri" pitchFamily="34" charset="-120"/>
              </a:rPr>
              <a:t>Valor que </a:t>
            </a:r>
            <a:r>
              <a:rPr lang="en-US" sz="1100" dirty="0" err="1">
                <a:solidFill>
                  <a:srgbClr val="404040"/>
                </a:solidFill>
                <a:latin typeface="Calibri" pitchFamily="34" charset="0"/>
                <a:ea typeface="Calibri" pitchFamily="34" charset="-122"/>
                <a:cs typeface="Calibri" pitchFamily="34" charset="-120"/>
              </a:rPr>
              <a:t>esperamos</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alcanzar</a:t>
            </a:r>
            <a:r>
              <a:rPr lang="en-US" sz="1100" dirty="0">
                <a:solidFill>
                  <a:srgbClr val="404040"/>
                </a:solidFill>
                <a:latin typeface="Calibri" pitchFamily="34" charset="0"/>
                <a:ea typeface="Calibri" pitchFamily="34" charset="-122"/>
                <a:cs typeface="Calibri" pitchFamily="34" charset="-120"/>
              </a:rPr>
              <a:t> y </a:t>
            </a:r>
            <a:r>
              <a:rPr lang="en-US" sz="1100" dirty="0" err="1">
                <a:solidFill>
                  <a:srgbClr val="404040"/>
                </a:solidFill>
                <a:latin typeface="Calibri" pitchFamily="34" charset="0"/>
                <a:ea typeface="Calibri" pitchFamily="34" charset="-122"/>
                <a:cs typeface="Calibri" pitchFamily="34" charset="-120"/>
              </a:rPr>
              <a:t>fecha</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prevista</a:t>
            </a:r>
            <a:r>
              <a:rPr lang="en-US" sz="1100" dirty="0">
                <a:solidFill>
                  <a:srgbClr val="404040"/>
                </a:solidFill>
                <a:latin typeface="Calibri" pitchFamily="34" charset="0"/>
                <a:ea typeface="Calibri" pitchFamily="34" charset="-122"/>
                <a:cs typeface="Calibri" pitchFamily="34" charset="-120"/>
              </a:rPr>
              <a:t> para </a:t>
            </a:r>
            <a:r>
              <a:rPr lang="en-US" sz="1100" dirty="0" err="1">
                <a:solidFill>
                  <a:srgbClr val="404040"/>
                </a:solidFill>
                <a:latin typeface="Calibri" pitchFamily="34" charset="0"/>
                <a:ea typeface="Calibri" pitchFamily="34" charset="-122"/>
                <a:cs typeface="Calibri" pitchFamily="34" charset="-120"/>
              </a:rPr>
              <a:t>lograrlo</a:t>
            </a:r>
            <a:endParaRPr lang="en-US" sz="1100" dirty="0"/>
          </a:p>
        </p:txBody>
      </p:sp>
      <p:sp>
        <p:nvSpPr>
          <p:cNvPr id="38" name="Shape 35"/>
          <p:cNvSpPr/>
          <p:nvPr/>
        </p:nvSpPr>
        <p:spPr>
          <a:xfrm>
            <a:off x="5980176" y="3840480"/>
            <a:ext cx="2578608" cy="868680"/>
          </a:xfrm>
          <a:prstGeom prst="roundRect">
            <a:avLst>
              <a:gd name="adj" fmla="val 8421"/>
            </a:avLst>
          </a:prstGeom>
          <a:solidFill>
            <a:srgbClr val="F2F2F2"/>
          </a:solidFill>
          <a:ln w="12700">
            <a:solidFill>
              <a:srgbClr val="F2F2F2"/>
            </a:solidFill>
            <a:prstDash val="solid"/>
          </a:ln>
        </p:spPr>
        <p:txBody>
          <a:bodyPr/>
          <a:lstStyle/>
          <a:p>
            <a:endParaRPr lang="es-PE"/>
          </a:p>
        </p:txBody>
      </p:sp>
      <p:sp>
        <p:nvSpPr>
          <p:cNvPr id="39" name="Text 36"/>
          <p:cNvSpPr txBox="1"/>
          <p:nvPr/>
        </p:nvSpPr>
        <p:spPr>
          <a:xfrm>
            <a:off x="6117336" y="3913632"/>
            <a:ext cx="2331720" cy="274320"/>
          </a:xfrm>
          <a:prstGeom prst="rect">
            <a:avLst/>
          </a:prstGeom>
          <a:noFill/>
          <a:ln/>
        </p:spPr>
        <p:txBody>
          <a:bodyPr wrap="square" lIns="0" tIns="0" rIns="0" bIns="0" rtlCol="0" anchor="t"/>
          <a:lstStyle/>
          <a:p>
            <a:pPr marL="0" indent="0">
              <a:buNone/>
            </a:pPr>
            <a:r>
              <a:rPr lang="en-US" sz="1200" b="1" dirty="0" err="1">
                <a:solidFill>
                  <a:srgbClr val="ED2E45"/>
                </a:solidFill>
                <a:latin typeface="Montserrat" pitchFamily="34" charset="0"/>
                <a:ea typeface="Montserrat" pitchFamily="34" charset="-122"/>
                <a:cs typeface="Montserrat" pitchFamily="34" charset="-120"/>
              </a:rPr>
              <a:t>Periodicidad</a:t>
            </a:r>
            <a:r>
              <a:rPr lang="en-US" sz="1200" b="1" dirty="0">
                <a:solidFill>
                  <a:srgbClr val="ED2E45"/>
                </a:solidFill>
                <a:latin typeface="Montserrat" pitchFamily="34" charset="0"/>
                <a:ea typeface="Montserrat" pitchFamily="34" charset="-122"/>
                <a:cs typeface="Montserrat" pitchFamily="34" charset="-120"/>
              </a:rPr>
              <a:t> y </a:t>
            </a:r>
            <a:r>
              <a:rPr lang="en-US" sz="1200" b="1" dirty="0" err="1">
                <a:solidFill>
                  <a:srgbClr val="ED2E45"/>
                </a:solidFill>
                <a:latin typeface="Montserrat" pitchFamily="34" charset="0"/>
                <a:ea typeface="Montserrat" pitchFamily="34" charset="-122"/>
                <a:cs typeface="Montserrat" pitchFamily="34" charset="-120"/>
              </a:rPr>
              <a:t>responsable</a:t>
            </a:r>
            <a:endParaRPr lang="en-US" sz="1200" dirty="0"/>
          </a:p>
        </p:txBody>
      </p:sp>
      <p:sp>
        <p:nvSpPr>
          <p:cNvPr id="40" name="Text 37"/>
          <p:cNvSpPr txBox="1"/>
          <p:nvPr/>
        </p:nvSpPr>
        <p:spPr>
          <a:xfrm>
            <a:off x="6117336" y="4206240"/>
            <a:ext cx="2331720" cy="457200"/>
          </a:xfrm>
          <a:prstGeom prst="rect">
            <a:avLst/>
          </a:prstGeom>
          <a:noFill/>
          <a:ln/>
        </p:spPr>
        <p:txBody>
          <a:bodyPr wrap="square" lIns="0" tIns="0" rIns="0" bIns="0" rtlCol="0" anchor="t"/>
          <a:lstStyle/>
          <a:p>
            <a:pPr marL="0" indent="0">
              <a:buNone/>
            </a:pPr>
            <a:r>
              <a:rPr lang="en-US" sz="1100" dirty="0">
                <a:solidFill>
                  <a:srgbClr val="404040"/>
                </a:solidFill>
                <a:latin typeface="Calibri" pitchFamily="34" charset="0"/>
                <a:ea typeface="Calibri" pitchFamily="34" charset="-122"/>
                <a:cs typeface="Calibri" pitchFamily="34" charset="-120"/>
              </a:rPr>
              <a:t>cada cuánto se </a:t>
            </a:r>
            <a:r>
              <a:rPr lang="en-US" sz="1100" dirty="0" err="1">
                <a:solidFill>
                  <a:srgbClr val="404040"/>
                </a:solidFill>
                <a:latin typeface="Calibri" pitchFamily="34" charset="0"/>
                <a:ea typeface="Calibri" pitchFamily="34" charset="-122"/>
                <a:cs typeface="Calibri" pitchFamily="34" charset="-120"/>
              </a:rPr>
              <a:t>medirá</a:t>
            </a:r>
            <a:r>
              <a:rPr lang="en-US" sz="1100" dirty="0">
                <a:solidFill>
                  <a:srgbClr val="404040"/>
                </a:solidFill>
                <a:latin typeface="Calibri" pitchFamily="34" charset="0"/>
                <a:ea typeface="Calibri" pitchFamily="34" charset="-122"/>
                <a:cs typeface="Calibri" pitchFamily="34" charset="-120"/>
              </a:rPr>
              <a:t> y </a:t>
            </a:r>
            <a:r>
              <a:rPr lang="en-US" sz="1100" dirty="0" err="1">
                <a:solidFill>
                  <a:srgbClr val="404040"/>
                </a:solidFill>
                <a:latin typeface="Calibri" pitchFamily="34" charset="0"/>
                <a:ea typeface="Calibri" pitchFamily="34" charset="-122"/>
                <a:cs typeface="Calibri" pitchFamily="34" charset="-120"/>
              </a:rPr>
              <a:t>quién</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recogerá</a:t>
            </a:r>
            <a:r>
              <a:rPr lang="en-US" sz="1100" dirty="0">
                <a:solidFill>
                  <a:srgbClr val="404040"/>
                </a:solidFill>
                <a:latin typeface="Calibri" pitchFamily="34" charset="0"/>
                <a:ea typeface="Calibri" pitchFamily="34" charset="-122"/>
                <a:cs typeface="Calibri" pitchFamily="34" charset="-120"/>
              </a:rPr>
              <a:t> y </a:t>
            </a:r>
            <a:r>
              <a:rPr lang="en-US" sz="1100" dirty="0" err="1">
                <a:solidFill>
                  <a:srgbClr val="404040"/>
                </a:solidFill>
                <a:latin typeface="Calibri" pitchFamily="34" charset="0"/>
                <a:ea typeface="Calibri" pitchFamily="34" charset="-122"/>
                <a:cs typeface="Calibri" pitchFamily="34" charset="-120"/>
              </a:rPr>
              <a:t>verificará</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los</a:t>
            </a:r>
            <a:r>
              <a:rPr lang="en-US" sz="1100" dirty="0">
                <a:solidFill>
                  <a:srgbClr val="404040"/>
                </a:solidFill>
                <a:latin typeface="Calibri" pitchFamily="34" charset="0"/>
                <a:ea typeface="Calibri" pitchFamily="34" charset="-122"/>
                <a:cs typeface="Calibri" pitchFamily="34" charset="-120"/>
              </a:rPr>
              <a:t> </a:t>
            </a:r>
            <a:r>
              <a:rPr lang="en-US" sz="1100" dirty="0" err="1">
                <a:solidFill>
                  <a:srgbClr val="404040"/>
                </a:solidFill>
                <a:latin typeface="Calibri" pitchFamily="34" charset="0"/>
                <a:ea typeface="Calibri" pitchFamily="34" charset="-122"/>
                <a:cs typeface="Calibri" pitchFamily="34" charset="-120"/>
              </a:rPr>
              <a:t>datos</a:t>
            </a:r>
            <a:r>
              <a:rPr lang="en-US" sz="1100" dirty="0">
                <a:solidFill>
                  <a:srgbClr val="404040"/>
                </a:solidFill>
                <a:latin typeface="Calibri" pitchFamily="34" charset="0"/>
                <a:ea typeface="Calibri" pitchFamily="34" charset="-122"/>
                <a:cs typeface="Calibri" pitchFamily="34" charset="-120"/>
              </a:rPr>
              <a:t>.</a:t>
            </a:r>
            <a:endParaRPr lang="en-US" sz="1100" dirty="0"/>
          </a:p>
        </p:txBody>
      </p:sp>
      <p:pic>
        <p:nvPicPr>
          <p:cNvPr id="41" name="Image 0" descr="a/logo_mimp_h.png"/>
          <p:cNvPicPr>
            <a:picLocks noChangeAspect="1"/>
          </p:cNvPicPr>
          <p:nvPr/>
        </p:nvPicPr>
        <p:blipFill>
          <a:blip r:embed="rId4"/>
          <a:stretch>
            <a:fillRect/>
          </a:stretch>
        </p:blipFill>
        <p:spPr>
          <a:xfrm>
            <a:off x="184709" y="110642"/>
            <a:ext cx="1790395" cy="417881"/>
          </a:xfrm>
          <a:prstGeom prst="rect">
            <a:avLst/>
          </a:prstGeom>
        </p:spPr>
      </p:pic>
      <p:pic>
        <p:nvPicPr>
          <p:cNvPr id="42" name="Image 1" descr="a/logo_30.png"/>
          <p:cNvPicPr>
            <a:picLocks noChangeAspect="1"/>
          </p:cNvPicPr>
          <p:nvPr/>
        </p:nvPicPr>
        <p:blipFill>
          <a:blip r:embed="rId5"/>
          <a:stretch>
            <a:fillRect/>
          </a:stretch>
        </p:blipFill>
        <p:spPr>
          <a:xfrm>
            <a:off x="3974439" y="36577"/>
            <a:ext cx="1158545" cy="622706"/>
          </a:xfrm>
          <a:prstGeom prst="rect">
            <a:avLst/>
          </a:prstGeom>
        </p:spPr>
      </p:pic>
      <p:pic>
        <p:nvPicPr>
          <p:cNvPr id="43" name="Image 2" descr="a/logo_peru_responde.png"/>
          <p:cNvPicPr>
            <a:picLocks noChangeAspect="1"/>
          </p:cNvPicPr>
          <p:nvPr/>
        </p:nvPicPr>
        <p:blipFill>
          <a:blip r:embed="rId6"/>
          <a:stretch>
            <a:fillRect/>
          </a:stretch>
        </p:blipFill>
        <p:spPr>
          <a:xfrm>
            <a:off x="7299655" y="102413"/>
            <a:ext cx="1602943" cy="475488"/>
          </a:xfrm>
          <a:prstGeom prst="rect">
            <a:avLst/>
          </a:prstGeom>
        </p:spPr>
      </p:pic>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65192"/>
            <a:ext cx="9144000" cy="178308"/>
          </a:xfrm>
          <a:prstGeom prst="rect">
            <a:avLst/>
          </a:prstGeom>
          <a:solidFill>
            <a:srgbClr val="ED2E45"/>
          </a:solidFill>
          <a:ln w="12700">
            <a:solidFill>
              <a:srgbClr val="ED2E45"/>
            </a:solidFill>
            <a:prstDash val="solid"/>
          </a:ln>
        </p:spPr>
        <p:txBody>
          <a:bodyPr/>
          <a:lstStyle/>
          <a:p>
            <a:endParaRPr lang="es-PE"/>
          </a:p>
        </p:txBody>
      </p:sp>
      <p:sp>
        <p:nvSpPr>
          <p:cNvPr id="3" name="Text 1"/>
          <p:cNvSpPr txBox="1"/>
          <p:nvPr/>
        </p:nvSpPr>
        <p:spPr>
          <a:xfrm>
            <a:off x="548640" y="4965192"/>
            <a:ext cx="2011680" cy="178308"/>
          </a:xfrm>
          <a:prstGeom prst="rect">
            <a:avLst/>
          </a:prstGeom>
          <a:noFill/>
          <a:ln/>
        </p:spPr>
        <p:txBody>
          <a:bodyPr wrap="square" lIns="0" tIns="0" rIns="0" bIns="0" rtlCol="0" anchor="ctr"/>
          <a:lstStyle/>
          <a:p>
            <a:pPr marL="0" indent="0">
              <a:buNone/>
            </a:pPr>
            <a:r>
              <a:rPr lang="es-PE" sz="750" kern="0" spc="100" dirty="0">
                <a:solidFill>
                  <a:srgbClr val="FFFFFF">
                    <a:alpha val="55000"/>
                  </a:srgbClr>
                </a:solidFill>
                <a:latin typeface="Calibri" pitchFamily="34" charset="0"/>
                <a:ea typeface="Calibri" pitchFamily="34" charset="-122"/>
                <a:cs typeface="Calibri" pitchFamily="34" charset="-120"/>
              </a:rPr>
              <a:t>I · COMPRENDER</a:t>
            </a:r>
            <a:endParaRPr lang="es-PE" sz="750" dirty="0"/>
          </a:p>
        </p:txBody>
      </p:sp>
      <p:sp>
        <p:nvSpPr>
          <p:cNvPr id="4" name="Text 2"/>
          <p:cNvSpPr txBox="1"/>
          <p:nvPr/>
        </p:nvSpPr>
        <p:spPr>
          <a:xfrm>
            <a:off x="2560320" y="4965192"/>
            <a:ext cx="2011680" cy="178308"/>
          </a:xfrm>
          <a:prstGeom prst="rect">
            <a:avLst/>
          </a:prstGeom>
          <a:noFill/>
          <a:ln/>
        </p:spPr>
        <p:txBody>
          <a:bodyPr wrap="square" lIns="0" tIns="0" rIns="0" bIns="0" rtlCol="0" anchor="ctr"/>
          <a:lstStyle/>
          <a:p>
            <a:pPr marL="0" indent="0">
              <a:buNone/>
            </a:pPr>
            <a:r>
              <a:rPr lang="es-PE" sz="750" kern="0" spc="100" dirty="0">
                <a:solidFill>
                  <a:srgbClr val="FFFFFF">
                    <a:alpha val="55000"/>
                  </a:srgbClr>
                </a:solidFill>
                <a:latin typeface="Calibri" pitchFamily="34" charset="0"/>
                <a:ea typeface="Calibri" pitchFamily="34" charset="-122"/>
                <a:cs typeface="Calibri" pitchFamily="34" charset="-120"/>
              </a:rPr>
              <a:t>II · DISEÑAR</a:t>
            </a:r>
            <a:endParaRPr lang="es-PE" sz="750" dirty="0"/>
          </a:p>
        </p:txBody>
      </p:sp>
      <p:sp>
        <p:nvSpPr>
          <p:cNvPr id="5" name="Text 3"/>
          <p:cNvSpPr txBox="1"/>
          <p:nvPr/>
        </p:nvSpPr>
        <p:spPr>
          <a:xfrm>
            <a:off x="4572000" y="4965192"/>
            <a:ext cx="2011680" cy="178308"/>
          </a:xfrm>
          <a:prstGeom prst="rect">
            <a:avLst/>
          </a:prstGeom>
          <a:noFill/>
          <a:ln/>
        </p:spPr>
        <p:txBody>
          <a:bodyPr wrap="square" lIns="0" tIns="0" rIns="0" bIns="0" rtlCol="0" anchor="ctr"/>
          <a:lstStyle/>
          <a:p>
            <a:pPr marL="0" indent="0">
              <a:buNone/>
            </a:pPr>
            <a:r>
              <a:rPr lang="es-PE" sz="750" b="1" kern="0" spc="100" dirty="0">
                <a:solidFill>
                  <a:srgbClr val="FFFFFF"/>
                </a:solidFill>
                <a:latin typeface="Calibri" pitchFamily="34" charset="0"/>
                <a:ea typeface="Calibri" pitchFamily="34" charset="-122"/>
                <a:cs typeface="Calibri" pitchFamily="34" charset="-120"/>
              </a:rPr>
              <a:t>III · VALIDAR</a:t>
            </a:r>
            <a:endParaRPr lang="es-PE" sz="750" dirty="0"/>
          </a:p>
        </p:txBody>
      </p:sp>
      <p:sp>
        <p:nvSpPr>
          <p:cNvPr id="6" name="Text 4"/>
          <p:cNvSpPr txBox="1"/>
          <p:nvPr/>
        </p:nvSpPr>
        <p:spPr>
          <a:xfrm>
            <a:off x="6583680" y="4965192"/>
            <a:ext cx="2011680" cy="178308"/>
          </a:xfrm>
          <a:prstGeom prst="rect">
            <a:avLst/>
          </a:prstGeom>
          <a:noFill/>
          <a:ln/>
        </p:spPr>
        <p:txBody>
          <a:bodyPr wrap="square" lIns="0" tIns="0" rIns="0" bIns="0" rtlCol="0" anchor="ctr"/>
          <a:lstStyle/>
          <a:p>
            <a:pPr marL="0" indent="0">
              <a:buNone/>
            </a:pPr>
            <a:r>
              <a:rPr lang="es-PE" sz="750" kern="0" spc="100" dirty="0">
                <a:solidFill>
                  <a:srgbClr val="FFFFFF">
                    <a:alpha val="55000"/>
                  </a:srgbClr>
                </a:solidFill>
                <a:latin typeface="Calibri" pitchFamily="34" charset="0"/>
                <a:ea typeface="Calibri" pitchFamily="34" charset="-122"/>
                <a:cs typeface="Calibri" pitchFamily="34" charset="-120"/>
              </a:rPr>
              <a:t>IV · COMUNICAR</a:t>
            </a:r>
            <a:endParaRPr lang="es-PE" sz="750" dirty="0"/>
          </a:p>
        </p:txBody>
      </p:sp>
      <p:sp>
        <p:nvSpPr>
          <p:cNvPr id="8" name="Text 5"/>
          <p:cNvSpPr txBox="1"/>
          <p:nvPr/>
        </p:nvSpPr>
        <p:spPr>
          <a:xfrm>
            <a:off x="548640" y="731520"/>
            <a:ext cx="8046720" cy="502920"/>
          </a:xfrm>
          <a:prstGeom prst="rect">
            <a:avLst/>
          </a:prstGeom>
          <a:noFill/>
          <a:ln/>
        </p:spPr>
        <p:txBody>
          <a:bodyPr wrap="square" lIns="0" tIns="0" rIns="0" bIns="0" rtlCol="0" anchor="ctr"/>
          <a:lstStyle/>
          <a:p>
            <a:pPr marL="0" indent="0">
              <a:buNone/>
            </a:pPr>
            <a:r>
              <a:rPr lang="es-PE" sz="2200" b="1" dirty="0">
                <a:solidFill>
                  <a:srgbClr val="ED2E45"/>
                </a:solidFill>
                <a:latin typeface="Montserrat" pitchFamily="34" charset="0"/>
                <a:ea typeface="Montserrat" pitchFamily="34" charset="-122"/>
                <a:cs typeface="Montserrat" pitchFamily="34" charset="-120"/>
              </a:rPr>
              <a:t>De la solución al piloto</a:t>
            </a:r>
            <a:endParaRPr lang="es-PE" sz="2200" dirty="0"/>
          </a:p>
        </p:txBody>
      </p:sp>
      <p:sp>
        <p:nvSpPr>
          <p:cNvPr id="9" name="Text 6"/>
          <p:cNvSpPr txBox="1"/>
          <p:nvPr/>
        </p:nvSpPr>
        <p:spPr>
          <a:xfrm>
            <a:off x="548640" y="1216152"/>
            <a:ext cx="8046720" cy="274320"/>
          </a:xfrm>
          <a:prstGeom prst="rect">
            <a:avLst/>
          </a:prstGeom>
          <a:noFill/>
          <a:ln/>
        </p:spPr>
        <p:txBody>
          <a:bodyPr wrap="square" lIns="0" tIns="0" rIns="0" bIns="0" rtlCol="0" anchor="ctr"/>
          <a:lstStyle/>
          <a:p>
            <a:pPr marL="0" indent="0">
              <a:buNone/>
            </a:pPr>
            <a:r>
              <a:rPr lang="es-PE" sz="1250" dirty="0">
                <a:solidFill>
                  <a:srgbClr val="6B6B6B"/>
                </a:solidFill>
                <a:latin typeface="Calibri" pitchFamily="34" charset="0"/>
                <a:ea typeface="Calibri" pitchFamily="34" charset="-122"/>
                <a:cs typeface="Calibri" pitchFamily="34" charset="-120"/>
              </a:rPr>
              <a:t>Probar a pequeña escala permite aprender y ajustar antes de ampliar la intervención</a:t>
            </a:r>
            <a:endParaRPr lang="es-PE" sz="1250" dirty="0"/>
          </a:p>
        </p:txBody>
      </p:sp>
      <p:sp>
        <p:nvSpPr>
          <p:cNvPr id="10" name="Shape 7"/>
          <p:cNvSpPr/>
          <p:nvPr/>
        </p:nvSpPr>
        <p:spPr>
          <a:xfrm>
            <a:off x="548640" y="1645920"/>
            <a:ext cx="3017520" cy="3108960"/>
          </a:xfrm>
          <a:prstGeom prst="rect">
            <a:avLst/>
          </a:prstGeom>
          <a:solidFill>
            <a:srgbClr val="ED2E45"/>
          </a:solidFill>
          <a:ln w="12700">
            <a:solidFill>
              <a:srgbClr val="ED2E45"/>
            </a:solidFill>
            <a:prstDash val="solid"/>
          </a:ln>
        </p:spPr>
        <p:txBody>
          <a:bodyPr/>
          <a:lstStyle/>
          <a:p>
            <a:endParaRPr lang="es-PE"/>
          </a:p>
        </p:txBody>
      </p:sp>
      <p:sp>
        <p:nvSpPr>
          <p:cNvPr id="11" name="Text 8"/>
          <p:cNvSpPr txBox="1"/>
          <p:nvPr/>
        </p:nvSpPr>
        <p:spPr>
          <a:xfrm>
            <a:off x="777240" y="1755648"/>
            <a:ext cx="2606040" cy="1097280"/>
          </a:xfrm>
          <a:prstGeom prst="rect">
            <a:avLst/>
          </a:prstGeom>
          <a:noFill/>
          <a:ln/>
        </p:spPr>
        <p:txBody>
          <a:bodyPr wrap="square" lIns="0" tIns="0" rIns="0" bIns="0" rtlCol="0" anchor="t"/>
          <a:lstStyle/>
          <a:p>
            <a:pPr marL="0" indent="0">
              <a:buNone/>
            </a:pPr>
            <a:r>
              <a:rPr lang="es-PE" sz="1700" b="1" dirty="0">
                <a:solidFill>
                  <a:srgbClr val="FFFFFF"/>
                </a:solidFill>
                <a:latin typeface="Montserrat" pitchFamily="34" charset="0"/>
                <a:ea typeface="Montserrat" pitchFamily="34" charset="-122"/>
                <a:cs typeface="Montserrat" pitchFamily="34" charset="-120"/>
              </a:rPr>
              <a:t>¿Qué necesitamos comprobar antes de ampliar la solución?</a:t>
            </a:r>
            <a:endParaRPr lang="es-PE" sz="1700" dirty="0"/>
          </a:p>
        </p:txBody>
      </p:sp>
      <p:sp>
        <p:nvSpPr>
          <p:cNvPr id="12" name="Shape 9"/>
          <p:cNvSpPr/>
          <p:nvPr/>
        </p:nvSpPr>
        <p:spPr>
          <a:xfrm>
            <a:off x="731520" y="3017520"/>
            <a:ext cx="2651760" cy="1554480"/>
          </a:xfrm>
          <a:prstGeom prst="roundRect">
            <a:avLst>
              <a:gd name="adj" fmla="val 4706"/>
            </a:avLst>
          </a:prstGeom>
          <a:solidFill>
            <a:srgbClr val="FFFFFF"/>
          </a:solidFill>
          <a:ln w="12700">
            <a:solidFill>
              <a:srgbClr val="FFFFFF"/>
            </a:solidFill>
            <a:prstDash val="solid"/>
          </a:ln>
        </p:spPr>
        <p:txBody>
          <a:bodyPr/>
          <a:lstStyle/>
          <a:p>
            <a:endParaRPr lang="es-PE"/>
          </a:p>
        </p:txBody>
      </p:sp>
      <p:sp>
        <p:nvSpPr>
          <p:cNvPr id="13" name="Text 10"/>
          <p:cNvSpPr txBox="1"/>
          <p:nvPr/>
        </p:nvSpPr>
        <p:spPr>
          <a:xfrm>
            <a:off x="868680" y="3063240"/>
            <a:ext cx="2377440" cy="1463040"/>
          </a:xfrm>
          <a:prstGeom prst="rect">
            <a:avLst/>
          </a:prstGeom>
          <a:noFill/>
          <a:ln/>
        </p:spPr>
        <p:txBody>
          <a:bodyPr wrap="square" lIns="0" tIns="0" rIns="0" bIns="0" rtlCol="0" anchor="ctr"/>
          <a:lstStyle/>
          <a:p>
            <a:pPr marL="0" indent="0">
              <a:buNone/>
            </a:pPr>
            <a:r>
              <a:rPr lang="es-PE" sz="1150" b="1" dirty="0">
                <a:solidFill>
                  <a:srgbClr val="ED2E45"/>
                </a:solidFill>
                <a:latin typeface="Calibri" pitchFamily="34" charset="0"/>
                <a:ea typeface="Calibri" pitchFamily="34" charset="-122"/>
                <a:cs typeface="Calibri" pitchFamily="34" charset="-120"/>
              </a:rPr>
              <a:t>¿Qué es un piloto? </a:t>
            </a:r>
            <a:endParaRPr lang="es-PE" sz="1150" dirty="0"/>
          </a:p>
          <a:p>
            <a:pPr marL="0" indent="0" algn="just">
              <a:buNone/>
            </a:pPr>
            <a:r>
              <a:rPr lang="es-PE" sz="1150" dirty="0">
                <a:solidFill>
                  <a:srgbClr val="404040"/>
                </a:solidFill>
                <a:latin typeface="Calibri" pitchFamily="34" charset="0"/>
                <a:ea typeface="Calibri" pitchFamily="34" charset="-122"/>
                <a:cs typeface="Calibri" pitchFamily="34" charset="-120"/>
              </a:rPr>
              <a:t>Una prueba de alcance limitado con una población y un plazo definidos, para evaluar la implementación y realizar ajustes</a:t>
            </a:r>
            <a:endParaRPr lang="es-PE" sz="1150" dirty="0"/>
          </a:p>
        </p:txBody>
      </p:sp>
      <p:sp>
        <p:nvSpPr>
          <p:cNvPr id="14" name="Shape 11"/>
          <p:cNvSpPr/>
          <p:nvPr/>
        </p:nvSpPr>
        <p:spPr>
          <a:xfrm>
            <a:off x="3794760" y="1645920"/>
            <a:ext cx="2304288" cy="685800"/>
          </a:xfrm>
          <a:prstGeom prst="roundRect">
            <a:avLst>
              <a:gd name="adj" fmla="val 10667"/>
            </a:avLst>
          </a:prstGeom>
          <a:solidFill>
            <a:srgbClr val="F2F2F2"/>
          </a:solidFill>
          <a:ln w="12700">
            <a:solidFill>
              <a:srgbClr val="F2F2F2"/>
            </a:solidFill>
            <a:prstDash val="solid"/>
          </a:ln>
        </p:spPr>
        <p:txBody>
          <a:bodyPr/>
          <a:lstStyle/>
          <a:p>
            <a:endParaRPr lang="es-PE"/>
          </a:p>
        </p:txBody>
      </p:sp>
      <p:sp>
        <p:nvSpPr>
          <p:cNvPr id="15" name="Shape 12"/>
          <p:cNvSpPr/>
          <p:nvPr/>
        </p:nvSpPr>
        <p:spPr>
          <a:xfrm>
            <a:off x="3922776" y="1828800"/>
            <a:ext cx="310896" cy="310896"/>
          </a:xfrm>
          <a:prstGeom prst="ellipse">
            <a:avLst/>
          </a:prstGeom>
          <a:solidFill>
            <a:srgbClr val="ED2E45"/>
          </a:solidFill>
          <a:ln w="12700">
            <a:solidFill>
              <a:srgbClr val="ED2E45"/>
            </a:solidFill>
            <a:prstDash val="solid"/>
          </a:ln>
        </p:spPr>
        <p:txBody>
          <a:bodyPr/>
          <a:lstStyle/>
          <a:p>
            <a:endParaRPr lang="es-PE"/>
          </a:p>
        </p:txBody>
      </p:sp>
      <p:sp>
        <p:nvSpPr>
          <p:cNvPr id="16" name="Text 13"/>
          <p:cNvSpPr txBox="1"/>
          <p:nvPr/>
        </p:nvSpPr>
        <p:spPr>
          <a:xfrm>
            <a:off x="3922776" y="1828800"/>
            <a:ext cx="310896" cy="310896"/>
          </a:xfrm>
          <a:prstGeom prst="rect">
            <a:avLst/>
          </a:prstGeom>
          <a:noFill/>
          <a:ln/>
        </p:spPr>
        <p:txBody>
          <a:bodyPr wrap="square" lIns="0" tIns="0" rIns="0" bIns="0" rtlCol="0" anchor="ctr"/>
          <a:lstStyle/>
          <a:p>
            <a:pPr marL="0" indent="0" algn="ctr">
              <a:buNone/>
            </a:pPr>
            <a:r>
              <a:rPr lang="es-PE" sz="1050" b="1" dirty="0">
                <a:solidFill>
                  <a:srgbClr val="FFFFFF"/>
                </a:solidFill>
                <a:latin typeface="Calibri" pitchFamily="34" charset="0"/>
                <a:ea typeface="Calibri" pitchFamily="34" charset="-122"/>
                <a:cs typeface="Calibri" pitchFamily="34" charset="-120"/>
              </a:rPr>
              <a:t>1</a:t>
            </a:r>
            <a:endParaRPr lang="es-PE" sz="1050" dirty="0"/>
          </a:p>
        </p:txBody>
      </p:sp>
      <p:sp>
        <p:nvSpPr>
          <p:cNvPr id="17" name="Text 14"/>
          <p:cNvSpPr txBox="1"/>
          <p:nvPr/>
        </p:nvSpPr>
        <p:spPr>
          <a:xfrm>
            <a:off x="4325112" y="1645920"/>
            <a:ext cx="1719072" cy="685800"/>
          </a:xfrm>
          <a:prstGeom prst="rect">
            <a:avLst/>
          </a:prstGeom>
          <a:noFill/>
          <a:ln/>
        </p:spPr>
        <p:txBody>
          <a:bodyPr wrap="square" lIns="0" tIns="0" rIns="0" bIns="0" rtlCol="0" anchor="ctr"/>
          <a:lstStyle/>
          <a:p>
            <a:pPr marL="0" indent="0">
              <a:buNone/>
            </a:pPr>
            <a:r>
              <a:rPr lang="es-PE" sz="1150" b="1" dirty="0">
                <a:solidFill>
                  <a:srgbClr val="262626"/>
                </a:solidFill>
                <a:latin typeface="Calibri" pitchFamily="34" charset="0"/>
                <a:ea typeface="Calibri" pitchFamily="34" charset="-122"/>
                <a:cs typeface="Calibri" pitchFamily="34" charset="-120"/>
              </a:rPr>
              <a:t>Territorio</a:t>
            </a:r>
          </a:p>
          <a:p>
            <a:pPr marL="0" indent="0">
              <a:buNone/>
            </a:pPr>
            <a:r>
              <a:rPr lang="es-PE" sz="1150" dirty="0">
                <a:solidFill>
                  <a:srgbClr val="262626"/>
                </a:solidFill>
                <a:latin typeface="Calibri" pitchFamily="34" charset="0"/>
                <a:ea typeface="Calibri" pitchFamily="34" charset="-122"/>
                <a:cs typeface="Calibri" pitchFamily="34" charset="-120"/>
              </a:rPr>
              <a:t>¿Dónde se realizará y por qué allí?</a:t>
            </a:r>
            <a:endParaRPr lang="es-PE" sz="1150" dirty="0"/>
          </a:p>
        </p:txBody>
      </p:sp>
      <p:sp>
        <p:nvSpPr>
          <p:cNvPr id="18" name="Shape 15"/>
          <p:cNvSpPr/>
          <p:nvPr/>
        </p:nvSpPr>
        <p:spPr>
          <a:xfrm>
            <a:off x="6217920" y="1645920"/>
            <a:ext cx="2304288" cy="685800"/>
          </a:xfrm>
          <a:prstGeom prst="roundRect">
            <a:avLst>
              <a:gd name="adj" fmla="val 10667"/>
            </a:avLst>
          </a:prstGeom>
          <a:solidFill>
            <a:srgbClr val="F2F2F2"/>
          </a:solidFill>
          <a:ln w="12700">
            <a:solidFill>
              <a:srgbClr val="F2F2F2"/>
            </a:solidFill>
            <a:prstDash val="solid"/>
          </a:ln>
        </p:spPr>
        <p:txBody>
          <a:bodyPr/>
          <a:lstStyle/>
          <a:p>
            <a:endParaRPr lang="es-PE"/>
          </a:p>
        </p:txBody>
      </p:sp>
      <p:sp>
        <p:nvSpPr>
          <p:cNvPr id="19" name="Shape 16"/>
          <p:cNvSpPr/>
          <p:nvPr/>
        </p:nvSpPr>
        <p:spPr>
          <a:xfrm>
            <a:off x="6345936" y="1828800"/>
            <a:ext cx="310896" cy="310896"/>
          </a:xfrm>
          <a:prstGeom prst="ellipse">
            <a:avLst/>
          </a:prstGeom>
          <a:solidFill>
            <a:srgbClr val="ED2E45"/>
          </a:solidFill>
          <a:ln w="12700">
            <a:solidFill>
              <a:srgbClr val="ED2E45"/>
            </a:solidFill>
            <a:prstDash val="solid"/>
          </a:ln>
        </p:spPr>
        <p:txBody>
          <a:bodyPr/>
          <a:lstStyle/>
          <a:p>
            <a:endParaRPr lang="es-PE"/>
          </a:p>
        </p:txBody>
      </p:sp>
      <p:sp>
        <p:nvSpPr>
          <p:cNvPr id="20" name="Text 17"/>
          <p:cNvSpPr txBox="1"/>
          <p:nvPr/>
        </p:nvSpPr>
        <p:spPr>
          <a:xfrm>
            <a:off x="6345936" y="1828800"/>
            <a:ext cx="310896" cy="310896"/>
          </a:xfrm>
          <a:prstGeom prst="rect">
            <a:avLst/>
          </a:prstGeom>
          <a:noFill/>
          <a:ln/>
        </p:spPr>
        <p:txBody>
          <a:bodyPr wrap="square" lIns="0" tIns="0" rIns="0" bIns="0" rtlCol="0" anchor="ctr"/>
          <a:lstStyle/>
          <a:p>
            <a:pPr marL="0" indent="0" algn="ctr">
              <a:buNone/>
            </a:pPr>
            <a:r>
              <a:rPr lang="es-PE" sz="1050" b="1" dirty="0">
                <a:solidFill>
                  <a:srgbClr val="FFFFFF"/>
                </a:solidFill>
                <a:latin typeface="Calibri" pitchFamily="34" charset="0"/>
                <a:ea typeface="Calibri" pitchFamily="34" charset="-122"/>
                <a:cs typeface="Calibri" pitchFamily="34" charset="-120"/>
              </a:rPr>
              <a:t>2</a:t>
            </a:r>
            <a:endParaRPr lang="es-PE" sz="1050" dirty="0"/>
          </a:p>
        </p:txBody>
      </p:sp>
      <p:sp>
        <p:nvSpPr>
          <p:cNvPr id="21" name="Text 18"/>
          <p:cNvSpPr txBox="1"/>
          <p:nvPr/>
        </p:nvSpPr>
        <p:spPr>
          <a:xfrm>
            <a:off x="6748272" y="1645920"/>
            <a:ext cx="1719072" cy="685800"/>
          </a:xfrm>
          <a:prstGeom prst="rect">
            <a:avLst/>
          </a:prstGeom>
          <a:noFill/>
          <a:ln/>
        </p:spPr>
        <p:txBody>
          <a:bodyPr wrap="square" lIns="0" tIns="0" rIns="0" bIns="0" rtlCol="0" anchor="ctr"/>
          <a:lstStyle/>
          <a:p>
            <a:pPr marL="0" indent="0">
              <a:buNone/>
            </a:pPr>
            <a:r>
              <a:rPr lang="es-PE" sz="1150" b="1" dirty="0">
                <a:solidFill>
                  <a:srgbClr val="262626"/>
                </a:solidFill>
                <a:latin typeface="Calibri" pitchFamily="34" charset="0"/>
                <a:ea typeface="Calibri" pitchFamily="34" charset="-122"/>
                <a:cs typeface="Calibri" pitchFamily="34" charset="-120"/>
              </a:rPr>
              <a:t>Población</a:t>
            </a:r>
          </a:p>
          <a:p>
            <a:pPr marL="0" indent="0">
              <a:buNone/>
            </a:pPr>
            <a:r>
              <a:rPr lang="es-PE" sz="1150" dirty="0">
                <a:solidFill>
                  <a:srgbClr val="262626"/>
                </a:solidFill>
                <a:latin typeface="Calibri" pitchFamily="34" charset="0"/>
                <a:ea typeface="Calibri" pitchFamily="34" charset="-122"/>
                <a:cs typeface="Calibri" pitchFamily="34" charset="-120"/>
              </a:rPr>
              <a:t>¿Quiénes participarán y cómo se seleccionarán?</a:t>
            </a:r>
            <a:endParaRPr lang="es-PE" sz="1150" dirty="0"/>
          </a:p>
        </p:txBody>
      </p:sp>
      <p:sp>
        <p:nvSpPr>
          <p:cNvPr id="22" name="Shape 19"/>
          <p:cNvSpPr/>
          <p:nvPr/>
        </p:nvSpPr>
        <p:spPr>
          <a:xfrm>
            <a:off x="3794760" y="2441448"/>
            <a:ext cx="2304288" cy="685800"/>
          </a:xfrm>
          <a:prstGeom prst="roundRect">
            <a:avLst>
              <a:gd name="adj" fmla="val 10667"/>
            </a:avLst>
          </a:prstGeom>
          <a:solidFill>
            <a:srgbClr val="F2F2F2"/>
          </a:solidFill>
          <a:ln w="12700">
            <a:solidFill>
              <a:srgbClr val="F2F2F2"/>
            </a:solidFill>
            <a:prstDash val="solid"/>
          </a:ln>
        </p:spPr>
        <p:txBody>
          <a:bodyPr/>
          <a:lstStyle/>
          <a:p>
            <a:endParaRPr lang="es-PE"/>
          </a:p>
        </p:txBody>
      </p:sp>
      <p:sp>
        <p:nvSpPr>
          <p:cNvPr id="23" name="Shape 20"/>
          <p:cNvSpPr/>
          <p:nvPr/>
        </p:nvSpPr>
        <p:spPr>
          <a:xfrm>
            <a:off x="3922776" y="2624328"/>
            <a:ext cx="310896" cy="310896"/>
          </a:xfrm>
          <a:prstGeom prst="ellipse">
            <a:avLst/>
          </a:prstGeom>
          <a:solidFill>
            <a:srgbClr val="ED2E45"/>
          </a:solidFill>
          <a:ln w="12700">
            <a:solidFill>
              <a:srgbClr val="ED2E45"/>
            </a:solidFill>
            <a:prstDash val="solid"/>
          </a:ln>
        </p:spPr>
        <p:txBody>
          <a:bodyPr/>
          <a:lstStyle/>
          <a:p>
            <a:endParaRPr lang="es-PE"/>
          </a:p>
        </p:txBody>
      </p:sp>
      <p:sp>
        <p:nvSpPr>
          <p:cNvPr id="24" name="Text 21"/>
          <p:cNvSpPr txBox="1"/>
          <p:nvPr/>
        </p:nvSpPr>
        <p:spPr>
          <a:xfrm>
            <a:off x="3922776" y="2624328"/>
            <a:ext cx="310896" cy="310896"/>
          </a:xfrm>
          <a:prstGeom prst="rect">
            <a:avLst/>
          </a:prstGeom>
          <a:noFill/>
          <a:ln/>
        </p:spPr>
        <p:txBody>
          <a:bodyPr wrap="square" lIns="0" tIns="0" rIns="0" bIns="0" rtlCol="0" anchor="ctr"/>
          <a:lstStyle/>
          <a:p>
            <a:pPr marL="0" indent="0" algn="ctr">
              <a:buNone/>
            </a:pPr>
            <a:r>
              <a:rPr lang="es-PE" sz="1050" b="1" dirty="0">
                <a:solidFill>
                  <a:srgbClr val="FFFFFF"/>
                </a:solidFill>
                <a:latin typeface="Calibri" pitchFamily="34" charset="0"/>
                <a:ea typeface="Calibri" pitchFamily="34" charset="-122"/>
                <a:cs typeface="Calibri" pitchFamily="34" charset="-120"/>
              </a:rPr>
              <a:t>3</a:t>
            </a:r>
            <a:endParaRPr lang="es-PE" sz="1050" dirty="0"/>
          </a:p>
        </p:txBody>
      </p:sp>
      <p:sp>
        <p:nvSpPr>
          <p:cNvPr id="25" name="Text 22"/>
          <p:cNvSpPr txBox="1"/>
          <p:nvPr/>
        </p:nvSpPr>
        <p:spPr>
          <a:xfrm>
            <a:off x="4325112" y="2441448"/>
            <a:ext cx="1837944" cy="685800"/>
          </a:xfrm>
          <a:prstGeom prst="rect">
            <a:avLst/>
          </a:prstGeom>
          <a:noFill/>
          <a:ln/>
        </p:spPr>
        <p:txBody>
          <a:bodyPr wrap="square" lIns="0" tIns="0" rIns="0" bIns="0" rtlCol="0" anchor="ctr"/>
          <a:lstStyle/>
          <a:p>
            <a:pPr marL="0" indent="0">
              <a:buNone/>
            </a:pPr>
            <a:r>
              <a:rPr lang="es-PE" sz="1150" b="1" dirty="0">
                <a:solidFill>
                  <a:srgbClr val="262626"/>
                </a:solidFill>
                <a:latin typeface="Calibri" pitchFamily="34" charset="0"/>
                <a:ea typeface="Calibri" pitchFamily="34" charset="-122"/>
                <a:cs typeface="Calibri" pitchFamily="34" charset="-120"/>
              </a:rPr>
              <a:t>Duración</a:t>
            </a:r>
          </a:p>
          <a:p>
            <a:pPr marL="0" indent="0">
              <a:buNone/>
            </a:pPr>
            <a:r>
              <a:rPr lang="es-PE" sz="1150" dirty="0">
                <a:solidFill>
                  <a:srgbClr val="262626"/>
                </a:solidFill>
                <a:latin typeface="Calibri" pitchFamily="34" charset="0"/>
                <a:ea typeface="Calibri" pitchFamily="34" charset="-122"/>
                <a:cs typeface="Calibri" pitchFamily="34" charset="-120"/>
              </a:rPr>
              <a:t>¿Cuánto tiempo necesitamos para observar avances?</a:t>
            </a:r>
            <a:endParaRPr lang="es-PE" sz="1150" dirty="0"/>
          </a:p>
        </p:txBody>
      </p:sp>
      <p:sp>
        <p:nvSpPr>
          <p:cNvPr id="26" name="Shape 23"/>
          <p:cNvSpPr/>
          <p:nvPr/>
        </p:nvSpPr>
        <p:spPr>
          <a:xfrm>
            <a:off x="6217920" y="2441448"/>
            <a:ext cx="2304288" cy="685800"/>
          </a:xfrm>
          <a:prstGeom prst="roundRect">
            <a:avLst>
              <a:gd name="adj" fmla="val 10667"/>
            </a:avLst>
          </a:prstGeom>
          <a:solidFill>
            <a:srgbClr val="F2F2F2"/>
          </a:solidFill>
          <a:ln w="12700">
            <a:solidFill>
              <a:srgbClr val="F2F2F2"/>
            </a:solidFill>
            <a:prstDash val="solid"/>
          </a:ln>
        </p:spPr>
        <p:txBody>
          <a:bodyPr/>
          <a:lstStyle/>
          <a:p>
            <a:endParaRPr lang="es-PE"/>
          </a:p>
        </p:txBody>
      </p:sp>
      <p:sp>
        <p:nvSpPr>
          <p:cNvPr id="27" name="Shape 24"/>
          <p:cNvSpPr/>
          <p:nvPr/>
        </p:nvSpPr>
        <p:spPr>
          <a:xfrm>
            <a:off x="6345936" y="2624328"/>
            <a:ext cx="310896" cy="310896"/>
          </a:xfrm>
          <a:prstGeom prst="ellipse">
            <a:avLst/>
          </a:prstGeom>
          <a:solidFill>
            <a:srgbClr val="ED2E45"/>
          </a:solidFill>
          <a:ln w="12700">
            <a:solidFill>
              <a:srgbClr val="ED2E45"/>
            </a:solidFill>
            <a:prstDash val="solid"/>
          </a:ln>
        </p:spPr>
        <p:txBody>
          <a:bodyPr/>
          <a:lstStyle/>
          <a:p>
            <a:endParaRPr lang="es-PE"/>
          </a:p>
        </p:txBody>
      </p:sp>
      <p:sp>
        <p:nvSpPr>
          <p:cNvPr id="28" name="Text 25"/>
          <p:cNvSpPr txBox="1"/>
          <p:nvPr/>
        </p:nvSpPr>
        <p:spPr>
          <a:xfrm>
            <a:off x="6345936" y="2624328"/>
            <a:ext cx="310896" cy="310896"/>
          </a:xfrm>
          <a:prstGeom prst="rect">
            <a:avLst/>
          </a:prstGeom>
          <a:noFill/>
          <a:ln/>
        </p:spPr>
        <p:txBody>
          <a:bodyPr wrap="square" lIns="0" tIns="0" rIns="0" bIns="0" rtlCol="0" anchor="ctr"/>
          <a:lstStyle/>
          <a:p>
            <a:pPr marL="0" indent="0" algn="ctr">
              <a:buNone/>
            </a:pPr>
            <a:r>
              <a:rPr lang="es-PE" sz="1050" b="1" dirty="0">
                <a:solidFill>
                  <a:srgbClr val="FFFFFF"/>
                </a:solidFill>
                <a:latin typeface="Calibri" pitchFamily="34" charset="0"/>
                <a:ea typeface="Calibri" pitchFamily="34" charset="-122"/>
                <a:cs typeface="Calibri" pitchFamily="34" charset="-120"/>
              </a:rPr>
              <a:t>4</a:t>
            </a:r>
            <a:endParaRPr lang="es-PE" sz="1050" dirty="0"/>
          </a:p>
        </p:txBody>
      </p:sp>
      <p:sp>
        <p:nvSpPr>
          <p:cNvPr id="29" name="Text 26"/>
          <p:cNvSpPr txBox="1"/>
          <p:nvPr/>
        </p:nvSpPr>
        <p:spPr>
          <a:xfrm>
            <a:off x="6748272" y="2441448"/>
            <a:ext cx="1719072" cy="685800"/>
          </a:xfrm>
          <a:prstGeom prst="rect">
            <a:avLst/>
          </a:prstGeom>
          <a:noFill/>
          <a:ln/>
        </p:spPr>
        <p:txBody>
          <a:bodyPr wrap="square" lIns="0" tIns="0" rIns="0" bIns="0" rtlCol="0" anchor="ctr"/>
          <a:lstStyle/>
          <a:p>
            <a:pPr marL="0" indent="0">
              <a:buNone/>
            </a:pPr>
            <a:r>
              <a:rPr lang="es-PE" sz="1150" b="1" dirty="0">
                <a:solidFill>
                  <a:srgbClr val="262626"/>
                </a:solidFill>
                <a:latin typeface="Calibri" pitchFamily="34" charset="0"/>
                <a:ea typeface="Calibri" pitchFamily="34" charset="-122"/>
                <a:cs typeface="Calibri" pitchFamily="34" charset="-120"/>
              </a:rPr>
              <a:t>Responsables y recursos:</a:t>
            </a:r>
          </a:p>
          <a:p>
            <a:pPr marL="0" indent="0" algn="just">
              <a:buNone/>
            </a:pPr>
            <a:r>
              <a:rPr lang="es-PE" sz="1150" dirty="0">
                <a:solidFill>
                  <a:srgbClr val="262626"/>
                </a:solidFill>
                <a:latin typeface="Calibri" pitchFamily="34" charset="0"/>
                <a:ea typeface="Calibri" pitchFamily="34" charset="-122"/>
                <a:cs typeface="Calibri" pitchFamily="34" charset="-120"/>
              </a:rPr>
              <a:t>¿Quién lo ejecutará y con qué medios?</a:t>
            </a:r>
            <a:endParaRPr lang="es-PE" sz="1150" dirty="0"/>
          </a:p>
        </p:txBody>
      </p:sp>
      <p:sp>
        <p:nvSpPr>
          <p:cNvPr id="30" name="Shape 27"/>
          <p:cNvSpPr/>
          <p:nvPr/>
        </p:nvSpPr>
        <p:spPr>
          <a:xfrm>
            <a:off x="3794760" y="3236976"/>
            <a:ext cx="2304288" cy="685800"/>
          </a:xfrm>
          <a:prstGeom prst="roundRect">
            <a:avLst>
              <a:gd name="adj" fmla="val 10667"/>
            </a:avLst>
          </a:prstGeom>
          <a:solidFill>
            <a:srgbClr val="F2F2F2"/>
          </a:solidFill>
          <a:ln w="12700">
            <a:solidFill>
              <a:srgbClr val="F2F2F2"/>
            </a:solidFill>
            <a:prstDash val="solid"/>
          </a:ln>
        </p:spPr>
        <p:txBody>
          <a:bodyPr/>
          <a:lstStyle/>
          <a:p>
            <a:endParaRPr lang="es-PE"/>
          </a:p>
        </p:txBody>
      </p:sp>
      <p:sp>
        <p:nvSpPr>
          <p:cNvPr id="31" name="Shape 28"/>
          <p:cNvSpPr/>
          <p:nvPr/>
        </p:nvSpPr>
        <p:spPr>
          <a:xfrm>
            <a:off x="3922776" y="3419856"/>
            <a:ext cx="310896" cy="310896"/>
          </a:xfrm>
          <a:prstGeom prst="ellipse">
            <a:avLst/>
          </a:prstGeom>
          <a:solidFill>
            <a:srgbClr val="ED2E45"/>
          </a:solidFill>
          <a:ln w="12700">
            <a:solidFill>
              <a:srgbClr val="ED2E45"/>
            </a:solidFill>
            <a:prstDash val="solid"/>
          </a:ln>
        </p:spPr>
        <p:txBody>
          <a:bodyPr/>
          <a:lstStyle/>
          <a:p>
            <a:endParaRPr lang="es-PE"/>
          </a:p>
        </p:txBody>
      </p:sp>
      <p:sp>
        <p:nvSpPr>
          <p:cNvPr id="32" name="Text 29"/>
          <p:cNvSpPr txBox="1"/>
          <p:nvPr/>
        </p:nvSpPr>
        <p:spPr>
          <a:xfrm>
            <a:off x="3922776" y="3419856"/>
            <a:ext cx="310896" cy="310896"/>
          </a:xfrm>
          <a:prstGeom prst="rect">
            <a:avLst/>
          </a:prstGeom>
          <a:noFill/>
          <a:ln/>
        </p:spPr>
        <p:txBody>
          <a:bodyPr wrap="square" lIns="0" tIns="0" rIns="0" bIns="0" rtlCol="0" anchor="ctr"/>
          <a:lstStyle/>
          <a:p>
            <a:pPr marL="0" indent="0" algn="ctr">
              <a:buNone/>
            </a:pPr>
            <a:r>
              <a:rPr lang="es-PE" sz="1050" b="1" dirty="0">
                <a:solidFill>
                  <a:srgbClr val="FFFFFF"/>
                </a:solidFill>
                <a:latin typeface="Calibri" pitchFamily="34" charset="0"/>
                <a:ea typeface="Calibri" pitchFamily="34" charset="-122"/>
                <a:cs typeface="Calibri" pitchFamily="34" charset="-120"/>
              </a:rPr>
              <a:t>5</a:t>
            </a:r>
            <a:endParaRPr lang="es-PE" sz="1050" dirty="0"/>
          </a:p>
        </p:txBody>
      </p:sp>
      <p:sp>
        <p:nvSpPr>
          <p:cNvPr id="33" name="Text 30"/>
          <p:cNvSpPr txBox="1"/>
          <p:nvPr/>
        </p:nvSpPr>
        <p:spPr>
          <a:xfrm>
            <a:off x="4325112" y="3236976"/>
            <a:ext cx="1801368" cy="685800"/>
          </a:xfrm>
          <a:prstGeom prst="rect">
            <a:avLst/>
          </a:prstGeom>
          <a:noFill/>
          <a:ln/>
        </p:spPr>
        <p:txBody>
          <a:bodyPr wrap="square" lIns="0" tIns="0" rIns="0" bIns="0" rtlCol="0" anchor="ctr"/>
          <a:lstStyle/>
          <a:p>
            <a:pPr marL="0" indent="0">
              <a:buNone/>
            </a:pPr>
            <a:r>
              <a:rPr lang="es-PE" sz="1150" b="1" dirty="0">
                <a:solidFill>
                  <a:srgbClr val="262626"/>
                </a:solidFill>
                <a:latin typeface="Calibri" pitchFamily="34" charset="0"/>
                <a:ea typeface="Calibri" pitchFamily="34" charset="-122"/>
                <a:cs typeface="Calibri" pitchFamily="34" charset="-120"/>
              </a:rPr>
              <a:t>Datos y protección</a:t>
            </a:r>
          </a:p>
          <a:p>
            <a:pPr marL="0" indent="0">
              <a:buNone/>
            </a:pPr>
            <a:r>
              <a:rPr lang="es-PE" sz="1150" dirty="0">
                <a:solidFill>
                  <a:srgbClr val="262626"/>
                </a:solidFill>
                <a:latin typeface="Calibri" pitchFamily="34" charset="0"/>
                <a:ea typeface="Calibri" pitchFamily="34" charset="-122"/>
                <a:cs typeface="Calibri" pitchFamily="34" charset="-120"/>
              </a:rPr>
              <a:t>¿Qué información se recogerá y cómo se protegerá?</a:t>
            </a:r>
            <a:endParaRPr lang="es-PE" sz="1150" dirty="0"/>
          </a:p>
        </p:txBody>
      </p:sp>
      <p:sp>
        <p:nvSpPr>
          <p:cNvPr id="34" name="Shape 31"/>
          <p:cNvSpPr/>
          <p:nvPr/>
        </p:nvSpPr>
        <p:spPr>
          <a:xfrm>
            <a:off x="6217920" y="3236976"/>
            <a:ext cx="2304288" cy="685800"/>
          </a:xfrm>
          <a:prstGeom prst="roundRect">
            <a:avLst>
              <a:gd name="adj" fmla="val 10667"/>
            </a:avLst>
          </a:prstGeom>
          <a:solidFill>
            <a:srgbClr val="F2F2F2"/>
          </a:solidFill>
          <a:ln w="12700">
            <a:solidFill>
              <a:srgbClr val="F2F2F2"/>
            </a:solidFill>
            <a:prstDash val="solid"/>
          </a:ln>
        </p:spPr>
        <p:txBody>
          <a:bodyPr/>
          <a:lstStyle/>
          <a:p>
            <a:endParaRPr lang="es-PE"/>
          </a:p>
        </p:txBody>
      </p:sp>
      <p:sp>
        <p:nvSpPr>
          <p:cNvPr id="35" name="Shape 32"/>
          <p:cNvSpPr/>
          <p:nvPr/>
        </p:nvSpPr>
        <p:spPr>
          <a:xfrm>
            <a:off x="6345936" y="3419856"/>
            <a:ext cx="310896" cy="310896"/>
          </a:xfrm>
          <a:prstGeom prst="ellipse">
            <a:avLst/>
          </a:prstGeom>
          <a:solidFill>
            <a:srgbClr val="ED2E45"/>
          </a:solidFill>
          <a:ln w="12700">
            <a:solidFill>
              <a:srgbClr val="ED2E45"/>
            </a:solidFill>
            <a:prstDash val="solid"/>
          </a:ln>
        </p:spPr>
        <p:txBody>
          <a:bodyPr/>
          <a:lstStyle/>
          <a:p>
            <a:endParaRPr lang="es-PE"/>
          </a:p>
        </p:txBody>
      </p:sp>
      <p:sp>
        <p:nvSpPr>
          <p:cNvPr id="36" name="Text 33"/>
          <p:cNvSpPr txBox="1"/>
          <p:nvPr/>
        </p:nvSpPr>
        <p:spPr>
          <a:xfrm>
            <a:off x="6345936" y="3419856"/>
            <a:ext cx="310896" cy="310896"/>
          </a:xfrm>
          <a:prstGeom prst="rect">
            <a:avLst/>
          </a:prstGeom>
          <a:noFill/>
          <a:ln/>
        </p:spPr>
        <p:txBody>
          <a:bodyPr wrap="square" lIns="0" tIns="0" rIns="0" bIns="0" rtlCol="0" anchor="ctr"/>
          <a:lstStyle/>
          <a:p>
            <a:pPr marL="0" indent="0" algn="ctr">
              <a:buNone/>
            </a:pPr>
            <a:r>
              <a:rPr lang="es-PE" sz="1050" b="1" dirty="0">
                <a:solidFill>
                  <a:srgbClr val="FFFFFF"/>
                </a:solidFill>
                <a:latin typeface="Calibri" pitchFamily="34" charset="0"/>
                <a:ea typeface="Calibri" pitchFamily="34" charset="-122"/>
                <a:cs typeface="Calibri" pitchFamily="34" charset="-120"/>
              </a:rPr>
              <a:t>6</a:t>
            </a:r>
            <a:endParaRPr lang="es-PE" sz="1050" dirty="0"/>
          </a:p>
        </p:txBody>
      </p:sp>
      <p:sp>
        <p:nvSpPr>
          <p:cNvPr id="37" name="Text 34"/>
          <p:cNvSpPr txBox="1"/>
          <p:nvPr/>
        </p:nvSpPr>
        <p:spPr>
          <a:xfrm>
            <a:off x="6748272" y="3236976"/>
            <a:ext cx="1719072" cy="685800"/>
          </a:xfrm>
          <a:prstGeom prst="rect">
            <a:avLst/>
          </a:prstGeom>
          <a:noFill/>
          <a:ln/>
        </p:spPr>
        <p:txBody>
          <a:bodyPr wrap="square" lIns="0" tIns="0" rIns="0" bIns="0" rtlCol="0" anchor="ctr"/>
          <a:lstStyle/>
          <a:p>
            <a:pPr marL="0" indent="0">
              <a:buNone/>
            </a:pPr>
            <a:r>
              <a:rPr lang="es-PE" sz="1150" b="1" dirty="0">
                <a:solidFill>
                  <a:srgbClr val="262626"/>
                </a:solidFill>
                <a:latin typeface="Calibri" pitchFamily="34" charset="0"/>
                <a:ea typeface="Calibri" pitchFamily="34" charset="-122"/>
                <a:cs typeface="Calibri" pitchFamily="34" charset="-120"/>
              </a:rPr>
              <a:t>Producto esperado</a:t>
            </a:r>
            <a:endParaRPr lang="es-PE" sz="1150" dirty="0">
              <a:solidFill>
                <a:srgbClr val="262626"/>
              </a:solidFill>
              <a:latin typeface="Calibri" pitchFamily="34" charset="0"/>
              <a:ea typeface="Calibri" pitchFamily="34" charset="-122"/>
              <a:cs typeface="Calibri" pitchFamily="34" charset="-120"/>
            </a:endParaRPr>
          </a:p>
          <a:p>
            <a:pPr marL="0" indent="0">
              <a:buNone/>
            </a:pPr>
            <a:r>
              <a:rPr lang="es-PE" sz="1150" dirty="0">
                <a:solidFill>
                  <a:srgbClr val="262626"/>
                </a:solidFill>
                <a:latin typeface="Calibri" pitchFamily="34" charset="0"/>
                <a:ea typeface="Calibri" pitchFamily="34" charset="-122"/>
                <a:cs typeface="Calibri" pitchFamily="34" charset="-120"/>
              </a:rPr>
              <a:t>¿Qué bien o servicio se entregará?</a:t>
            </a:r>
            <a:endParaRPr lang="es-PE" sz="1150" dirty="0"/>
          </a:p>
        </p:txBody>
      </p:sp>
      <p:sp>
        <p:nvSpPr>
          <p:cNvPr id="38" name="Shape 35"/>
          <p:cNvSpPr/>
          <p:nvPr/>
        </p:nvSpPr>
        <p:spPr>
          <a:xfrm>
            <a:off x="3794760" y="4032504"/>
            <a:ext cx="2304288" cy="685800"/>
          </a:xfrm>
          <a:prstGeom prst="roundRect">
            <a:avLst>
              <a:gd name="adj" fmla="val 10667"/>
            </a:avLst>
          </a:prstGeom>
          <a:solidFill>
            <a:srgbClr val="F2F2F2"/>
          </a:solidFill>
          <a:ln w="12700">
            <a:solidFill>
              <a:srgbClr val="F2F2F2"/>
            </a:solidFill>
            <a:prstDash val="solid"/>
          </a:ln>
        </p:spPr>
        <p:txBody>
          <a:bodyPr/>
          <a:lstStyle/>
          <a:p>
            <a:endParaRPr lang="es-PE"/>
          </a:p>
        </p:txBody>
      </p:sp>
      <p:sp>
        <p:nvSpPr>
          <p:cNvPr id="39" name="Shape 36"/>
          <p:cNvSpPr/>
          <p:nvPr/>
        </p:nvSpPr>
        <p:spPr>
          <a:xfrm>
            <a:off x="3922776" y="4215384"/>
            <a:ext cx="310896" cy="310896"/>
          </a:xfrm>
          <a:prstGeom prst="ellipse">
            <a:avLst/>
          </a:prstGeom>
          <a:solidFill>
            <a:srgbClr val="ED2E45"/>
          </a:solidFill>
          <a:ln w="12700">
            <a:solidFill>
              <a:srgbClr val="ED2E45"/>
            </a:solidFill>
            <a:prstDash val="solid"/>
          </a:ln>
        </p:spPr>
        <p:txBody>
          <a:bodyPr/>
          <a:lstStyle/>
          <a:p>
            <a:endParaRPr lang="es-PE"/>
          </a:p>
        </p:txBody>
      </p:sp>
      <p:sp>
        <p:nvSpPr>
          <p:cNvPr id="40" name="Text 37"/>
          <p:cNvSpPr txBox="1"/>
          <p:nvPr/>
        </p:nvSpPr>
        <p:spPr>
          <a:xfrm>
            <a:off x="3922776" y="4215384"/>
            <a:ext cx="310896" cy="310896"/>
          </a:xfrm>
          <a:prstGeom prst="rect">
            <a:avLst/>
          </a:prstGeom>
          <a:noFill/>
          <a:ln/>
        </p:spPr>
        <p:txBody>
          <a:bodyPr wrap="square" lIns="0" tIns="0" rIns="0" bIns="0" rtlCol="0" anchor="ctr"/>
          <a:lstStyle/>
          <a:p>
            <a:pPr marL="0" indent="0" algn="ctr">
              <a:buNone/>
            </a:pPr>
            <a:r>
              <a:rPr lang="es-PE" sz="1050" b="1" dirty="0">
                <a:solidFill>
                  <a:srgbClr val="FFFFFF"/>
                </a:solidFill>
                <a:latin typeface="Calibri" pitchFamily="34" charset="0"/>
                <a:ea typeface="Calibri" pitchFamily="34" charset="-122"/>
                <a:cs typeface="Calibri" pitchFamily="34" charset="-120"/>
              </a:rPr>
              <a:t>7</a:t>
            </a:r>
            <a:endParaRPr lang="es-PE" sz="1050" dirty="0"/>
          </a:p>
        </p:txBody>
      </p:sp>
      <p:sp>
        <p:nvSpPr>
          <p:cNvPr id="41" name="Text 38"/>
          <p:cNvSpPr txBox="1"/>
          <p:nvPr/>
        </p:nvSpPr>
        <p:spPr>
          <a:xfrm>
            <a:off x="4325112" y="4032504"/>
            <a:ext cx="1719072" cy="685800"/>
          </a:xfrm>
          <a:prstGeom prst="rect">
            <a:avLst/>
          </a:prstGeom>
          <a:noFill/>
          <a:ln/>
        </p:spPr>
        <p:txBody>
          <a:bodyPr wrap="square" lIns="0" tIns="0" rIns="0" bIns="0" rtlCol="0" anchor="ctr"/>
          <a:lstStyle/>
          <a:p>
            <a:pPr marL="0" indent="0">
              <a:buNone/>
            </a:pPr>
            <a:r>
              <a:rPr lang="es-PE" sz="1150" b="1" dirty="0">
                <a:solidFill>
                  <a:srgbClr val="262626"/>
                </a:solidFill>
                <a:latin typeface="Calibri" pitchFamily="34" charset="0"/>
                <a:ea typeface="Calibri" pitchFamily="34" charset="-122"/>
                <a:cs typeface="Calibri" pitchFamily="34" charset="-120"/>
              </a:rPr>
              <a:t>Criterios adoptados</a:t>
            </a:r>
          </a:p>
          <a:p>
            <a:pPr marL="0" indent="0">
              <a:buNone/>
            </a:pPr>
            <a:r>
              <a:rPr lang="es-PE" sz="1150" dirty="0">
                <a:solidFill>
                  <a:srgbClr val="262626"/>
                </a:solidFill>
                <a:latin typeface="Calibri" pitchFamily="34" charset="0"/>
                <a:ea typeface="Calibri" pitchFamily="34" charset="-122"/>
                <a:cs typeface="Calibri" pitchFamily="34" charset="-120"/>
              </a:rPr>
              <a:t>¿Qué indicador y meta permitirán valorar el piloto?</a:t>
            </a:r>
            <a:endParaRPr lang="es-PE" sz="1150" dirty="0"/>
          </a:p>
        </p:txBody>
      </p:sp>
      <p:sp>
        <p:nvSpPr>
          <p:cNvPr id="42" name="Shape 39"/>
          <p:cNvSpPr/>
          <p:nvPr/>
        </p:nvSpPr>
        <p:spPr>
          <a:xfrm>
            <a:off x="6217920" y="4032504"/>
            <a:ext cx="2304288" cy="685800"/>
          </a:xfrm>
          <a:prstGeom prst="roundRect">
            <a:avLst>
              <a:gd name="adj" fmla="val 10667"/>
            </a:avLst>
          </a:prstGeom>
          <a:solidFill>
            <a:srgbClr val="F2F2F2"/>
          </a:solidFill>
          <a:ln w="12700">
            <a:solidFill>
              <a:srgbClr val="F2F2F2"/>
            </a:solidFill>
            <a:prstDash val="solid"/>
          </a:ln>
        </p:spPr>
        <p:txBody>
          <a:bodyPr/>
          <a:lstStyle/>
          <a:p>
            <a:endParaRPr lang="es-PE"/>
          </a:p>
        </p:txBody>
      </p:sp>
      <p:sp>
        <p:nvSpPr>
          <p:cNvPr id="43" name="Shape 40"/>
          <p:cNvSpPr/>
          <p:nvPr/>
        </p:nvSpPr>
        <p:spPr>
          <a:xfrm>
            <a:off x="6345936" y="4215384"/>
            <a:ext cx="310896" cy="310896"/>
          </a:xfrm>
          <a:prstGeom prst="ellipse">
            <a:avLst/>
          </a:prstGeom>
          <a:solidFill>
            <a:srgbClr val="ED2E45"/>
          </a:solidFill>
          <a:ln w="12700">
            <a:solidFill>
              <a:srgbClr val="ED2E45"/>
            </a:solidFill>
            <a:prstDash val="solid"/>
          </a:ln>
        </p:spPr>
        <p:txBody>
          <a:bodyPr/>
          <a:lstStyle/>
          <a:p>
            <a:endParaRPr lang="es-PE"/>
          </a:p>
        </p:txBody>
      </p:sp>
      <p:sp>
        <p:nvSpPr>
          <p:cNvPr id="44" name="Text 41"/>
          <p:cNvSpPr txBox="1"/>
          <p:nvPr/>
        </p:nvSpPr>
        <p:spPr>
          <a:xfrm>
            <a:off x="6345936" y="4215384"/>
            <a:ext cx="310896" cy="310896"/>
          </a:xfrm>
          <a:prstGeom prst="rect">
            <a:avLst/>
          </a:prstGeom>
          <a:noFill/>
          <a:ln/>
        </p:spPr>
        <p:txBody>
          <a:bodyPr wrap="square" lIns="0" tIns="0" rIns="0" bIns="0" rtlCol="0" anchor="ctr"/>
          <a:lstStyle/>
          <a:p>
            <a:pPr marL="0" indent="0" algn="ctr">
              <a:buNone/>
            </a:pPr>
            <a:r>
              <a:rPr lang="es-PE" sz="1050" b="1" dirty="0">
                <a:solidFill>
                  <a:srgbClr val="FFFFFF"/>
                </a:solidFill>
                <a:latin typeface="Calibri" pitchFamily="34" charset="0"/>
                <a:ea typeface="Calibri" pitchFamily="34" charset="-122"/>
                <a:cs typeface="Calibri" pitchFamily="34" charset="-120"/>
              </a:rPr>
              <a:t>8</a:t>
            </a:r>
            <a:endParaRPr lang="es-PE" sz="1050" dirty="0"/>
          </a:p>
        </p:txBody>
      </p:sp>
      <p:sp>
        <p:nvSpPr>
          <p:cNvPr id="45" name="Text 42"/>
          <p:cNvSpPr txBox="1"/>
          <p:nvPr/>
        </p:nvSpPr>
        <p:spPr>
          <a:xfrm>
            <a:off x="6748272" y="4032504"/>
            <a:ext cx="1901952" cy="676656"/>
          </a:xfrm>
          <a:prstGeom prst="rect">
            <a:avLst/>
          </a:prstGeom>
          <a:noFill/>
          <a:ln/>
        </p:spPr>
        <p:txBody>
          <a:bodyPr wrap="square" lIns="0" tIns="0" rIns="0" bIns="0" rtlCol="0" anchor="ctr"/>
          <a:lstStyle/>
          <a:p>
            <a:pPr marL="0" indent="0">
              <a:buNone/>
            </a:pPr>
            <a:r>
              <a:rPr lang="es-PE" sz="1150" b="1" dirty="0">
                <a:solidFill>
                  <a:srgbClr val="262626"/>
                </a:solidFill>
                <a:latin typeface="Calibri" pitchFamily="34" charset="0"/>
                <a:ea typeface="Calibri" pitchFamily="34" charset="-122"/>
                <a:cs typeface="Calibri" pitchFamily="34" charset="-120"/>
              </a:rPr>
              <a:t>Mecanismo de retroalimentación</a:t>
            </a:r>
          </a:p>
          <a:p>
            <a:pPr marL="0" indent="0">
              <a:buNone/>
            </a:pPr>
            <a:r>
              <a:rPr lang="es-PE" sz="1150" dirty="0">
                <a:solidFill>
                  <a:srgbClr val="262626"/>
                </a:solidFill>
                <a:latin typeface="Calibri" pitchFamily="34" charset="0"/>
                <a:ea typeface="Calibri" pitchFamily="34" charset="-122"/>
                <a:cs typeface="Calibri" pitchFamily="34" charset="-120"/>
              </a:rPr>
              <a:t>¿Cómo recogeremos opiniones y decidiremos qué mejorar?</a:t>
            </a:r>
            <a:endParaRPr lang="es-PE" sz="1150" dirty="0"/>
          </a:p>
        </p:txBody>
      </p:sp>
      <p:pic>
        <p:nvPicPr>
          <p:cNvPr id="46" name="Image 0" descr="a/logo_mimp_h.png"/>
          <p:cNvPicPr>
            <a:picLocks noChangeAspect="1"/>
          </p:cNvPicPr>
          <p:nvPr/>
        </p:nvPicPr>
        <p:blipFill>
          <a:blip r:embed="rId4"/>
          <a:stretch>
            <a:fillRect/>
          </a:stretch>
        </p:blipFill>
        <p:spPr>
          <a:xfrm>
            <a:off x="184709" y="110642"/>
            <a:ext cx="1790395" cy="417881"/>
          </a:xfrm>
          <a:prstGeom prst="rect">
            <a:avLst/>
          </a:prstGeom>
        </p:spPr>
      </p:pic>
      <p:pic>
        <p:nvPicPr>
          <p:cNvPr id="47" name="Image 1" descr="a/logo_30.png"/>
          <p:cNvPicPr>
            <a:picLocks noChangeAspect="1"/>
          </p:cNvPicPr>
          <p:nvPr/>
        </p:nvPicPr>
        <p:blipFill>
          <a:blip r:embed="rId5"/>
          <a:stretch>
            <a:fillRect/>
          </a:stretch>
        </p:blipFill>
        <p:spPr>
          <a:xfrm>
            <a:off x="3611880" y="2743"/>
            <a:ext cx="1158545" cy="622706"/>
          </a:xfrm>
          <a:prstGeom prst="rect">
            <a:avLst/>
          </a:prstGeom>
        </p:spPr>
      </p:pic>
      <p:pic>
        <p:nvPicPr>
          <p:cNvPr id="48" name="Image 2" descr="a/logo_peru_responde.png"/>
          <p:cNvPicPr>
            <a:picLocks noChangeAspect="1"/>
          </p:cNvPicPr>
          <p:nvPr/>
        </p:nvPicPr>
        <p:blipFill>
          <a:blip r:embed="rId6"/>
          <a:stretch>
            <a:fillRect/>
          </a:stretch>
        </p:blipFill>
        <p:spPr>
          <a:xfrm>
            <a:off x="7299655" y="102413"/>
            <a:ext cx="1602943" cy="475488"/>
          </a:xfrm>
          <a:prstGeom prst="rect">
            <a:avLst/>
          </a:prstGeom>
        </p:spPr>
      </p:pic>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65192"/>
            <a:ext cx="9144000" cy="178308"/>
          </a:xfrm>
          <a:prstGeom prst="rect">
            <a:avLst/>
          </a:prstGeom>
          <a:solidFill>
            <a:srgbClr val="ED2E45"/>
          </a:solidFill>
          <a:ln w="12700">
            <a:solidFill>
              <a:srgbClr val="ED2E45"/>
            </a:solidFill>
            <a:prstDash val="solid"/>
          </a:ln>
        </p:spPr>
        <p:txBody>
          <a:bodyPr/>
          <a:lstStyle/>
          <a:p>
            <a:endParaRPr lang="es-PE"/>
          </a:p>
        </p:txBody>
      </p:sp>
      <p:sp>
        <p:nvSpPr>
          <p:cNvPr id="3" name="Text 1"/>
          <p:cNvSpPr txBox="1"/>
          <p:nvPr/>
        </p:nvSpPr>
        <p:spPr>
          <a:xfrm>
            <a:off x="54864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 · COMPRENDER</a:t>
            </a:r>
            <a:endParaRPr lang="en-US" sz="750" dirty="0"/>
          </a:p>
        </p:txBody>
      </p:sp>
      <p:sp>
        <p:nvSpPr>
          <p:cNvPr id="4" name="Text 2"/>
          <p:cNvSpPr txBox="1"/>
          <p:nvPr/>
        </p:nvSpPr>
        <p:spPr>
          <a:xfrm>
            <a:off x="256032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II · DISEÑAR</a:t>
            </a:r>
            <a:endParaRPr lang="en-US" sz="750" dirty="0"/>
          </a:p>
        </p:txBody>
      </p:sp>
      <p:sp>
        <p:nvSpPr>
          <p:cNvPr id="5" name="Text 3"/>
          <p:cNvSpPr txBox="1"/>
          <p:nvPr/>
        </p:nvSpPr>
        <p:spPr>
          <a:xfrm>
            <a:off x="4572000" y="4965192"/>
            <a:ext cx="2011680" cy="178308"/>
          </a:xfrm>
          <a:prstGeom prst="rect">
            <a:avLst/>
          </a:prstGeom>
          <a:noFill/>
          <a:ln/>
        </p:spPr>
        <p:txBody>
          <a:bodyPr wrap="square" lIns="0" tIns="0" rIns="0" bIns="0" rtlCol="0" anchor="ctr"/>
          <a:lstStyle/>
          <a:p>
            <a:pPr marL="0" indent="0">
              <a:buNone/>
            </a:pPr>
            <a:r>
              <a:rPr lang="en-US" sz="750" b="1" kern="0" spc="100" dirty="0">
                <a:solidFill>
                  <a:srgbClr val="FFFFFF"/>
                </a:solidFill>
                <a:latin typeface="Calibri" pitchFamily="34" charset="0"/>
                <a:ea typeface="Calibri" pitchFamily="34" charset="-122"/>
                <a:cs typeface="Calibri" pitchFamily="34" charset="-120"/>
              </a:rPr>
              <a:t>III · VALIDAR</a:t>
            </a:r>
            <a:endParaRPr lang="en-US" sz="750" dirty="0"/>
          </a:p>
        </p:txBody>
      </p:sp>
      <p:sp>
        <p:nvSpPr>
          <p:cNvPr id="6" name="Text 4"/>
          <p:cNvSpPr txBox="1"/>
          <p:nvPr/>
        </p:nvSpPr>
        <p:spPr>
          <a:xfrm>
            <a:off x="658368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IV · COMUNICAR</a:t>
            </a:r>
            <a:endParaRPr lang="en-US" sz="750" dirty="0"/>
          </a:p>
        </p:txBody>
      </p:sp>
      <p:sp>
        <p:nvSpPr>
          <p:cNvPr id="8" name="Text 5"/>
          <p:cNvSpPr txBox="1"/>
          <p:nvPr/>
        </p:nvSpPr>
        <p:spPr>
          <a:xfrm>
            <a:off x="548640" y="731520"/>
            <a:ext cx="8046720" cy="502920"/>
          </a:xfrm>
          <a:prstGeom prst="rect">
            <a:avLst/>
          </a:prstGeom>
          <a:noFill/>
          <a:ln/>
        </p:spPr>
        <p:txBody>
          <a:bodyPr wrap="square" lIns="0" tIns="0" rIns="0" bIns="0" rtlCol="0" anchor="ctr"/>
          <a:lstStyle/>
          <a:p>
            <a:pPr marL="0" indent="0">
              <a:buNone/>
            </a:pPr>
            <a:r>
              <a:rPr lang="en-US" sz="2200" b="1" dirty="0">
                <a:solidFill>
                  <a:srgbClr val="ED2E45"/>
                </a:solidFill>
                <a:latin typeface="Montserrat" pitchFamily="34" charset="0"/>
                <a:ea typeface="Montserrat" pitchFamily="34" charset="-122"/>
                <a:cs typeface="Montserrat" pitchFamily="34" charset="-120"/>
              </a:rPr>
              <a:t>Nuestra </a:t>
            </a:r>
            <a:r>
              <a:rPr lang="en-US" sz="2200" b="1" dirty="0" err="1">
                <a:solidFill>
                  <a:srgbClr val="ED2E45"/>
                </a:solidFill>
                <a:latin typeface="Montserrat" pitchFamily="34" charset="0"/>
                <a:ea typeface="Montserrat" pitchFamily="34" charset="-122"/>
                <a:cs typeface="Montserrat" pitchFamily="34" charset="-120"/>
              </a:rPr>
              <a:t>propuesta</a:t>
            </a:r>
            <a:r>
              <a:rPr lang="en-US" sz="2200" b="1" dirty="0">
                <a:solidFill>
                  <a:srgbClr val="ED2E45"/>
                </a:solidFill>
                <a:latin typeface="Montserrat" pitchFamily="34" charset="0"/>
                <a:ea typeface="Montserrat" pitchFamily="34" charset="-122"/>
                <a:cs typeface="Montserrat" pitchFamily="34" charset="-120"/>
              </a:rPr>
              <a:t> </a:t>
            </a:r>
            <a:r>
              <a:rPr lang="en-US" sz="2200" b="1" dirty="0" err="1">
                <a:solidFill>
                  <a:srgbClr val="ED2E45"/>
                </a:solidFill>
                <a:latin typeface="Montserrat" pitchFamily="34" charset="0"/>
                <a:ea typeface="Montserrat" pitchFamily="34" charset="-122"/>
                <a:cs typeface="Montserrat" pitchFamily="34" charset="-120"/>
              </a:rPr>
              <a:t>en</a:t>
            </a:r>
            <a:r>
              <a:rPr lang="en-US" sz="2200" b="1" dirty="0">
                <a:solidFill>
                  <a:srgbClr val="ED2E45"/>
                </a:solidFill>
                <a:latin typeface="Montserrat" pitchFamily="34" charset="0"/>
                <a:ea typeface="Montserrat" pitchFamily="34" charset="-122"/>
                <a:cs typeface="Montserrat" pitchFamily="34" charset="-120"/>
              </a:rPr>
              <a:t> </a:t>
            </a:r>
            <a:r>
              <a:rPr lang="en-US" sz="2200" b="1" dirty="0" err="1">
                <a:solidFill>
                  <a:srgbClr val="ED2E45"/>
                </a:solidFill>
                <a:latin typeface="Montserrat" pitchFamily="34" charset="0"/>
                <a:ea typeface="Montserrat" pitchFamily="34" charset="-122"/>
                <a:cs typeface="Montserrat" pitchFamily="34" charset="-120"/>
              </a:rPr>
              <a:t>una</a:t>
            </a:r>
            <a:r>
              <a:rPr lang="en-US" sz="2200" b="1" dirty="0">
                <a:solidFill>
                  <a:srgbClr val="ED2E45"/>
                </a:solidFill>
                <a:latin typeface="Montserrat" pitchFamily="34" charset="0"/>
                <a:ea typeface="Montserrat" pitchFamily="34" charset="-122"/>
                <a:cs typeface="Montserrat" pitchFamily="34" charset="-120"/>
              </a:rPr>
              <a:t> </a:t>
            </a:r>
            <a:r>
              <a:rPr lang="en-US" sz="2200" b="1" dirty="0" err="1">
                <a:solidFill>
                  <a:srgbClr val="ED2E45"/>
                </a:solidFill>
                <a:latin typeface="Montserrat" pitchFamily="34" charset="0"/>
                <a:ea typeface="Montserrat" pitchFamily="34" charset="-122"/>
                <a:cs typeface="Montserrat" pitchFamily="34" charset="-120"/>
              </a:rPr>
              <a:t>página</a:t>
            </a:r>
            <a:endParaRPr lang="en-US" sz="2200" dirty="0"/>
          </a:p>
        </p:txBody>
      </p:sp>
      <p:sp>
        <p:nvSpPr>
          <p:cNvPr id="9" name="Text 6"/>
          <p:cNvSpPr txBox="1"/>
          <p:nvPr/>
        </p:nvSpPr>
        <p:spPr>
          <a:xfrm>
            <a:off x="548640" y="1216152"/>
            <a:ext cx="8046720" cy="274320"/>
          </a:xfrm>
          <a:prstGeom prst="rect">
            <a:avLst/>
          </a:prstGeom>
          <a:noFill/>
          <a:ln/>
        </p:spPr>
        <p:txBody>
          <a:bodyPr wrap="square" lIns="0" tIns="0" rIns="0" bIns="0" rtlCol="0" anchor="ctr"/>
          <a:lstStyle/>
          <a:p>
            <a:pPr marL="0" indent="0">
              <a:buNone/>
            </a:pPr>
            <a:r>
              <a:rPr lang="en-US" sz="1250" dirty="0" err="1">
                <a:solidFill>
                  <a:srgbClr val="6B6B6B"/>
                </a:solidFill>
                <a:latin typeface="Calibri" pitchFamily="34" charset="0"/>
                <a:ea typeface="Calibri" pitchFamily="34" charset="-122"/>
                <a:cs typeface="Calibri" pitchFamily="34" charset="-120"/>
              </a:rPr>
              <a:t>Completen</a:t>
            </a:r>
            <a:r>
              <a:rPr lang="en-US" sz="1250" dirty="0">
                <a:solidFill>
                  <a:srgbClr val="6B6B6B"/>
                </a:solidFill>
                <a:latin typeface="Calibri" pitchFamily="34" charset="0"/>
                <a:ea typeface="Calibri" pitchFamily="34" charset="-122"/>
                <a:cs typeface="Calibri" pitchFamily="34" charset="-120"/>
              </a:rPr>
              <a:t> </a:t>
            </a:r>
            <a:r>
              <a:rPr lang="en-US" sz="1250" dirty="0" err="1">
                <a:solidFill>
                  <a:srgbClr val="6B6B6B"/>
                </a:solidFill>
                <a:latin typeface="Calibri" pitchFamily="34" charset="0"/>
                <a:ea typeface="Calibri" pitchFamily="34" charset="-122"/>
                <a:cs typeface="Calibri" pitchFamily="34" charset="-120"/>
              </a:rPr>
              <a:t>cada</a:t>
            </a:r>
            <a:r>
              <a:rPr lang="en-US" sz="1250" dirty="0">
                <a:solidFill>
                  <a:srgbClr val="6B6B6B"/>
                </a:solidFill>
                <a:latin typeface="Calibri" pitchFamily="34" charset="0"/>
                <a:ea typeface="Calibri" pitchFamily="34" charset="-122"/>
                <a:cs typeface="Calibri" pitchFamily="34" charset="-120"/>
              </a:rPr>
              <a:t> </a:t>
            </a:r>
            <a:r>
              <a:rPr lang="en-US" sz="1250" dirty="0" err="1">
                <a:solidFill>
                  <a:srgbClr val="6B6B6B"/>
                </a:solidFill>
                <a:latin typeface="Calibri" pitchFamily="34" charset="0"/>
                <a:ea typeface="Calibri" pitchFamily="34" charset="-122"/>
                <a:cs typeface="Calibri" pitchFamily="34" charset="-120"/>
              </a:rPr>
              <a:t>bloque</a:t>
            </a:r>
            <a:r>
              <a:rPr lang="en-US" sz="1250" dirty="0">
                <a:solidFill>
                  <a:srgbClr val="6B6B6B"/>
                </a:solidFill>
                <a:latin typeface="Calibri" pitchFamily="34" charset="0"/>
                <a:ea typeface="Calibri" pitchFamily="34" charset="-122"/>
                <a:cs typeface="Calibri" pitchFamily="34" charset="-120"/>
              </a:rPr>
              <a:t> con </a:t>
            </a:r>
            <a:r>
              <a:rPr lang="en-US" sz="1250" dirty="0" err="1">
                <a:solidFill>
                  <a:srgbClr val="6B6B6B"/>
                </a:solidFill>
                <a:latin typeface="Calibri" pitchFamily="34" charset="0"/>
                <a:ea typeface="Calibri" pitchFamily="34" charset="-122"/>
                <a:cs typeface="Calibri" pitchFamily="34" charset="-120"/>
              </a:rPr>
              <a:t>una</a:t>
            </a:r>
            <a:r>
              <a:rPr lang="en-US" sz="1250" dirty="0">
                <a:solidFill>
                  <a:srgbClr val="6B6B6B"/>
                </a:solidFill>
                <a:latin typeface="Calibri" pitchFamily="34" charset="0"/>
                <a:ea typeface="Calibri" pitchFamily="34" charset="-122"/>
                <a:cs typeface="Calibri" pitchFamily="34" charset="-120"/>
              </a:rPr>
              <a:t> idea </a:t>
            </a:r>
            <a:r>
              <a:rPr lang="en-US" sz="1250" dirty="0" err="1">
                <a:solidFill>
                  <a:srgbClr val="6B6B6B"/>
                </a:solidFill>
                <a:latin typeface="Calibri" pitchFamily="34" charset="0"/>
                <a:ea typeface="Calibri" pitchFamily="34" charset="-122"/>
                <a:cs typeface="Calibri" pitchFamily="34" charset="-120"/>
              </a:rPr>
              <a:t>concreta</a:t>
            </a:r>
            <a:r>
              <a:rPr lang="en-US" sz="1250" dirty="0">
                <a:solidFill>
                  <a:srgbClr val="6B6B6B"/>
                </a:solidFill>
                <a:latin typeface="Calibri" pitchFamily="34" charset="0"/>
                <a:ea typeface="Calibri" pitchFamily="34" charset="-122"/>
                <a:cs typeface="Calibri" pitchFamily="34" charset="-120"/>
              </a:rPr>
              <a:t>.</a:t>
            </a:r>
            <a:endParaRPr lang="en-US" sz="1250" dirty="0"/>
          </a:p>
        </p:txBody>
      </p:sp>
      <p:sp>
        <p:nvSpPr>
          <p:cNvPr id="10" name="Shape 7"/>
          <p:cNvSpPr/>
          <p:nvPr/>
        </p:nvSpPr>
        <p:spPr>
          <a:xfrm>
            <a:off x="548640" y="1645920"/>
            <a:ext cx="1938528" cy="960120"/>
          </a:xfrm>
          <a:prstGeom prst="roundRect">
            <a:avLst>
              <a:gd name="adj" fmla="val 7619"/>
            </a:avLst>
          </a:prstGeom>
          <a:solidFill>
            <a:srgbClr val="F2F2F2"/>
          </a:solidFill>
          <a:ln w="12700">
            <a:solidFill>
              <a:srgbClr val="E4E4E4"/>
            </a:solidFill>
            <a:prstDash val="solid"/>
          </a:ln>
        </p:spPr>
        <p:txBody>
          <a:bodyPr/>
          <a:lstStyle/>
          <a:p>
            <a:endParaRPr lang="es-PE"/>
          </a:p>
        </p:txBody>
      </p:sp>
      <p:sp>
        <p:nvSpPr>
          <p:cNvPr id="11" name="Text 8"/>
          <p:cNvSpPr txBox="1"/>
          <p:nvPr/>
        </p:nvSpPr>
        <p:spPr>
          <a:xfrm>
            <a:off x="658368" y="1719072"/>
            <a:ext cx="1719072" cy="274320"/>
          </a:xfrm>
          <a:prstGeom prst="rect">
            <a:avLst/>
          </a:prstGeom>
          <a:noFill/>
          <a:ln/>
        </p:spPr>
        <p:txBody>
          <a:bodyPr wrap="square" lIns="0" tIns="0" rIns="0" bIns="0" rtlCol="0" anchor="t"/>
          <a:lstStyle/>
          <a:p>
            <a:pPr marL="0" indent="0">
              <a:buNone/>
            </a:pPr>
            <a:r>
              <a:rPr lang="en-US" sz="1200" b="1" dirty="0">
                <a:solidFill>
                  <a:srgbClr val="ED2E45"/>
                </a:solidFill>
                <a:latin typeface="Montserrat" pitchFamily="34" charset="0"/>
                <a:ea typeface="Montserrat" pitchFamily="34" charset="-122"/>
                <a:cs typeface="Montserrat" pitchFamily="34" charset="-120"/>
              </a:rPr>
              <a:t>Problema</a:t>
            </a:r>
            <a:endParaRPr lang="en-US" sz="1200" dirty="0"/>
          </a:p>
        </p:txBody>
      </p:sp>
      <p:sp>
        <p:nvSpPr>
          <p:cNvPr id="12" name="Text 9"/>
          <p:cNvSpPr txBox="1"/>
          <p:nvPr/>
        </p:nvSpPr>
        <p:spPr>
          <a:xfrm>
            <a:off x="658368" y="2011680"/>
            <a:ext cx="1719072" cy="457200"/>
          </a:xfrm>
          <a:prstGeom prst="rect">
            <a:avLst/>
          </a:prstGeom>
          <a:noFill/>
          <a:ln/>
        </p:spPr>
        <p:txBody>
          <a:bodyPr wrap="square" lIns="0" tIns="0" rIns="0" bIns="0" rtlCol="0" anchor="t"/>
          <a:lstStyle/>
          <a:p>
            <a:pPr marL="0" indent="0" algn="just">
              <a:buNone/>
            </a:pPr>
            <a:r>
              <a:rPr lang="es-PE" sz="1050" dirty="0">
                <a:solidFill>
                  <a:srgbClr val="404040"/>
                </a:solidFill>
                <a:latin typeface="Calibri" pitchFamily="34" charset="0"/>
                <a:ea typeface="Calibri" pitchFamily="34" charset="-122"/>
                <a:cs typeface="Calibri" pitchFamily="34" charset="-120"/>
              </a:rPr>
              <a:t>¿Qué queremos cambiar, a quiénes afecta y dónde?</a:t>
            </a:r>
            <a:endParaRPr lang="es-PE" sz="1050" dirty="0"/>
          </a:p>
        </p:txBody>
      </p:sp>
      <p:sp>
        <p:nvSpPr>
          <p:cNvPr id="13" name="Shape 10"/>
          <p:cNvSpPr/>
          <p:nvPr/>
        </p:nvSpPr>
        <p:spPr>
          <a:xfrm>
            <a:off x="548640" y="2697480"/>
            <a:ext cx="1938528" cy="960120"/>
          </a:xfrm>
          <a:prstGeom prst="roundRect">
            <a:avLst>
              <a:gd name="adj" fmla="val 7619"/>
            </a:avLst>
          </a:prstGeom>
          <a:solidFill>
            <a:srgbClr val="F2F2F2"/>
          </a:solidFill>
          <a:ln w="12700">
            <a:solidFill>
              <a:srgbClr val="E4E4E4"/>
            </a:solidFill>
            <a:prstDash val="solid"/>
          </a:ln>
        </p:spPr>
        <p:txBody>
          <a:bodyPr/>
          <a:lstStyle/>
          <a:p>
            <a:endParaRPr lang="es-PE"/>
          </a:p>
        </p:txBody>
      </p:sp>
      <p:sp>
        <p:nvSpPr>
          <p:cNvPr id="14" name="Text 11"/>
          <p:cNvSpPr txBox="1"/>
          <p:nvPr/>
        </p:nvSpPr>
        <p:spPr>
          <a:xfrm>
            <a:off x="658368" y="2770632"/>
            <a:ext cx="1719072" cy="274320"/>
          </a:xfrm>
          <a:prstGeom prst="rect">
            <a:avLst/>
          </a:prstGeom>
          <a:noFill/>
          <a:ln/>
        </p:spPr>
        <p:txBody>
          <a:bodyPr wrap="square" lIns="0" tIns="0" rIns="0" bIns="0" rtlCol="0" anchor="t"/>
          <a:lstStyle/>
          <a:p>
            <a:pPr marL="0" indent="0">
              <a:buNone/>
            </a:pPr>
            <a:r>
              <a:rPr lang="en-US" sz="1200" b="1" dirty="0">
                <a:solidFill>
                  <a:srgbClr val="ED2E45"/>
                </a:solidFill>
                <a:latin typeface="Montserrat" pitchFamily="34" charset="0"/>
                <a:ea typeface="Montserrat" pitchFamily="34" charset="-122"/>
                <a:cs typeface="Montserrat" pitchFamily="34" charset="-120"/>
              </a:rPr>
              <a:t>Evidencia</a:t>
            </a:r>
            <a:endParaRPr lang="en-US" sz="1200" dirty="0"/>
          </a:p>
        </p:txBody>
      </p:sp>
      <p:sp>
        <p:nvSpPr>
          <p:cNvPr id="15" name="Text 12"/>
          <p:cNvSpPr txBox="1"/>
          <p:nvPr/>
        </p:nvSpPr>
        <p:spPr>
          <a:xfrm>
            <a:off x="658368" y="3063240"/>
            <a:ext cx="1719072" cy="457200"/>
          </a:xfrm>
          <a:prstGeom prst="rect">
            <a:avLst/>
          </a:prstGeom>
          <a:noFill/>
          <a:ln/>
        </p:spPr>
        <p:txBody>
          <a:bodyPr wrap="square" lIns="0" tIns="0" rIns="0" bIns="0" rtlCol="0" anchor="t"/>
          <a:lstStyle/>
          <a:p>
            <a:r>
              <a:rPr lang="en-US" sz="1050" dirty="0">
                <a:solidFill>
                  <a:srgbClr val="404040"/>
                </a:solidFill>
                <a:latin typeface="Calibri" pitchFamily="34" charset="0"/>
                <a:ea typeface="Calibri" pitchFamily="34" charset="-122"/>
                <a:cs typeface="Calibri" pitchFamily="34" charset="-120"/>
              </a:rPr>
              <a:t>¿Q</a:t>
            </a:r>
            <a:r>
              <a:rPr lang="es-MX" sz="1050" dirty="0" err="1"/>
              <a:t>ué</a:t>
            </a:r>
            <a:r>
              <a:rPr lang="es-MX" sz="1050" dirty="0"/>
              <a:t> dato respalda el problema y cuál es su fuente</a:t>
            </a:r>
            <a:r>
              <a:rPr lang="en-US" sz="1050" dirty="0">
                <a:solidFill>
                  <a:srgbClr val="404040"/>
                </a:solidFill>
                <a:latin typeface="Calibri" pitchFamily="34" charset="0"/>
                <a:ea typeface="Calibri" pitchFamily="34" charset="-122"/>
                <a:cs typeface="Calibri" pitchFamily="34" charset="-120"/>
              </a:rPr>
              <a:t>?</a:t>
            </a:r>
            <a:endParaRPr lang="en-US" sz="1050" dirty="0"/>
          </a:p>
        </p:txBody>
      </p:sp>
      <p:grpSp>
        <p:nvGrpSpPr>
          <p:cNvPr id="7" name="Grupo 6">
            <a:extLst>
              <a:ext uri="{FF2B5EF4-FFF2-40B4-BE49-F238E27FC236}">
                <a16:creationId xmlns:a16="http://schemas.microsoft.com/office/drawing/2014/main" id="{AD8A7462-297E-9184-80A1-DC705B07B454}"/>
              </a:ext>
            </a:extLst>
          </p:cNvPr>
          <p:cNvGrpSpPr/>
          <p:nvPr/>
        </p:nvGrpSpPr>
        <p:grpSpPr>
          <a:xfrm>
            <a:off x="6830568" y="2734056"/>
            <a:ext cx="1938528" cy="2011680"/>
            <a:chOff x="2578608" y="2697480"/>
            <a:chExt cx="1938528" cy="2011680"/>
          </a:xfrm>
        </p:grpSpPr>
        <p:sp>
          <p:nvSpPr>
            <p:cNvPr id="22" name="Shape 19"/>
            <p:cNvSpPr/>
            <p:nvPr/>
          </p:nvSpPr>
          <p:spPr>
            <a:xfrm>
              <a:off x="2578608" y="2697480"/>
              <a:ext cx="1938528" cy="2011680"/>
            </a:xfrm>
            <a:prstGeom prst="roundRect">
              <a:avLst>
                <a:gd name="adj" fmla="val 3774"/>
              </a:avLst>
            </a:prstGeom>
            <a:solidFill>
              <a:srgbClr val="ED2E45"/>
            </a:solidFill>
            <a:ln w="12700">
              <a:solidFill>
                <a:srgbClr val="ED2E45"/>
              </a:solidFill>
              <a:prstDash val="solid"/>
            </a:ln>
          </p:spPr>
          <p:txBody>
            <a:bodyPr/>
            <a:lstStyle/>
            <a:p>
              <a:endParaRPr lang="es-PE"/>
            </a:p>
          </p:txBody>
        </p:sp>
        <p:sp>
          <p:nvSpPr>
            <p:cNvPr id="23" name="Text 20"/>
            <p:cNvSpPr txBox="1"/>
            <p:nvPr/>
          </p:nvSpPr>
          <p:spPr>
            <a:xfrm>
              <a:off x="2688336" y="2770632"/>
              <a:ext cx="1719072" cy="274320"/>
            </a:xfrm>
            <a:prstGeom prst="rect">
              <a:avLst/>
            </a:prstGeom>
            <a:noFill/>
            <a:ln/>
          </p:spPr>
          <p:txBody>
            <a:bodyPr wrap="square" lIns="0" tIns="0" rIns="0" bIns="0" rtlCol="0" anchor="t"/>
            <a:lstStyle/>
            <a:p>
              <a:pPr marL="0" indent="0">
                <a:buNone/>
              </a:pPr>
              <a:r>
                <a:rPr lang="en-US" sz="1200" b="1" dirty="0">
                  <a:solidFill>
                    <a:srgbClr val="FFFFFF"/>
                  </a:solidFill>
                  <a:latin typeface="Montserrat" pitchFamily="34" charset="0"/>
                  <a:ea typeface="Montserrat" pitchFamily="34" charset="-122"/>
                  <a:cs typeface="Montserrat" pitchFamily="34" charset="-120"/>
                </a:rPr>
                <a:t>Solución</a:t>
              </a:r>
              <a:endParaRPr lang="en-US" sz="1200" dirty="0"/>
            </a:p>
          </p:txBody>
        </p:sp>
        <p:sp>
          <p:nvSpPr>
            <p:cNvPr id="24" name="Text 21"/>
            <p:cNvSpPr txBox="1"/>
            <p:nvPr/>
          </p:nvSpPr>
          <p:spPr>
            <a:xfrm>
              <a:off x="2690742" y="3063240"/>
              <a:ext cx="1719072" cy="457200"/>
            </a:xfrm>
            <a:prstGeom prst="rect">
              <a:avLst/>
            </a:prstGeom>
            <a:noFill/>
            <a:ln/>
          </p:spPr>
          <p:txBody>
            <a:bodyPr wrap="square" lIns="0" tIns="0" rIns="0" bIns="0" rtlCol="0" anchor="t"/>
            <a:lstStyle/>
            <a:p>
              <a:r>
                <a:rPr lang="en-US" sz="1050" dirty="0">
                  <a:solidFill>
                    <a:schemeClr val="bg1"/>
                  </a:solidFill>
                  <a:latin typeface="Calibri" pitchFamily="34" charset="0"/>
                  <a:ea typeface="Calibri" pitchFamily="34" charset="-122"/>
                  <a:cs typeface="Calibri" pitchFamily="34" charset="-120"/>
                </a:rPr>
                <a:t>¿</a:t>
              </a:r>
              <a:r>
                <a:rPr lang="en-US" sz="1050" dirty="0" err="1">
                  <a:solidFill>
                    <a:schemeClr val="bg1"/>
                  </a:solidFill>
                  <a:latin typeface="Calibri" pitchFamily="34" charset="0"/>
                  <a:ea typeface="Calibri" pitchFamily="34" charset="-122"/>
                  <a:cs typeface="Calibri" pitchFamily="34" charset="-120"/>
                </a:rPr>
                <a:t>Qué</a:t>
              </a:r>
              <a:r>
                <a:rPr lang="en-US" sz="1050" dirty="0">
                  <a:solidFill>
                    <a:schemeClr val="bg1"/>
                  </a:solidFill>
                  <a:latin typeface="Calibri" pitchFamily="34" charset="0"/>
                  <a:ea typeface="Calibri" pitchFamily="34" charset="-122"/>
                  <a:cs typeface="Calibri" pitchFamily="34" charset="-120"/>
                </a:rPr>
                <a:t> </a:t>
              </a:r>
              <a:r>
                <a:rPr lang="en-US" sz="1050" dirty="0" err="1">
                  <a:solidFill>
                    <a:schemeClr val="bg1"/>
                  </a:solidFill>
                  <a:latin typeface="Calibri" pitchFamily="34" charset="0"/>
                  <a:ea typeface="Calibri" pitchFamily="34" charset="-122"/>
                  <a:cs typeface="Calibri" pitchFamily="34" charset="-120"/>
                </a:rPr>
                <a:t>proponemos</a:t>
              </a:r>
              <a:r>
                <a:rPr lang="en-US" sz="1050" dirty="0">
                  <a:solidFill>
                    <a:schemeClr val="bg1"/>
                  </a:solidFill>
                  <a:latin typeface="Calibri" pitchFamily="34" charset="0"/>
                  <a:ea typeface="Calibri" pitchFamily="34" charset="-122"/>
                  <a:cs typeface="Calibri" pitchFamily="34" charset="-120"/>
                </a:rPr>
                <a:t> </a:t>
              </a:r>
              <a:r>
                <a:rPr lang="es-MX" sz="1050" dirty="0">
                  <a:solidFill>
                    <a:schemeClr val="bg1"/>
                  </a:solidFill>
                </a:rPr>
                <a:t>y cómo ayudará a resolver el problema</a:t>
              </a:r>
              <a:r>
                <a:rPr lang="en-US" sz="1050" dirty="0">
                  <a:solidFill>
                    <a:srgbClr val="FFFFFF"/>
                  </a:solidFill>
                  <a:latin typeface="Calibri" pitchFamily="34" charset="0"/>
                  <a:ea typeface="Calibri" pitchFamily="34" charset="-122"/>
                  <a:cs typeface="Calibri" pitchFamily="34" charset="-120"/>
                </a:rPr>
                <a:t>?</a:t>
              </a:r>
              <a:endParaRPr lang="en-US" sz="1050" dirty="0"/>
            </a:p>
          </p:txBody>
        </p:sp>
      </p:grpSp>
      <p:grpSp>
        <p:nvGrpSpPr>
          <p:cNvPr id="46" name="Grupo 45">
            <a:extLst>
              <a:ext uri="{FF2B5EF4-FFF2-40B4-BE49-F238E27FC236}">
                <a16:creationId xmlns:a16="http://schemas.microsoft.com/office/drawing/2014/main" id="{E9D63DAA-65D2-9E7C-C0C6-D57DCAFEEF83}"/>
              </a:ext>
            </a:extLst>
          </p:cNvPr>
          <p:cNvGrpSpPr/>
          <p:nvPr/>
        </p:nvGrpSpPr>
        <p:grpSpPr>
          <a:xfrm>
            <a:off x="2642616" y="1616322"/>
            <a:ext cx="1938528" cy="960120"/>
            <a:chOff x="4608576" y="1645920"/>
            <a:chExt cx="1938528" cy="960120"/>
          </a:xfrm>
        </p:grpSpPr>
        <p:sp>
          <p:nvSpPr>
            <p:cNvPr id="25" name="Shape 22"/>
            <p:cNvSpPr/>
            <p:nvPr/>
          </p:nvSpPr>
          <p:spPr>
            <a:xfrm>
              <a:off x="4608576" y="1645920"/>
              <a:ext cx="1938528" cy="960120"/>
            </a:xfrm>
            <a:prstGeom prst="roundRect">
              <a:avLst>
                <a:gd name="adj" fmla="val 7619"/>
              </a:avLst>
            </a:prstGeom>
            <a:solidFill>
              <a:srgbClr val="F2F2F2"/>
            </a:solidFill>
            <a:ln w="12700">
              <a:solidFill>
                <a:srgbClr val="E4E4E4"/>
              </a:solidFill>
              <a:prstDash val="solid"/>
            </a:ln>
          </p:spPr>
          <p:txBody>
            <a:bodyPr/>
            <a:lstStyle/>
            <a:p>
              <a:endParaRPr lang="es-PE"/>
            </a:p>
          </p:txBody>
        </p:sp>
        <p:sp>
          <p:nvSpPr>
            <p:cNvPr id="26" name="Text 23"/>
            <p:cNvSpPr txBox="1"/>
            <p:nvPr/>
          </p:nvSpPr>
          <p:spPr>
            <a:xfrm>
              <a:off x="4718304" y="1719072"/>
              <a:ext cx="1719072" cy="274320"/>
            </a:xfrm>
            <a:prstGeom prst="rect">
              <a:avLst/>
            </a:prstGeom>
            <a:noFill/>
            <a:ln/>
          </p:spPr>
          <p:txBody>
            <a:bodyPr wrap="square" lIns="0" tIns="0" rIns="0" bIns="0" rtlCol="0" anchor="t"/>
            <a:lstStyle/>
            <a:p>
              <a:pPr marL="0" indent="0">
                <a:buNone/>
              </a:pPr>
              <a:r>
                <a:rPr lang="en-US" sz="1200" b="1" dirty="0">
                  <a:solidFill>
                    <a:srgbClr val="ED2E45"/>
                  </a:solidFill>
                  <a:latin typeface="Montserrat" pitchFamily="34" charset="0"/>
                  <a:ea typeface="Montserrat" pitchFamily="34" charset="-122"/>
                  <a:cs typeface="Montserrat" pitchFamily="34" charset="-120"/>
                </a:rPr>
                <a:t>Usuario</a:t>
              </a:r>
              <a:endParaRPr lang="en-US" sz="1200" dirty="0"/>
            </a:p>
          </p:txBody>
        </p:sp>
        <p:sp>
          <p:nvSpPr>
            <p:cNvPr id="27" name="Text 24"/>
            <p:cNvSpPr txBox="1"/>
            <p:nvPr/>
          </p:nvSpPr>
          <p:spPr>
            <a:xfrm>
              <a:off x="4718304" y="2011680"/>
              <a:ext cx="1719072" cy="457200"/>
            </a:xfrm>
            <a:prstGeom prst="rect">
              <a:avLst/>
            </a:prstGeom>
            <a:noFill/>
            <a:ln/>
          </p:spPr>
          <p:txBody>
            <a:bodyPr wrap="square" lIns="0" tIns="0" rIns="0" bIns="0" rtlCol="0" anchor="t"/>
            <a:lstStyle/>
            <a:p>
              <a:pPr marL="0" indent="0">
                <a:buNone/>
              </a:pPr>
              <a:r>
                <a:rPr lang="en-US" sz="1050" dirty="0">
                  <a:solidFill>
                    <a:srgbClr val="404040"/>
                  </a:solidFill>
                  <a:latin typeface="Calibri" pitchFamily="34" charset="0"/>
                  <a:ea typeface="Calibri" pitchFamily="34" charset="-122"/>
                  <a:cs typeface="Calibri" pitchFamily="34" charset="-120"/>
                </a:rPr>
                <a:t>¿Quién utilizará la </a:t>
              </a:r>
              <a:r>
                <a:rPr lang="en-US" sz="1050" dirty="0" err="1">
                  <a:solidFill>
                    <a:srgbClr val="404040"/>
                  </a:solidFill>
                  <a:latin typeface="Calibri" pitchFamily="34" charset="0"/>
                  <a:ea typeface="Calibri" pitchFamily="34" charset="-122"/>
                  <a:cs typeface="Calibri" pitchFamily="34" charset="-120"/>
                </a:rPr>
                <a:t>solución</a:t>
              </a:r>
              <a:r>
                <a:rPr lang="en-US" sz="1050" dirty="0">
                  <a:solidFill>
                    <a:srgbClr val="404040"/>
                  </a:solidFill>
                  <a:latin typeface="Calibri" pitchFamily="34" charset="0"/>
                  <a:ea typeface="Calibri" pitchFamily="34" charset="-122"/>
                  <a:cs typeface="Calibri" pitchFamily="34" charset="-120"/>
                </a:rPr>
                <a:t> y para </a:t>
              </a:r>
              <a:r>
                <a:rPr lang="en-US" sz="1050" dirty="0" err="1">
                  <a:solidFill>
                    <a:srgbClr val="404040"/>
                  </a:solidFill>
                  <a:latin typeface="Calibri" pitchFamily="34" charset="0"/>
                  <a:ea typeface="Calibri" pitchFamily="34" charset="-122"/>
                  <a:cs typeface="Calibri" pitchFamily="34" charset="-120"/>
                </a:rPr>
                <a:t>qué</a:t>
              </a:r>
              <a:r>
                <a:rPr lang="en-US" sz="1050" dirty="0">
                  <a:solidFill>
                    <a:srgbClr val="404040"/>
                  </a:solidFill>
                  <a:latin typeface="Calibri" pitchFamily="34" charset="0"/>
                  <a:ea typeface="Calibri" pitchFamily="34" charset="-122"/>
                  <a:cs typeface="Calibri" pitchFamily="34" charset="-120"/>
                </a:rPr>
                <a:t>?</a:t>
              </a:r>
              <a:endParaRPr lang="en-US" sz="1050" dirty="0"/>
            </a:p>
          </p:txBody>
        </p:sp>
      </p:grpSp>
      <p:grpSp>
        <p:nvGrpSpPr>
          <p:cNvPr id="47" name="Grupo 46">
            <a:extLst>
              <a:ext uri="{FF2B5EF4-FFF2-40B4-BE49-F238E27FC236}">
                <a16:creationId xmlns:a16="http://schemas.microsoft.com/office/drawing/2014/main" id="{73E53CC9-EF3E-1AF5-831B-0C916F8E8888}"/>
              </a:ext>
            </a:extLst>
          </p:cNvPr>
          <p:cNvGrpSpPr/>
          <p:nvPr/>
        </p:nvGrpSpPr>
        <p:grpSpPr>
          <a:xfrm>
            <a:off x="2624328" y="2697480"/>
            <a:ext cx="1938528" cy="960120"/>
            <a:chOff x="4608576" y="2697480"/>
            <a:chExt cx="1938528" cy="960120"/>
          </a:xfrm>
        </p:grpSpPr>
        <p:sp>
          <p:nvSpPr>
            <p:cNvPr id="28" name="Shape 25"/>
            <p:cNvSpPr/>
            <p:nvPr/>
          </p:nvSpPr>
          <p:spPr>
            <a:xfrm>
              <a:off x="4608576" y="2697480"/>
              <a:ext cx="1938528" cy="960120"/>
            </a:xfrm>
            <a:prstGeom prst="roundRect">
              <a:avLst>
                <a:gd name="adj" fmla="val 7619"/>
              </a:avLst>
            </a:prstGeom>
            <a:solidFill>
              <a:srgbClr val="F2F2F2"/>
            </a:solidFill>
            <a:ln w="12700">
              <a:solidFill>
                <a:srgbClr val="E4E4E4"/>
              </a:solidFill>
              <a:prstDash val="solid"/>
            </a:ln>
          </p:spPr>
          <p:txBody>
            <a:bodyPr/>
            <a:lstStyle/>
            <a:p>
              <a:endParaRPr lang="es-PE"/>
            </a:p>
          </p:txBody>
        </p:sp>
        <p:sp>
          <p:nvSpPr>
            <p:cNvPr id="29" name="Text 26"/>
            <p:cNvSpPr txBox="1"/>
            <p:nvPr/>
          </p:nvSpPr>
          <p:spPr>
            <a:xfrm>
              <a:off x="4718304" y="2770632"/>
              <a:ext cx="1719072" cy="274320"/>
            </a:xfrm>
            <a:prstGeom prst="rect">
              <a:avLst/>
            </a:prstGeom>
            <a:noFill/>
            <a:ln/>
          </p:spPr>
          <p:txBody>
            <a:bodyPr wrap="square" lIns="0" tIns="0" rIns="0" bIns="0" rtlCol="0" anchor="t"/>
            <a:lstStyle/>
            <a:p>
              <a:pPr marL="0" indent="0">
                <a:buNone/>
              </a:pPr>
              <a:r>
                <a:rPr lang="en-US" sz="1200" b="1" dirty="0" err="1">
                  <a:solidFill>
                    <a:srgbClr val="ED2E45"/>
                  </a:solidFill>
                  <a:latin typeface="Montserrat" pitchFamily="34" charset="0"/>
                  <a:ea typeface="Montserrat" pitchFamily="34" charset="-122"/>
                  <a:cs typeface="Montserrat" pitchFamily="34" charset="-120"/>
                </a:rPr>
                <a:t>Área</a:t>
              </a:r>
              <a:r>
                <a:rPr lang="en-US" sz="1200" b="1" dirty="0">
                  <a:solidFill>
                    <a:srgbClr val="ED2E45"/>
                  </a:solidFill>
                  <a:latin typeface="Montserrat" pitchFamily="34" charset="0"/>
                  <a:ea typeface="Montserrat" pitchFamily="34" charset="-122"/>
                  <a:cs typeface="Montserrat" pitchFamily="34" charset="-120"/>
                </a:rPr>
                <a:t> </a:t>
              </a:r>
              <a:r>
                <a:rPr lang="en-US" sz="1200" b="1" dirty="0" err="1">
                  <a:solidFill>
                    <a:srgbClr val="ED2E45"/>
                  </a:solidFill>
                  <a:latin typeface="Montserrat" pitchFamily="34" charset="0"/>
                  <a:ea typeface="Montserrat" pitchFamily="34" charset="-122"/>
                  <a:cs typeface="Montserrat" pitchFamily="34" charset="-120"/>
                </a:rPr>
                <a:t>responsable</a:t>
              </a:r>
              <a:endParaRPr lang="en-US" sz="1200" dirty="0"/>
            </a:p>
          </p:txBody>
        </p:sp>
        <p:sp>
          <p:nvSpPr>
            <p:cNvPr id="30" name="Text 27"/>
            <p:cNvSpPr txBox="1"/>
            <p:nvPr/>
          </p:nvSpPr>
          <p:spPr>
            <a:xfrm>
              <a:off x="4718304" y="3063240"/>
              <a:ext cx="1719072" cy="457200"/>
            </a:xfrm>
            <a:prstGeom prst="rect">
              <a:avLst/>
            </a:prstGeom>
            <a:noFill/>
            <a:ln/>
          </p:spPr>
          <p:txBody>
            <a:bodyPr wrap="square" lIns="0" tIns="0" rIns="0" bIns="0" rtlCol="0" anchor="t"/>
            <a:lstStyle/>
            <a:p>
              <a:r>
                <a:rPr lang="en-US" sz="1050" dirty="0">
                  <a:solidFill>
                    <a:srgbClr val="404040"/>
                  </a:solidFill>
                  <a:latin typeface="Calibri" pitchFamily="34" charset="0"/>
                  <a:ea typeface="Calibri" pitchFamily="34" charset="-122"/>
                  <a:cs typeface="Calibri" pitchFamily="34" charset="-120"/>
                </a:rPr>
                <a:t>¿</a:t>
              </a:r>
              <a:r>
                <a:rPr lang="en-US" sz="1050" dirty="0" err="1">
                  <a:solidFill>
                    <a:srgbClr val="404040"/>
                  </a:solidFill>
                  <a:latin typeface="Calibri" pitchFamily="34" charset="0"/>
                  <a:ea typeface="Calibri" pitchFamily="34" charset="-122"/>
                  <a:cs typeface="Calibri" pitchFamily="34" charset="-120"/>
                </a:rPr>
                <a:t>Qué</a:t>
              </a:r>
              <a:r>
                <a:rPr lang="en-US" sz="1050" dirty="0">
                  <a:solidFill>
                    <a:srgbClr val="404040"/>
                  </a:solidFill>
                  <a:latin typeface="Calibri" pitchFamily="34" charset="0"/>
                  <a:ea typeface="Calibri" pitchFamily="34" charset="-122"/>
                  <a:cs typeface="Calibri" pitchFamily="34" charset="-120"/>
                </a:rPr>
                <a:t> </a:t>
              </a:r>
              <a:r>
                <a:rPr lang="es-MX" sz="1050" dirty="0"/>
                <a:t>dirección del MIMP podría ponerla en práctica y qué recursos requiere?</a:t>
              </a:r>
              <a:endParaRPr lang="en-US" sz="1050" dirty="0"/>
            </a:p>
          </p:txBody>
        </p:sp>
      </p:grpSp>
      <p:grpSp>
        <p:nvGrpSpPr>
          <p:cNvPr id="48" name="Grupo 47">
            <a:extLst>
              <a:ext uri="{FF2B5EF4-FFF2-40B4-BE49-F238E27FC236}">
                <a16:creationId xmlns:a16="http://schemas.microsoft.com/office/drawing/2014/main" id="{7C495EBC-628B-04BA-1EE4-8B6AAC93D4AE}"/>
              </a:ext>
            </a:extLst>
          </p:cNvPr>
          <p:cNvGrpSpPr/>
          <p:nvPr/>
        </p:nvGrpSpPr>
        <p:grpSpPr>
          <a:xfrm>
            <a:off x="4736592" y="1609344"/>
            <a:ext cx="1938528" cy="960120"/>
            <a:chOff x="4608576" y="3749040"/>
            <a:chExt cx="1938528" cy="960120"/>
          </a:xfrm>
        </p:grpSpPr>
        <p:sp>
          <p:nvSpPr>
            <p:cNvPr id="31" name="Shape 28"/>
            <p:cNvSpPr/>
            <p:nvPr/>
          </p:nvSpPr>
          <p:spPr>
            <a:xfrm>
              <a:off x="4608576" y="3749040"/>
              <a:ext cx="1938528" cy="960120"/>
            </a:xfrm>
            <a:prstGeom prst="roundRect">
              <a:avLst>
                <a:gd name="adj" fmla="val 7619"/>
              </a:avLst>
            </a:prstGeom>
            <a:solidFill>
              <a:srgbClr val="F2F2F2"/>
            </a:solidFill>
            <a:ln w="12700">
              <a:solidFill>
                <a:srgbClr val="E4E4E4"/>
              </a:solidFill>
              <a:prstDash val="solid"/>
            </a:ln>
          </p:spPr>
          <p:txBody>
            <a:bodyPr/>
            <a:lstStyle/>
            <a:p>
              <a:endParaRPr lang="es-PE"/>
            </a:p>
          </p:txBody>
        </p:sp>
        <p:sp>
          <p:nvSpPr>
            <p:cNvPr id="32" name="Text 29"/>
            <p:cNvSpPr txBox="1"/>
            <p:nvPr/>
          </p:nvSpPr>
          <p:spPr>
            <a:xfrm>
              <a:off x="4718304" y="3822192"/>
              <a:ext cx="1719072" cy="274320"/>
            </a:xfrm>
            <a:prstGeom prst="rect">
              <a:avLst/>
            </a:prstGeom>
            <a:noFill/>
            <a:ln/>
          </p:spPr>
          <p:txBody>
            <a:bodyPr wrap="square" lIns="0" tIns="0" rIns="0" bIns="0" rtlCol="0" anchor="t"/>
            <a:lstStyle/>
            <a:p>
              <a:pPr marL="0" indent="0">
                <a:buNone/>
              </a:pPr>
              <a:r>
                <a:rPr lang="en-US" sz="1200" b="1" dirty="0" err="1">
                  <a:solidFill>
                    <a:srgbClr val="ED2E45"/>
                  </a:solidFill>
                  <a:latin typeface="Montserrat" pitchFamily="34" charset="0"/>
                  <a:ea typeface="Montserrat" pitchFamily="34" charset="-122"/>
                  <a:cs typeface="Montserrat" pitchFamily="34" charset="-120"/>
                </a:rPr>
                <a:t>Datos</a:t>
              </a:r>
              <a:r>
                <a:rPr lang="en-US" sz="1200" b="1" dirty="0">
                  <a:solidFill>
                    <a:srgbClr val="ED2E45"/>
                  </a:solidFill>
                  <a:latin typeface="Montserrat" pitchFamily="34" charset="0"/>
                  <a:ea typeface="Montserrat" pitchFamily="34" charset="-122"/>
                  <a:cs typeface="Montserrat" pitchFamily="34" charset="-120"/>
                </a:rPr>
                <a:t> y </a:t>
              </a:r>
              <a:r>
                <a:rPr lang="en-US" sz="1200" b="1" dirty="0" err="1">
                  <a:solidFill>
                    <a:srgbClr val="ED2E45"/>
                  </a:solidFill>
                  <a:latin typeface="Montserrat" pitchFamily="34" charset="0"/>
                  <a:ea typeface="Montserrat" pitchFamily="34" charset="-122"/>
                  <a:cs typeface="Montserrat" pitchFamily="34" charset="-120"/>
                </a:rPr>
                <a:t>herramientas</a:t>
              </a:r>
              <a:endParaRPr lang="en-US" sz="1200" dirty="0"/>
            </a:p>
          </p:txBody>
        </p:sp>
        <p:sp>
          <p:nvSpPr>
            <p:cNvPr id="33" name="Text 30"/>
            <p:cNvSpPr txBox="1"/>
            <p:nvPr/>
          </p:nvSpPr>
          <p:spPr>
            <a:xfrm>
              <a:off x="4718304" y="4114800"/>
              <a:ext cx="1719072" cy="457200"/>
            </a:xfrm>
            <a:prstGeom prst="rect">
              <a:avLst/>
            </a:prstGeom>
            <a:noFill/>
            <a:ln/>
          </p:spPr>
          <p:txBody>
            <a:bodyPr wrap="square" lIns="0" tIns="0" rIns="0" bIns="0" rtlCol="0" anchor="t"/>
            <a:lstStyle/>
            <a:p>
              <a:pPr marL="0" indent="0">
                <a:buNone/>
              </a:pPr>
              <a:r>
                <a:rPr lang="en-US" sz="1050" dirty="0">
                  <a:solidFill>
                    <a:srgbClr val="404040"/>
                  </a:solidFill>
                  <a:latin typeface="Calibri" pitchFamily="34" charset="0"/>
                  <a:ea typeface="Calibri" pitchFamily="34" charset="-122"/>
                  <a:cs typeface="Calibri" pitchFamily="34" charset="-120"/>
                </a:rPr>
                <a:t>¿Qué </a:t>
              </a:r>
              <a:r>
                <a:rPr lang="en-US" sz="1050" dirty="0" err="1">
                  <a:solidFill>
                    <a:srgbClr val="404040"/>
                  </a:solidFill>
                  <a:latin typeface="Calibri" pitchFamily="34" charset="0"/>
                  <a:ea typeface="Calibri" pitchFamily="34" charset="-122"/>
                  <a:cs typeface="Calibri" pitchFamily="34" charset="-120"/>
                </a:rPr>
                <a:t>información</a:t>
              </a:r>
              <a:r>
                <a:rPr lang="en-US" sz="1050" dirty="0">
                  <a:solidFill>
                    <a:srgbClr val="404040"/>
                  </a:solidFill>
                  <a:latin typeface="Calibri" pitchFamily="34" charset="0"/>
                  <a:ea typeface="Calibri" pitchFamily="34" charset="-122"/>
                  <a:cs typeface="Calibri" pitchFamily="34" charset="-120"/>
                </a:rPr>
                <a:t> y </a:t>
              </a:r>
              <a:r>
                <a:rPr lang="en-US" sz="1050" dirty="0" err="1">
                  <a:solidFill>
                    <a:srgbClr val="404040"/>
                  </a:solidFill>
                  <a:latin typeface="Calibri" pitchFamily="34" charset="0"/>
                  <a:ea typeface="Calibri" pitchFamily="34" charset="-122"/>
                  <a:cs typeface="Calibri" pitchFamily="34" charset="-120"/>
                </a:rPr>
                <a:t>herramientas</a:t>
              </a:r>
              <a:r>
                <a:rPr lang="en-US" sz="1050" dirty="0">
                  <a:solidFill>
                    <a:srgbClr val="404040"/>
                  </a:solidFill>
                  <a:latin typeface="Calibri" pitchFamily="34" charset="0"/>
                  <a:ea typeface="Calibri" pitchFamily="34" charset="-122"/>
                  <a:cs typeface="Calibri" pitchFamily="34" charset="-120"/>
                </a:rPr>
                <a:t> </a:t>
              </a:r>
              <a:r>
                <a:rPr lang="en-US" sz="1050" dirty="0" err="1">
                  <a:solidFill>
                    <a:srgbClr val="404040"/>
                  </a:solidFill>
                  <a:latin typeface="Calibri" pitchFamily="34" charset="0"/>
                  <a:ea typeface="Calibri" pitchFamily="34" charset="-122"/>
                  <a:cs typeface="Calibri" pitchFamily="34" charset="-120"/>
                </a:rPr>
                <a:t>necesitamos</a:t>
              </a:r>
              <a:r>
                <a:rPr lang="en-US" sz="1050" dirty="0">
                  <a:solidFill>
                    <a:srgbClr val="404040"/>
                  </a:solidFill>
                  <a:latin typeface="Calibri" pitchFamily="34" charset="0"/>
                  <a:ea typeface="Calibri" pitchFamily="34" charset="-122"/>
                  <a:cs typeface="Calibri" pitchFamily="34" charset="-120"/>
                </a:rPr>
                <a:t>?</a:t>
              </a:r>
              <a:endParaRPr lang="en-US" sz="1050" dirty="0"/>
            </a:p>
          </p:txBody>
        </p:sp>
      </p:grpSp>
      <p:grpSp>
        <p:nvGrpSpPr>
          <p:cNvPr id="49" name="Grupo 48">
            <a:extLst>
              <a:ext uri="{FF2B5EF4-FFF2-40B4-BE49-F238E27FC236}">
                <a16:creationId xmlns:a16="http://schemas.microsoft.com/office/drawing/2014/main" id="{3D6CB43C-943A-9147-DDC0-710EAEA618BE}"/>
              </a:ext>
            </a:extLst>
          </p:cNvPr>
          <p:cNvGrpSpPr/>
          <p:nvPr/>
        </p:nvGrpSpPr>
        <p:grpSpPr>
          <a:xfrm>
            <a:off x="4736592" y="2697480"/>
            <a:ext cx="1956816" cy="960120"/>
            <a:chOff x="6638544" y="2697480"/>
            <a:chExt cx="1956816" cy="960120"/>
          </a:xfrm>
        </p:grpSpPr>
        <p:sp>
          <p:nvSpPr>
            <p:cNvPr id="37" name="Shape 34"/>
            <p:cNvSpPr/>
            <p:nvPr/>
          </p:nvSpPr>
          <p:spPr>
            <a:xfrm>
              <a:off x="6638544" y="2697480"/>
              <a:ext cx="1938528" cy="960120"/>
            </a:xfrm>
            <a:prstGeom prst="roundRect">
              <a:avLst>
                <a:gd name="adj" fmla="val 7619"/>
              </a:avLst>
            </a:prstGeom>
            <a:solidFill>
              <a:srgbClr val="F2F2F2"/>
            </a:solidFill>
            <a:ln w="12700">
              <a:solidFill>
                <a:srgbClr val="E4E4E4"/>
              </a:solidFill>
              <a:prstDash val="solid"/>
            </a:ln>
          </p:spPr>
          <p:txBody>
            <a:bodyPr/>
            <a:lstStyle/>
            <a:p>
              <a:endParaRPr lang="es-PE"/>
            </a:p>
          </p:txBody>
        </p:sp>
        <p:sp>
          <p:nvSpPr>
            <p:cNvPr id="38" name="Text 35"/>
            <p:cNvSpPr txBox="1"/>
            <p:nvPr/>
          </p:nvSpPr>
          <p:spPr>
            <a:xfrm>
              <a:off x="6748272" y="2770632"/>
              <a:ext cx="1847088" cy="292608"/>
            </a:xfrm>
            <a:prstGeom prst="rect">
              <a:avLst/>
            </a:prstGeom>
            <a:noFill/>
            <a:ln/>
          </p:spPr>
          <p:txBody>
            <a:bodyPr wrap="square" lIns="0" tIns="0" rIns="0" bIns="0" rtlCol="0" anchor="t"/>
            <a:lstStyle/>
            <a:p>
              <a:pPr marL="0" indent="0">
                <a:buNone/>
              </a:pPr>
              <a:r>
                <a:rPr lang="en-US" sz="1200" b="1" dirty="0" err="1">
                  <a:solidFill>
                    <a:srgbClr val="ED2E45"/>
                  </a:solidFill>
                  <a:latin typeface="Montserrat" pitchFamily="34" charset="0"/>
                  <a:ea typeface="Montserrat" pitchFamily="34" charset="-122"/>
                  <a:cs typeface="Montserrat" pitchFamily="34" charset="-120"/>
                </a:rPr>
                <a:t>Resultado</a:t>
              </a:r>
              <a:r>
                <a:rPr lang="en-US" sz="1200" b="1" dirty="0">
                  <a:solidFill>
                    <a:srgbClr val="ED2E45"/>
                  </a:solidFill>
                  <a:latin typeface="Montserrat" pitchFamily="34" charset="0"/>
                  <a:ea typeface="Montserrat" pitchFamily="34" charset="-122"/>
                  <a:cs typeface="Montserrat" pitchFamily="34" charset="-120"/>
                </a:rPr>
                <a:t> y </a:t>
              </a:r>
              <a:r>
                <a:rPr lang="en-US" sz="1200" b="1" dirty="0" err="1">
                  <a:solidFill>
                    <a:srgbClr val="ED2E45"/>
                  </a:solidFill>
                  <a:latin typeface="Montserrat" pitchFamily="34" charset="0"/>
                  <a:ea typeface="Montserrat" pitchFamily="34" charset="-122"/>
                  <a:cs typeface="Montserrat" pitchFamily="34" charset="-120"/>
                </a:rPr>
                <a:t>medición</a:t>
              </a:r>
              <a:endParaRPr lang="en-US" sz="1200" dirty="0"/>
            </a:p>
          </p:txBody>
        </p:sp>
        <p:sp>
          <p:nvSpPr>
            <p:cNvPr id="39" name="Text 36"/>
            <p:cNvSpPr txBox="1"/>
            <p:nvPr/>
          </p:nvSpPr>
          <p:spPr>
            <a:xfrm>
              <a:off x="6748272" y="3063240"/>
              <a:ext cx="1719072" cy="457200"/>
            </a:xfrm>
            <a:prstGeom prst="rect">
              <a:avLst/>
            </a:prstGeom>
            <a:noFill/>
            <a:ln/>
          </p:spPr>
          <p:txBody>
            <a:bodyPr wrap="square" lIns="0" tIns="0" rIns="0" bIns="0" rtlCol="0" anchor="t"/>
            <a:lstStyle/>
            <a:p>
              <a:r>
                <a:rPr lang="en-US" sz="1050" dirty="0">
                  <a:solidFill>
                    <a:srgbClr val="404040"/>
                  </a:solidFill>
                  <a:latin typeface="Calibri" pitchFamily="34" charset="0"/>
                  <a:ea typeface="Calibri" pitchFamily="34" charset="-122"/>
                  <a:cs typeface="Calibri" pitchFamily="34" charset="-120"/>
                </a:rPr>
                <a:t>¿</a:t>
              </a:r>
              <a:r>
                <a:rPr lang="en-US" sz="1050" dirty="0" err="1">
                  <a:solidFill>
                    <a:srgbClr val="404040"/>
                  </a:solidFill>
                  <a:latin typeface="Calibri" pitchFamily="34" charset="0"/>
                  <a:ea typeface="Calibri" pitchFamily="34" charset="-122"/>
                  <a:cs typeface="Calibri" pitchFamily="34" charset="-120"/>
                </a:rPr>
                <a:t>Qué</a:t>
              </a:r>
              <a:r>
                <a:rPr lang="en-US" sz="1050" dirty="0">
                  <a:solidFill>
                    <a:srgbClr val="404040"/>
                  </a:solidFill>
                  <a:latin typeface="Calibri" pitchFamily="34" charset="0"/>
                  <a:ea typeface="Calibri" pitchFamily="34" charset="-122"/>
                  <a:cs typeface="Calibri" pitchFamily="34" charset="-120"/>
                </a:rPr>
                <a:t> </a:t>
              </a:r>
              <a:r>
                <a:rPr lang="es-MX" sz="1050" dirty="0"/>
                <a:t>mejora esperamos y con qué indicador la mediremos</a:t>
              </a:r>
              <a:r>
                <a:rPr lang="en-US" sz="1050" dirty="0">
                  <a:solidFill>
                    <a:srgbClr val="404040"/>
                  </a:solidFill>
                  <a:latin typeface="Calibri" pitchFamily="34" charset="0"/>
                  <a:ea typeface="Calibri" pitchFamily="34" charset="-122"/>
                  <a:cs typeface="Calibri" pitchFamily="34" charset="-120"/>
                </a:rPr>
                <a:t>?</a:t>
              </a:r>
              <a:endParaRPr lang="en-US" sz="1050" dirty="0"/>
            </a:p>
          </p:txBody>
        </p:sp>
      </p:grpSp>
      <p:grpSp>
        <p:nvGrpSpPr>
          <p:cNvPr id="50" name="Grupo 49">
            <a:extLst>
              <a:ext uri="{FF2B5EF4-FFF2-40B4-BE49-F238E27FC236}">
                <a16:creationId xmlns:a16="http://schemas.microsoft.com/office/drawing/2014/main" id="{2881EC0C-94B9-0CA9-CC79-7B9DE5D566A3}"/>
              </a:ext>
            </a:extLst>
          </p:cNvPr>
          <p:cNvGrpSpPr/>
          <p:nvPr/>
        </p:nvGrpSpPr>
        <p:grpSpPr>
          <a:xfrm>
            <a:off x="6830568" y="1609344"/>
            <a:ext cx="1938528" cy="960120"/>
            <a:chOff x="6638544" y="3749040"/>
            <a:chExt cx="1938528" cy="960120"/>
          </a:xfrm>
        </p:grpSpPr>
        <p:sp>
          <p:nvSpPr>
            <p:cNvPr id="40" name="Shape 37"/>
            <p:cNvSpPr/>
            <p:nvPr/>
          </p:nvSpPr>
          <p:spPr>
            <a:xfrm>
              <a:off x="6638544" y="3749040"/>
              <a:ext cx="1938528" cy="960120"/>
            </a:xfrm>
            <a:prstGeom prst="roundRect">
              <a:avLst>
                <a:gd name="adj" fmla="val 7619"/>
              </a:avLst>
            </a:prstGeom>
            <a:solidFill>
              <a:srgbClr val="F2F2F2"/>
            </a:solidFill>
            <a:ln w="12700">
              <a:solidFill>
                <a:srgbClr val="E4E4E4"/>
              </a:solidFill>
              <a:prstDash val="solid"/>
            </a:ln>
          </p:spPr>
          <p:txBody>
            <a:bodyPr/>
            <a:lstStyle/>
            <a:p>
              <a:endParaRPr lang="es-PE"/>
            </a:p>
          </p:txBody>
        </p:sp>
        <p:sp>
          <p:nvSpPr>
            <p:cNvPr id="41" name="Text 38"/>
            <p:cNvSpPr txBox="1"/>
            <p:nvPr/>
          </p:nvSpPr>
          <p:spPr>
            <a:xfrm>
              <a:off x="6748272" y="3822192"/>
              <a:ext cx="1719072" cy="274320"/>
            </a:xfrm>
            <a:prstGeom prst="rect">
              <a:avLst/>
            </a:prstGeom>
            <a:noFill/>
            <a:ln/>
          </p:spPr>
          <p:txBody>
            <a:bodyPr wrap="square" lIns="0" tIns="0" rIns="0" bIns="0" rtlCol="0" anchor="t"/>
            <a:lstStyle/>
            <a:p>
              <a:pPr marL="0" indent="0">
                <a:buNone/>
              </a:pPr>
              <a:r>
                <a:rPr lang="en-US" sz="1200" b="1" dirty="0" err="1">
                  <a:solidFill>
                    <a:srgbClr val="ED2E45"/>
                  </a:solidFill>
                  <a:latin typeface="Montserrat" pitchFamily="34" charset="0"/>
                  <a:ea typeface="Montserrat" pitchFamily="34" charset="-122"/>
                  <a:cs typeface="Montserrat" pitchFamily="34" charset="-120"/>
                </a:rPr>
                <a:t>Prueba</a:t>
              </a:r>
              <a:r>
                <a:rPr lang="en-US" sz="1200" b="1" dirty="0">
                  <a:solidFill>
                    <a:srgbClr val="ED2E45"/>
                  </a:solidFill>
                  <a:latin typeface="Montserrat" pitchFamily="34" charset="0"/>
                  <a:ea typeface="Montserrat" pitchFamily="34" charset="-122"/>
                  <a:cs typeface="Montserrat" pitchFamily="34" charset="-120"/>
                </a:rPr>
                <a:t> </a:t>
              </a:r>
              <a:r>
                <a:rPr lang="en-US" sz="1200" b="1" dirty="0" err="1">
                  <a:solidFill>
                    <a:srgbClr val="ED2E45"/>
                  </a:solidFill>
                  <a:latin typeface="Montserrat" pitchFamily="34" charset="0"/>
                  <a:ea typeface="Montserrat" pitchFamily="34" charset="-122"/>
                  <a:cs typeface="Montserrat" pitchFamily="34" charset="-120"/>
                </a:rPr>
                <a:t>piloto</a:t>
              </a:r>
              <a:endParaRPr lang="en-US" sz="1200" dirty="0"/>
            </a:p>
          </p:txBody>
        </p:sp>
        <p:sp>
          <p:nvSpPr>
            <p:cNvPr id="42" name="Text 39"/>
            <p:cNvSpPr txBox="1"/>
            <p:nvPr/>
          </p:nvSpPr>
          <p:spPr>
            <a:xfrm>
              <a:off x="6748272" y="4114800"/>
              <a:ext cx="1719072" cy="457200"/>
            </a:xfrm>
            <a:prstGeom prst="rect">
              <a:avLst/>
            </a:prstGeom>
            <a:noFill/>
            <a:ln/>
          </p:spPr>
          <p:txBody>
            <a:bodyPr wrap="square" lIns="0" tIns="0" rIns="0" bIns="0" rtlCol="0" anchor="t"/>
            <a:lstStyle/>
            <a:p>
              <a:r>
                <a:rPr lang="en-US" sz="1050" dirty="0">
                  <a:solidFill>
                    <a:srgbClr val="404040"/>
                  </a:solidFill>
                  <a:latin typeface="Calibri" pitchFamily="34" charset="0"/>
                  <a:ea typeface="Calibri" pitchFamily="34" charset="-122"/>
                  <a:cs typeface="Calibri" pitchFamily="34" charset="-120"/>
                </a:rPr>
                <a:t>¿</a:t>
              </a:r>
              <a:r>
                <a:rPr lang="es-MX" sz="1050" dirty="0"/>
                <a:t>Dónde y con quiénes podemos probarla a pequeña escala</a:t>
              </a:r>
              <a:r>
                <a:rPr lang="en-US" sz="1050" dirty="0">
                  <a:solidFill>
                    <a:srgbClr val="404040"/>
                  </a:solidFill>
                  <a:latin typeface="Calibri" pitchFamily="34" charset="0"/>
                  <a:ea typeface="Calibri" pitchFamily="34" charset="-122"/>
                  <a:cs typeface="Calibri" pitchFamily="34" charset="-120"/>
                </a:rPr>
                <a:t>?</a:t>
              </a:r>
              <a:endParaRPr lang="en-US" sz="1050" dirty="0"/>
            </a:p>
          </p:txBody>
        </p:sp>
      </p:grpSp>
      <p:pic>
        <p:nvPicPr>
          <p:cNvPr id="43" name="Image 0" descr="a/logo_mimp_h.png"/>
          <p:cNvPicPr>
            <a:picLocks noChangeAspect="1"/>
          </p:cNvPicPr>
          <p:nvPr/>
        </p:nvPicPr>
        <p:blipFill>
          <a:blip r:embed="rId4"/>
          <a:stretch>
            <a:fillRect/>
          </a:stretch>
        </p:blipFill>
        <p:spPr>
          <a:xfrm>
            <a:off x="184709" y="110642"/>
            <a:ext cx="1790395" cy="417881"/>
          </a:xfrm>
          <a:prstGeom prst="rect">
            <a:avLst/>
          </a:prstGeom>
        </p:spPr>
      </p:pic>
      <p:pic>
        <p:nvPicPr>
          <p:cNvPr id="44" name="Image 1" descr="a/logo_30.png"/>
          <p:cNvPicPr>
            <a:picLocks noChangeAspect="1"/>
          </p:cNvPicPr>
          <p:nvPr/>
        </p:nvPicPr>
        <p:blipFill>
          <a:blip r:embed="rId5"/>
          <a:stretch>
            <a:fillRect/>
          </a:stretch>
        </p:blipFill>
        <p:spPr>
          <a:xfrm>
            <a:off x="3611880" y="2743"/>
            <a:ext cx="1158545" cy="622706"/>
          </a:xfrm>
          <a:prstGeom prst="rect">
            <a:avLst/>
          </a:prstGeom>
        </p:spPr>
      </p:pic>
      <p:pic>
        <p:nvPicPr>
          <p:cNvPr id="45" name="Image 2" descr="a/logo_peru_responde.png"/>
          <p:cNvPicPr>
            <a:picLocks noChangeAspect="1"/>
          </p:cNvPicPr>
          <p:nvPr/>
        </p:nvPicPr>
        <p:blipFill>
          <a:blip r:embed="rId6"/>
          <a:stretch>
            <a:fillRect/>
          </a:stretch>
        </p:blipFill>
        <p:spPr>
          <a:xfrm>
            <a:off x="7299655" y="102413"/>
            <a:ext cx="1602943" cy="475488"/>
          </a:xfrm>
          <a:prstGeom prst="rect">
            <a:avLst/>
          </a:prstGeom>
        </p:spPr>
      </p:pic>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4965192"/>
            <a:ext cx="9144000" cy="178308"/>
          </a:xfrm>
          <a:prstGeom prst="rect">
            <a:avLst/>
          </a:prstGeom>
          <a:solidFill>
            <a:srgbClr val="ED2E45"/>
          </a:solidFill>
          <a:ln w="12700">
            <a:solidFill>
              <a:srgbClr val="ED2E45"/>
            </a:solidFill>
            <a:prstDash val="solid"/>
          </a:ln>
        </p:spPr>
        <p:txBody>
          <a:bodyPr/>
          <a:lstStyle/>
          <a:p>
            <a:endParaRPr lang="es-PE"/>
          </a:p>
        </p:txBody>
      </p:sp>
      <p:sp>
        <p:nvSpPr>
          <p:cNvPr id="3" name="Text 1"/>
          <p:cNvSpPr txBox="1"/>
          <p:nvPr/>
        </p:nvSpPr>
        <p:spPr>
          <a:xfrm>
            <a:off x="54864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 · COMPRENDER</a:t>
            </a:r>
            <a:endParaRPr lang="en-US" sz="750" dirty="0"/>
          </a:p>
        </p:txBody>
      </p:sp>
      <p:sp>
        <p:nvSpPr>
          <p:cNvPr id="4" name="Text 2"/>
          <p:cNvSpPr txBox="1"/>
          <p:nvPr/>
        </p:nvSpPr>
        <p:spPr>
          <a:xfrm>
            <a:off x="256032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II · DISEÑAR</a:t>
            </a:r>
            <a:endParaRPr lang="en-US" sz="750" dirty="0"/>
          </a:p>
        </p:txBody>
      </p:sp>
      <p:sp>
        <p:nvSpPr>
          <p:cNvPr id="5" name="Text 3"/>
          <p:cNvSpPr txBox="1"/>
          <p:nvPr/>
        </p:nvSpPr>
        <p:spPr>
          <a:xfrm>
            <a:off x="4572000" y="4965192"/>
            <a:ext cx="2011680" cy="178308"/>
          </a:xfrm>
          <a:prstGeom prst="rect">
            <a:avLst/>
          </a:prstGeom>
          <a:noFill/>
          <a:ln/>
        </p:spPr>
        <p:txBody>
          <a:bodyPr wrap="square" lIns="0" tIns="0" rIns="0" bIns="0" rtlCol="0" anchor="ctr"/>
          <a:lstStyle/>
          <a:p>
            <a:pPr marL="0" indent="0">
              <a:buNone/>
            </a:pPr>
            <a:r>
              <a:rPr lang="en-US" sz="750" kern="0" spc="100" dirty="0">
                <a:solidFill>
                  <a:srgbClr val="FFFFFF">
                    <a:alpha val="55000"/>
                  </a:srgbClr>
                </a:solidFill>
                <a:latin typeface="Calibri" pitchFamily="34" charset="0"/>
                <a:ea typeface="Calibri" pitchFamily="34" charset="-122"/>
                <a:cs typeface="Calibri" pitchFamily="34" charset="-120"/>
              </a:rPr>
              <a:t>III · VALIDAR</a:t>
            </a:r>
            <a:endParaRPr lang="en-US" sz="750" dirty="0"/>
          </a:p>
        </p:txBody>
      </p:sp>
      <p:sp>
        <p:nvSpPr>
          <p:cNvPr id="6" name="Text 4"/>
          <p:cNvSpPr txBox="1"/>
          <p:nvPr/>
        </p:nvSpPr>
        <p:spPr>
          <a:xfrm>
            <a:off x="6583680" y="4965192"/>
            <a:ext cx="2011680" cy="178308"/>
          </a:xfrm>
          <a:prstGeom prst="rect">
            <a:avLst/>
          </a:prstGeom>
          <a:noFill/>
          <a:ln/>
        </p:spPr>
        <p:txBody>
          <a:bodyPr wrap="square" lIns="0" tIns="0" rIns="0" bIns="0" rtlCol="0" anchor="ctr"/>
          <a:lstStyle/>
          <a:p>
            <a:pPr marL="0" indent="0">
              <a:buNone/>
            </a:pPr>
            <a:r>
              <a:rPr lang="en-US" sz="750" b="1" kern="0" spc="100" dirty="0">
                <a:solidFill>
                  <a:srgbClr val="FFFFFF"/>
                </a:solidFill>
                <a:latin typeface="Calibri" pitchFamily="34" charset="0"/>
                <a:ea typeface="Calibri" pitchFamily="34" charset="-122"/>
                <a:cs typeface="Calibri" pitchFamily="34" charset="-120"/>
              </a:rPr>
              <a:t>IV · COMUNICAR</a:t>
            </a:r>
            <a:endParaRPr lang="en-US" sz="750" dirty="0"/>
          </a:p>
        </p:txBody>
      </p:sp>
      <p:sp>
        <p:nvSpPr>
          <p:cNvPr id="8" name="Text 5"/>
          <p:cNvSpPr txBox="1"/>
          <p:nvPr/>
        </p:nvSpPr>
        <p:spPr>
          <a:xfrm>
            <a:off x="548640" y="731520"/>
            <a:ext cx="8046720" cy="502920"/>
          </a:xfrm>
          <a:prstGeom prst="rect">
            <a:avLst/>
          </a:prstGeom>
          <a:noFill/>
          <a:ln/>
        </p:spPr>
        <p:txBody>
          <a:bodyPr wrap="square" lIns="0" tIns="0" rIns="0" bIns="0" rtlCol="0" anchor="ctr"/>
          <a:lstStyle/>
          <a:p>
            <a:pPr marL="0" indent="0">
              <a:buNone/>
            </a:pPr>
            <a:r>
              <a:rPr lang="en-US" sz="2200" b="1" dirty="0">
                <a:solidFill>
                  <a:srgbClr val="ED2E45"/>
                </a:solidFill>
                <a:latin typeface="Montserrat" pitchFamily="34" charset="0"/>
                <a:ea typeface="Montserrat" pitchFamily="34" charset="-122"/>
                <a:cs typeface="Montserrat" pitchFamily="34" charset="-120"/>
              </a:rPr>
              <a:t>¿Qué sigue para los equipos?</a:t>
            </a:r>
            <a:endParaRPr lang="en-US" sz="2200" dirty="0"/>
          </a:p>
        </p:txBody>
      </p:sp>
      <p:sp>
        <p:nvSpPr>
          <p:cNvPr id="9" name="Text 6"/>
          <p:cNvSpPr txBox="1"/>
          <p:nvPr/>
        </p:nvSpPr>
        <p:spPr>
          <a:xfrm>
            <a:off x="548640" y="1216152"/>
            <a:ext cx="8046720" cy="274320"/>
          </a:xfrm>
          <a:prstGeom prst="rect">
            <a:avLst/>
          </a:prstGeom>
          <a:noFill/>
          <a:ln/>
        </p:spPr>
        <p:txBody>
          <a:bodyPr wrap="square" lIns="0" tIns="0" rIns="0" bIns="0" rtlCol="0" anchor="ctr"/>
          <a:lstStyle/>
          <a:p>
            <a:pPr marL="0" indent="0">
              <a:buNone/>
            </a:pPr>
            <a:r>
              <a:rPr lang="en-US" sz="1250" dirty="0">
                <a:solidFill>
                  <a:srgbClr val="6B6B6B"/>
                </a:solidFill>
                <a:latin typeface="Calibri" pitchFamily="34" charset="0"/>
                <a:ea typeface="Calibri" pitchFamily="34" charset="-122"/>
                <a:cs typeface="Calibri" pitchFamily="34" charset="-120"/>
              </a:rPr>
              <a:t>Quedan 19 días para la entrega final</a:t>
            </a:r>
            <a:endParaRPr lang="en-US" sz="1250" dirty="0"/>
          </a:p>
        </p:txBody>
      </p:sp>
      <p:sp>
        <p:nvSpPr>
          <p:cNvPr id="10" name="Shape 7"/>
          <p:cNvSpPr/>
          <p:nvPr/>
        </p:nvSpPr>
        <p:spPr>
          <a:xfrm>
            <a:off x="704088" y="2258568"/>
            <a:ext cx="7680960" cy="0"/>
          </a:xfrm>
          <a:prstGeom prst="line">
            <a:avLst/>
          </a:prstGeom>
          <a:noFill/>
          <a:ln w="38100">
            <a:solidFill>
              <a:srgbClr val="E4E4E4"/>
            </a:solidFill>
            <a:prstDash val="solid"/>
          </a:ln>
        </p:spPr>
        <p:txBody>
          <a:bodyPr/>
          <a:lstStyle/>
          <a:p>
            <a:endParaRPr lang="es-PE"/>
          </a:p>
        </p:txBody>
      </p:sp>
      <p:sp>
        <p:nvSpPr>
          <p:cNvPr id="11" name="Shape 8"/>
          <p:cNvSpPr/>
          <p:nvPr/>
        </p:nvSpPr>
        <p:spPr>
          <a:xfrm>
            <a:off x="548640" y="2103120"/>
            <a:ext cx="310896" cy="310896"/>
          </a:xfrm>
          <a:prstGeom prst="ellipse">
            <a:avLst/>
          </a:prstGeom>
          <a:solidFill>
            <a:srgbClr val="58595B"/>
          </a:solidFill>
          <a:ln w="25400">
            <a:solidFill>
              <a:srgbClr val="FFFFFF"/>
            </a:solidFill>
            <a:prstDash val="solid"/>
          </a:ln>
        </p:spPr>
        <p:txBody>
          <a:bodyPr/>
          <a:lstStyle/>
          <a:p>
            <a:endParaRPr lang="es-PE"/>
          </a:p>
        </p:txBody>
      </p:sp>
      <p:sp>
        <p:nvSpPr>
          <p:cNvPr id="12" name="Text 9"/>
          <p:cNvSpPr txBox="1"/>
          <p:nvPr/>
        </p:nvSpPr>
        <p:spPr>
          <a:xfrm>
            <a:off x="548640" y="1645920"/>
            <a:ext cx="1920240" cy="347472"/>
          </a:xfrm>
          <a:prstGeom prst="rect">
            <a:avLst/>
          </a:prstGeom>
          <a:noFill/>
          <a:ln/>
        </p:spPr>
        <p:txBody>
          <a:bodyPr wrap="square" lIns="0" tIns="0" rIns="0" bIns="0" rtlCol="0" anchor="t"/>
          <a:lstStyle/>
          <a:p>
            <a:pPr marL="0" indent="0">
              <a:buNone/>
            </a:pPr>
            <a:r>
              <a:rPr lang="en-US" sz="1500" b="1" dirty="0">
                <a:solidFill>
                  <a:srgbClr val="262626"/>
                </a:solidFill>
                <a:latin typeface="Montserrat" pitchFamily="34" charset="0"/>
                <a:ea typeface="Montserrat" pitchFamily="34" charset="-122"/>
                <a:cs typeface="Montserrat" pitchFamily="34" charset="-120"/>
              </a:rPr>
              <a:t>2 oct</a:t>
            </a:r>
            <a:endParaRPr lang="en-US" sz="1500" dirty="0"/>
          </a:p>
        </p:txBody>
      </p:sp>
      <p:sp>
        <p:nvSpPr>
          <p:cNvPr id="13" name="Text 10"/>
          <p:cNvSpPr txBox="1"/>
          <p:nvPr/>
        </p:nvSpPr>
        <p:spPr>
          <a:xfrm>
            <a:off x="548640" y="2542032"/>
            <a:ext cx="1920240" cy="457200"/>
          </a:xfrm>
          <a:prstGeom prst="rect">
            <a:avLst/>
          </a:prstGeom>
          <a:noFill/>
          <a:ln/>
        </p:spPr>
        <p:txBody>
          <a:bodyPr wrap="square" lIns="0" tIns="0" rIns="0" bIns="0" rtlCol="0" anchor="t"/>
          <a:lstStyle/>
          <a:p>
            <a:pPr marL="0" indent="0">
              <a:buNone/>
            </a:pPr>
            <a:r>
              <a:rPr lang="en-US" sz="1200" b="1" dirty="0">
                <a:solidFill>
                  <a:srgbClr val="262626"/>
                </a:solidFill>
                <a:latin typeface="Calibri" pitchFamily="34" charset="0"/>
                <a:ea typeface="Calibri" pitchFamily="34" charset="-122"/>
                <a:cs typeface="Calibri" pitchFamily="34" charset="-120"/>
              </a:rPr>
              <a:t>Laboratorio de soluciones</a:t>
            </a:r>
            <a:endParaRPr lang="en-US" sz="1200" dirty="0"/>
          </a:p>
        </p:txBody>
      </p:sp>
      <p:sp>
        <p:nvSpPr>
          <p:cNvPr id="14" name="Text 11"/>
          <p:cNvSpPr txBox="1"/>
          <p:nvPr/>
        </p:nvSpPr>
        <p:spPr>
          <a:xfrm>
            <a:off x="548640" y="2999232"/>
            <a:ext cx="1920240" cy="365760"/>
          </a:xfrm>
          <a:prstGeom prst="rect">
            <a:avLst/>
          </a:prstGeom>
          <a:noFill/>
          <a:ln/>
        </p:spPr>
        <p:txBody>
          <a:bodyPr wrap="square" lIns="0" tIns="0" rIns="0" bIns="0" rtlCol="0" anchor="t"/>
          <a:lstStyle/>
          <a:p>
            <a:pPr marL="0" indent="0">
              <a:buNone/>
            </a:pPr>
            <a:r>
              <a:rPr lang="en-US" sz="1050" dirty="0">
                <a:solidFill>
                  <a:srgbClr val="6B6B6B"/>
                </a:solidFill>
                <a:latin typeface="Calibri" pitchFamily="34" charset="0"/>
                <a:ea typeface="Calibri" pitchFamily="34" charset="-122"/>
                <a:cs typeface="Calibri" pitchFamily="34" charset="-120"/>
              </a:rPr>
              <a:t>Hoy</a:t>
            </a:r>
            <a:endParaRPr lang="en-US" sz="1050" dirty="0"/>
          </a:p>
        </p:txBody>
      </p:sp>
      <p:sp>
        <p:nvSpPr>
          <p:cNvPr id="15" name="Shape 12"/>
          <p:cNvSpPr/>
          <p:nvPr/>
        </p:nvSpPr>
        <p:spPr>
          <a:xfrm>
            <a:off x="2697480" y="2103120"/>
            <a:ext cx="310896" cy="310896"/>
          </a:xfrm>
          <a:prstGeom prst="ellipse">
            <a:avLst/>
          </a:prstGeom>
          <a:solidFill>
            <a:srgbClr val="ED2E45"/>
          </a:solidFill>
          <a:ln w="25400">
            <a:solidFill>
              <a:srgbClr val="FFFFFF"/>
            </a:solidFill>
            <a:prstDash val="solid"/>
          </a:ln>
        </p:spPr>
        <p:txBody>
          <a:bodyPr/>
          <a:lstStyle/>
          <a:p>
            <a:endParaRPr lang="es-PE"/>
          </a:p>
        </p:txBody>
      </p:sp>
      <p:sp>
        <p:nvSpPr>
          <p:cNvPr id="16" name="Text 13"/>
          <p:cNvSpPr txBox="1"/>
          <p:nvPr/>
        </p:nvSpPr>
        <p:spPr>
          <a:xfrm>
            <a:off x="2697480" y="1645920"/>
            <a:ext cx="1920240" cy="347472"/>
          </a:xfrm>
          <a:prstGeom prst="rect">
            <a:avLst/>
          </a:prstGeom>
          <a:noFill/>
          <a:ln/>
        </p:spPr>
        <p:txBody>
          <a:bodyPr wrap="square" lIns="0" tIns="0" rIns="0" bIns="0" rtlCol="0" anchor="t"/>
          <a:lstStyle/>
          <a:p>
            <a:pPr marL="0" indent="0">
              <a:buNone/>
            </a:pPr>
            <a:r>
              <a:rPr lang="en-US" sz="1500" b="1" dirty="0">
                <a:solidFill>
                  <a:srgbClr val="ED2E45"/>
                </a:solidFill>
                <a:latin typeface="Montserrat" pitchFamily="34" charset="0"/>
                <a:ea typeface="Montserrat" pitchFamily="34" charset="-122"/>
                <a:cs typeface="Montserrat" pitchFamily="34" charset="-120"/>
              </a:rPr>
              <a:t>21 oct</a:t>
            </a:r>
            <a:endParaRPr lang="en-US" sz="1500" dirty="0"/>
          </a:p>
        </p:txBody>
      </p:sp>
      <p:sp>
        <p:nvSpPr>
          <p:cNvPr id="17" name="Text 14"/>
          <p:cNvSpPr txBox="1"/>
          <p:nvPr/>
        </p:nvSpPr>
        <p:spPr>
          <a:xfrm>
            <a:off x="2697480" y="2542032"/>
            <a:ext cx="1920240" cy="457200"/>
          </a:xfrm>
          <a:prstGeom prst="rect">
            <a:avLst/>
          </a:prstGeom>
          <a:noFill/>
          <a:ln/>
        </p:spPr>
        <p:txBody>
          <a:bodyPr wrap="square" lIns="0" tIns="0" rIns="0" bIns="0" rtlCol="0" anchor="t"/>
          <a:lstStyle/>
          <a:p>
            <a:pPr marL="0" indent="0">
              <a:buNone/>
            </a:pPr>
            <a:r>
              <a:rPr lang="en-US" sz="1200" b="1" dirty="0">
                <a:solidFill>
                  <a:srgbClr val="262626"/>
                </a:solidFill>
                <a:latin typeface="Calibri" pitchFamily="34" charset="0"/>
                <a:ea typeface="Calibri" pitchFamily="34" charset="-122"/>
                <a:cs typeface="Calibri" pitchFamily="34" charset="-120"/>
              </a:rPr>
              <a:t>Entrega final: infografía + reporte</a:t>
            </a:r>
            <a:endParaRPr lang="en-US" sz="1200" dirty="0"/>
          </a:p>
        </p:txBody>
      </p:sp>
      <p:sp>
        <p:nvSpPr>
          <p:cNvPr id="18" name="Text 15"/>
          <p:cNvSpPr txBox="1"/>
          <p:nvPr/>
        </p:nvSpPr>
        <p:spPr>
          <a:xfrm>
            <a:off x="2697480" y="2999232"/>
            <a:ext cx="1920240" cy="365760"/>
          </a:xfrm>
          <a:prstGeom prst="rect">
            <a:avLst/>
          </a:prstGeom>
          <a:noFill/>
          <a:ln/>
        </p:spPr>
        <p:txBody>
          <a:bodyPr wrap="square" lIns="0" tIns="0" rIns="0" bIns="0" rtlCol="0" anchor="t"/>
          <a:lstStyle/>
          <a:p>
            <a:pPr marL="0" indent="0">
              <a:buNone/>
            </a:pPr>
            <a:r>
              <a:rPr lang="en-US" sz="1050" dirty="0">
                <a:solidFill>
                  <a:srgbClr val="6B6B6B"/>
                </a:solidFill>
                <a:latin typeface="Calibri" pitchFamily="34" charset="0"/>
                <a:ea typeface="Calibri" pitchFamily="34" charset="-122"/>
                <a:cs typeface="Calibri" pitchFamily="34" charset="-120"/>
              </a:rPr>
              <a:t>Mínimo 50 de 70 pts para aprobar</a:t>
            </a:r>
            <a:endParaRPr lang="en-US" sz="1050" dirty="0"/>
          </a:p>
        </p:txBody>
      </p:sp>
      <p:sp>
        <p:nvSpPr>
          <p:cNvPr id="19" name="Shape 16"/>
          <p:cNvSpPr/>
          <p:nvPr/>
        </p:nvSpPr>
        <p:spPr>
          <a:xfrm>
            <a:off x="4846320" y="2103120"/>
            <a:ext cx="310896" cy="310896"/>
          </a:xfrm>
          <a:prstGeom prst="ellipse">
            <a:avLst/>
          </a:prstGeom>
          <a:solidFill>
            <a:srgbClr val="F28A99"/>
          </a:solidFill>
          <a:ln w="25400">
            <a:solidFill>
              <a:srgbClr val="FFFFFF"/>
            </a:solidFill>
            <a:prstDash val="solid"/>
          </a:ln>
        </p:spPr>
        <p:txBody>
          <a:bodyPr/>
          <a:lstStyle/>
          <a:p>
            <a:endParaRPr lang="es-PE"/>
          </a:p>
        </p:txBody>
      </p:sp>
      <p:sp>
        <p:nvSpPr>
          <p:cNvPr id="20" name="Text 17"/>
          <p:cNvSpPr txBox="1"/>
          <p:nvPr/>
        </p:nvSpPr>
        <p:spPr>
          <a:xfrm>
            <a:off x="4846320" y="1645920"/>
            <a:ext cx="1920240" cy="347472"/>
          </a:xfrm>
          <a:prstGeom prst="rect">
            <a:avLst/>
          </a:prstGeom>
          <a:noFill/>
          <a:ln/>
        </p:spPr>
        <p:txBody>
          <a:bodyPr wrap="square" lIns="0" tIns="0" rIns="0" bIns="0" rtlCol="0" anchor="t"/>
          <a:lstStyle/>
          <a:p>
            <a:pPr marL="0" indent="0">
              <a:buNone/>
            </a:pPr>
            <a:r>
              <a:rPr lang="en-US" sz="1500" b="1" dirty="0">
                <a:solidFill>
                  <a:srgbClr val="262626"/>
                </a:solidFill>
                <a:latin typeface="Montserrat" pitchFamily="34" charset="0"/>
                <a:ea typeface="Montserrat" pitchFamily="34" charset="-122"/>
                <a:cs typeface="Montserrat" pitchFamily="34" charset="-120"/>
              </a:rPr>
              <a:t>9–13 nov</a:t>
            </a:r>
            <a:endParaRPr lang="en-US" sz="1500" dirty="0"/>
          </a:p>
        </p:txBody>
      </p:sp>
      <p:sp>
        <p:nvSpPr>
          <p:cNvPr id="21" name="Text 18"/>
          <p:cNvSpPr txBox="1"/>
          <p:nvPr/>
        </p:nvSpPr>
        <p:spPr>
          <a:xfrm>
            <a:off x="4846320" y="2542032"/>
            <a:ext cx="1920240" cy="457200"/>
          </a:xfrm>
          <a:prstGeom prst="rect">
            <a:avLst/>
          </a:prstGeom>
          <a:noFill/>
          <a:ln/>
        </p:spPr>
        <p:txBody>
          <a:bodyPr wrap="square" lIns="0" tIns="0" rIns="0" bIns="0" rtlCol="0" anchor="t"/>
          <a:lstStyle/>
          <a:p>
            <a:pPr marL="0" indent="0">
              <a:buNone/>
            </a:pPr>
            <a:r>
              <a:rPr lang="en-US" sz="1200" b="1" dirty="0">
                <a:solidFill>
                  <a:srgbClr val="262626"/>
                </a:solidFill>
                <a:latin typeface="Calibri" pitchFamily="34" charset="0"/>
                <a:ea typeface="Calibri" pitchFamily="34" charset="-122"/>
                <a:cs typeface="Calibri" pitchFamily="34" charset="-120"/>
              </a:rPr>
              <a:t>Anuncio de equipos ganadores</a:t>
            </a:r>
            <a:endParaRPr lang="en-US" sz="1200" dirty="0"/>
          </a:p>
        </p:txBody>
      </p:sp>
      <p:sp>
        <p:nvSpPr>
          <p:cNvPr id="22" name="Shape 19"/>
          <p:cNvSpPr/>
          <p:nvPr/>
        </p:nvSpPr>
        <p:spPr>
          <a:xfrm>
            <a:off x="6995160" y="2103120"/>
            <a:ext cx="310896" cy="310896"/>
          </a:xfrm>
          <a:prstGeom prst="ellipse">
            <a:avLst/>
          </a:prstGeom>
          <a:solidFill>
            <a:srgbClr val="F28A99"/>
          </a:solidFill>
          <a:ln w="25400">
            <a:solidFill>
              <a:srgbClr val="FFFFFF"/>
            </a:solidFill>
            <a:prstDash val="solid"/>
          </a:ln>
        </p:spPr>
        <p:txBody>
          <a:bodyPr/>
          <a:lstStyle/>
          <a:p>
            <a:endParaRPr lang="es-PE"/>
          </a:p>
        </p:txBody>
      </p:sp>
      <p:sp>
        <p:nvSpPr>
          <p:cNvPr id="23" name="Text 20"/>
          <p:cNvSpPr txBox="1"/>
          <p:nvPr/>
        </p:nvSpPr>
        <p:spPr>
          <a:xfrm>
            <a:off x="6995160" y="1645920"/>
            <a:ext cx="1920240" cy="347472"/>
          </a:xfrm>
          <a:prstGeom prst="rect">
            <a:avLst/>
          </a:prstGeom>
          <a:noFill/>
          <a:ln/>
        </p:spPr>
        <p:txBody>
          <a:bodyPr wrap="square" lIns="0" tIns="0" rIns="0" bIns="0" rtlCol="0" anchor="t"/>
          <a:lstStyle/>
          <a:p>
            <a:pPr marL="0" indent="0">
              <a:buNone/>
            </a:pPr>
            <a:r>
              <a:rPr lang="en-US" sz="1500" b="1" dirty="0">
                <a:solidFill>
                  <a:srgbClr val="262626"/>
                </a:solidFill>
                <a:latin typeface="Montserrat" pitchFamily="34" charset="0"/>
                <a:ea typeface="Montserrat" pitchFamily="34" charset="-122"/>
                <a:cs typeface="Montserrat" pitchFamily="34" charset="-120"/>
              </a:rPr>
              <a:t>16–20 nov</a:t>
            </a:r>
            <a:endParaRPr lang="en-US" sz="1500" dirty="0"/>
          </a:p>
        </p:txBody>
      </p:sp>
      <p:sp>
        <p:nvSpPr>
          <p:cNvPr id="24" name="Text 21"/>
          <p:cNvSpPr txBox="1"/>
          <p:nvPr/>
        </p:nvSpPr>
        <p:spPr>
          <a:xfrm>
            <a:off x="6995160" y="2542032"/>
            <a:ext cx="1920240" cy="457200"/>
          </a:xfrm>
          <a:prstGeom prst="rect">
            <a:avLst/>
          </a:prstGeom>
          <a:noFill/>
          <a:ln/>
        </p:spPr>
        <p:txBody>
          <a:bodyPr wrap="square" lIns="0" tIns="0" rIns="0" bIns="0" rtlCol="0" anchor="t"/>
          <a:lstStyle/>
          <a:p>
            <a:pPr marL="0" indent="0">
              <a:buNone/>
            </a:pPr>
            <a:r>
              <a:rPr lang="en-US" sz="1200" b="1" dirty="0">
                <a:solidFill>
                  <a:srgbClr val="262626"/>
                </a:solidFill>
                <a:latin typeface="Calibri" pitchFamily="34" charset="0"/>
                <a:ea typeface="Calibri" pitchFamily="34" charset="-122"/>
                <a:cs typeface="Calibri" pitchFamily="34" charset="-120"/>
              </a:rPr>
              <a:t>Ceremonia de premiación</a:t>
            </a:r>
            <a:endParaRPr lang="en-US" sz="1200" dirty="0"/>
          </a:p>
        </p:txBody>
      </p:sp>
      <p:sp>
        <p:nvSpPr>
          <p:cNvPr id="25" name="Shape 22"/>
          <p:cNvSpPr/>
          <p:nvPr/>
        </p:nvSpPr>
        <p:spPr>
          <a:xfrm>
            <a:off x="548640" y="3520440"/>
            <a:ext cx="5760720" cy="1234440"/>
          </a:xfrm>
          <a:prstGeom prst="roundRect">
            <a:avLst>
              <a:gd name="adj" fmla="val 5926"/>
            </a:avLst>
          </a:prstGeom>
          <a:solidFill>
            <a:srgbClr val="F2F2F2"/>
          </a:solidFill>
          <a:ln w="12700">
            <a:solidFill>
              <a:srgbClr val="F2F2F2"/>
            </a:solidFill>
            <a:prstDash val="solid"/>
          </a:ln>
        </p:spPr>
        <p:txBody>
          <a:bodyPr/>
          <a:lstStyle/>
          <a:p>
            <a:endParaRPr lang="es-PE"/>
          </a:p>
        </p:txBody>
      </p:sp>
      <p:sp>
        <p:nvSpPr>
          <p:cNvPr id="26" name="Text 23"/>
          <p:cNvSpPr txBox="1"/>
          <p:nvPr/>
        </p:nvSpPr>
        <p:spPr>
          <a:xfrm>
            <a:off x="731520" y="3520440"/>
            <a:ext cx="5394960" cy="1234440"/>
          </a:xfrm>
          <a:prstGeom prst="rect">
            <a:avLst/>
          </a:prstGeom>
          <a:noFill/>
          <a:ln/>
        </p:spPr>
        <p:txBody>
          <a:bodyPr wrap="square" lIns="0" tIns="0" rIns="0" bIns="0" rtlCol="0" anchor="ctr"/>
          <a:lstStyle/>
          <a:p>
            <a:pPr marL="0" indent="0">
              <a:buNone/>
            </a:pPr>
            <a:r>
              <a:rPr lang="en-US" sz="1300" b="1" dirty="0">
                <a:solidFill>
                  <a:srgbClr val="ED2E45"/>
                </a:solidFill>
                <a:latin typeface="Calibri" pitchFamily="34" charset="0"/>
                <a:ea typeface="Calibri" pitchFamily="34" charset="-122"/>
                <a:cs typeface="Calibri" pitchFamily="34" charset="-120"/>
              </a:rPr>
              <a:t>Certificado de curso </a:t>
            </a:r>
            <a:r>
              <a:rPr lang="en-US" sz="1300" dirty="0">
                <a:solidFill>
                  <a:srgbClr val="404040"/>
                </a:solidFill>
                <a:latin typeface="Calibri" pitchFamily="34" charset="0"/>
                <a:ea typeface="Calibri" pitchFamily="34" charset="-122"/>
                <a:cs typeface="Calibri" pitchFamily="34" charset="-120"/>
              </a:rPr>
              <a:t>(MIMP, UNFPA e Ipsos) para quienes cumplan </a:t>
            </a:r>
            <a:r>
              <a:rPr lang="en-US" sz="1300" b="1" dirty="0">
                <a:solidFill>
                  <a:srgbClr val="404040"/>
                </a:solidFill>
                <a:latin typeface="Calibri" pitchFamily="34" charset="0"/>
                <a:ea typeface="Calibri" pitchFamily="34" charset="-122"/>
                <a:cs typeface="Calibri" pitchFamily="34" charset="-120"/>
              </a:rPr>
              <a:t>75% de asistencia</a:t>
            </a:r>
            <a:r>
              <a:rPr lang="en-US" sz="1300" dirty="0">
                <a:solidFill>
                  <a:srgbClr val="404040"/>
                </a:solidFill>
                <a:latin typeface="Calibri" pitchFamily="34" charset="0"/>
                <a:ea typeface="Calibri" pitchFamily="34" charset="-122"/>
                <a:cs typeface="Calibri" pitchFamily="34" charset="-120"/>
              </a:rPr>
              <a:t> al ciclo de formación y </a:t>
            </a:r>
            <a:r>
              <a:rPr lang="en-US" sz="1300" b="1" dirty="0">
                <a:solidFill>
                  <a:srgbClr val="404040"/>
                </a:solidFill>
                <a:latin typeface="Calibri" pitchFamily="34" charset="0"/>
                <a:ea typeface="Calibri" pitchFamily="34" charset="-122"/>
                <a:cs typeface="Calibri" pitchFamily="34" charset="-120"/>
              </a:rPr>
              <a:t>50+ pts</a:t>
            </a:r>
            <a:r>
              <a:rPr lang="en-US" sz="1300" dirty="0">
                <a:solidFill>
                  <a:srgbClr val="404040"/>
                </a:solidFill>
                <a:latin typeface="Calibri" pitchFamily="34" charset="0"/>
                <a:ea typeface="Calibri" pitchFamily="34" charset="-122"/>
                <a:cs typeface="Calibri" pitchFamily="34" charset="-120"/>
              </a:rPr>
              <a:t> en el proyecto final.</a:t>
            </a:r>
            <a:endParaRPr lang="en-US" sz="1300" dirty="0"/>
          </a:p>
        </p:txBody>
      </p:sp>
      <p:pic>
        <p:nvPicPr>
          <p:cNvPr id="27" name="Image 0" descr="a/familia1.png"/>
          <p:cNvPicPr>
            <a:picLocks noChangeAspect="1"/>
          </p:cNvPicPr>
          <p:nvPr/>
        </p:nvPicPr>
        <p:blipFill>
          <a:blip r:embed="rId4"/>
          <a:stretch>
            <a:fillRect/>
          </a:stretch>
        </p:blipFill>
        <p:spPr>
          <a:xfrm>
            <a:off x="6970542" y="3456432"/>
            <a:ext cx="1237957" cy="1325880"/>
          </a:xfrm>
          <a:prstGeom prst="rect">
            <a:avLst/>
          </a:prstGeom>
        </p:spPr>
      </p:pic>
      <p:pic>
        <p:nvPicPr>
          <p:cNvPr id="28" name="Image 1" descr="a/logo_mimp_h.png"/>
          <p:cNvPicPr>
            <a:picLocks noChangeAspect="1"/>
          </p:cNvPicPr>
          <p:nvPr/>
        </p:nvPicPr>
        <p:blipFill>
          <a:blip r:embed="rId5"/>
          <a:stretch>
            <a:fillRect/>
          </a:stretch>
        </p:blipFill>
        <p:spPr>
          <a:xfrm>
            <a:off x="184709" y="110642"/>
            <a:ext cx="1790395" cy="417881"/>
          </a:xfrm>
          <a:prstGeom prst="rect">
            <a:avLst/>
          </a:prstGeom>
        </p:spPr>
      </p:pic>
      <p:pic>
        <p:nvPicPr>
          <p:cNvPr id="29" name="Image 2" descr="a/logo_30.png"/>
          <p:cNvPicPr>
            <a:picLocks noChangeAspect="1"/>
          </p:cNvPicPr>
          <p:nvPr/>
        </p:nvPicPr>
        <p:blipFill>
          <a:blip r:embed="rId6"/>
          <a:stretch>
            <a:fillRect/>
          </a:stretch>
        </p:blipFill>
        <p:spPr>
          <a:xfrm>
            <a:off x="3611880" y="2743"/>
            <a:ext cx="1158545" cy="622706"/>
          </a:xfrm>
          <a:prstGeom prst="rect">
            <a:avLst/>
          </a:prstGeom>
        </p:spPr>
      </p:pic>
      <p:pic>
        <p:nvPicPr>
          <p:cNvPr id="30" name="Image 3" descr="a/logo_peru_responde.png"/>
          <p:cNvPicPr>
            <a:picLocks noChangeAspect="1"/>
          </p:cNvPicPr>
          <p:nvPr/>
        </p:nvPicPr>
        <p:blipFill>
          <a:blip r:embed="rId7"/>
          <a:stretch>
            <a:fillRect/>
          </a:stretch>
        </p:blipFill>
        <p:spPr>
          <a:xfrm>
            <a:off x="7299655" y="102413"/>
            <a:ext cx="1602943" cy="475488"/>
          </a:xfrm>
          <a:prstGeom prst="rect">
            <a:avLst/>
          </a:prstGeom>
        </p:spPr>
      </p:pic>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pic>
        <p:nvPicPr>
          <p:cNvPr id="2" name="Image 0" descr="a/fondo_rojo.png"/>
          <p:cNvPicPr>
            <a:picLocks noChangeAspect="1"/>
          </p:cNvPicPr>
          <p:nvPr/>
        </p:nvPicPr>
        <p:blipFill>
          <a:blip r:embed="rId3"/>
          <a:stretch>
            <a:fillRect/>
          </a:stretch>
        </p:blipFill>
        <p:spPr>
          <a:xfrm>
            <a:off x="0" y="685800"/>
            <a:ext cx="9144000" cy="4457700"/>
          </a:xfrm>
          <a:prstGeom prst="rect">
            <a:avLst/>
          </a:prstGeom>
        </p:spPr>
      </p:pic>
      <p:sp>
        <p:nvSpPr>
          <p:cNvPr id="4" name="Text 0"/>
          <p:cNvSpPr txBox="1"/>
          <p:nvPr/>
        </p:nvSpPr>
        <p:spPr>
          <a:xfrm>
            <a:off x="685800" y="914400"/>
            <a:ext cx="7772400" cy="548640"/>
          </a:xfrm>
          <a:prstGeom prst="rect">
            <a:avLst/>
          </a:prstGeom>
          <a:noFill/>
          <a:ln/>
        </p:spPr>
        <p:txBody>
          <a:bodyPr wrap="square" lIns="0" tIns="0" rIns="0" bIns="0" rtlCol="0" anchor="t"/>
          <a:lstStyle/>
          <a:p>
            <a:pPr marL="0" indent="0">
              <a:buNone/>
            </a:pPr>
            <a:r>
              <a:rPr lang="en-US" sz="2800" b="1" dirty="0">
                <a:solidFill>
                  <a:srgbClr val="FFFFFF"/>
                </a:solidFill>
                <a:latin typeface="Montserrat" pitchFamily="34" charset="0"/>
                <a:ea typeface="Montserrat" pitchFamily="34" charset="-122"/>
                <a:cs typeface="Montserrat" pitchFamily="34" charset="-120"/>
              </a:rPr>
              <a:t>Del dato a la transformación</a:t>
            </a:r>
            <a:endParaRPr lang="en-US" sz="2800" dirty="0"/>
          </a:p>
        </p:txBody>
      </p:sp>
      <p:sp>
        <p:nvSpPr>
          <p:cNvPr id="5" name="Shape 1"/>
          <p:cNvSpPr/>
          <p:nvPr/>
        </p:nvSpPr>
        <p:spPr>
          <a:xfrm>
            <a:off x="685800" y="1691640"/>
            <a:ext cx="1280160" cy="566928"/>
          </a:xfrm>
          <a:prstGeom prst="roundRect">
            <a:avLst>
              <a:gd name="adj" fmla="val 12903"/>
            </a:avLst>
          </a:prstGeom>
          <a:solidFill>
            <a:srgbClr val="FFFFFF"/>
          </a:solidFill>
          <a:ln w="12700">
            <a:solidFill>
              <a:srgbClr val="FFFFFF"/>
            </a:solidFill>
            <a:prstDash val="solid"/>
          </a:ln>
        </p:spPr>
        <p:txBody>
          <a:bodyPr/>
          <a:lstStyle/>
          <a:p>
            <a:endParaRPr lang="es-PE"/>
          </a:p>
        </p:txBody>
      </p:sp>
      <p:sp>
        <p:nvSpPr>
          <p:cNvPr id="6" name="Text 2"/>
          <p:cNvSpPr txBox="1"/>
          <p:nvPr/>
        </p:nvSpPr>
        <p:spPr>
          <a:xfrm>
            <a:off x="685800" y="1691640"/>
            <a:ext cx="1280160" cy="566928"/>
          </a:xfrm>
          <a:prstGeom prst="rect">
            <a:avLst/>
          </a:prstGeom>
          <a:noFill/>
          <a:ln/>
        </p:spPr>
        <p:txBody>
          <a:bodyPr wrap="square" lIns="0" tIns="0" rIns="0" bIns="0" rtlCol="0" anchor="ctr"/>
          <a:lstStyle/>
          <a:p>
            <a:pPr marL="0" indent="0" algn="ctr">
              <a:buNone/>
            </a:pPr>
            <a:r>
              <a:rPr lang="en-US" sz="1300" b="1" dirty="0">
                <a:solidFill>
                  <a:srgbClr val="ED2E45"/>
                </a:solidFill>
                <a:latin typeface="Montserrat" pitchFamily="34" charset="0"/>
                <a:ea typeface="Montserrat" pitchFamily="34" charset="-122"/>
                <a:cs typeface="Montserrat" pitchFamily="34" charset="-120"/>
              </a:rPr>
              <a:t>Dato</a:t>
            </a:r>
            <a:endParaRPr lang="en-US" sz="1300" dirty="0"/>
          </a:p>
        </p:txBody>
      </p:sp>
      <p:sp>
        <p:nvSpPr>
          <p:cNvPr id="7" name="Text 3"/>
          <p:cNvSpPr txBox="1"/>
          <p:nvPr/>
        </p:nvSpPr>
        <p:spPr>
          <a:xfrm>
            <a:off x="1965960" y="1691640"/>
            <a:ext cx="320040"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8" name="Shape 4"/>
          <p:cNvSpPr/>
          <p:nvPr/>
        </p:nvSpPr>
        <p:spPr>
          <a:xfrm>
            <a:off x="2286000" y="1691640"/>
            <a:ext cx="1280160" cy="566928"/>
          </a:xfrm>
          <a:prstGeom prst="roundRect">
            <a:avLst>
              <a:gd name="adj" fmla="val 12903"/>
            </a:avLst>
          </a:prstGeom>
          <a:solidFill>
            <a:srgbClr val="FFFFFF"/>
          </a:solidFill>
          <a:ln w="12700">
            <a:solidFill>
              <a:srgbClr val="FFFFFF"/>
            </a:solidFill>
            <a:prstDash val="solid"/>
          </a:ln>
        </p:spPr>
        <p:txBody>
          <a:bodyPr/>
          <a:lstStyle/>
          <a:p>
            <a:endParaRPr lang="es-PE"/>
          </a:p>
        </p:txBody>
      </p:sp>
      <p:sp>
        <p:nvSpPr>
          <p:cNvPr id="9" name="Text 5"/>
          <p:cNvSpPr txBox="1"/>
          <p:nvPr/>
        </p:nvSpPr>
        <p:spPr>
          <a:xfrm>
            <a:off x="2286000" y="1691640"/>
            <a:ext cx="1280160" cy="566928"/>
          </a:xfrm>
          <a:prstGeom prst="rect">
            <a:avLst/>
          </a:prstGeom>
          <a:noFill/>
          <a:ln/>
        </p:spPr>
        <p:txBody>
          <a:bodyPr wrap="square" lIns="0" tIns="0" rIns="0" bIns="0" rtlCol="0" anchor="ctr"/>
          <a:lstStyle/>
          <a:p>
            <a:pPr marL="0" indent="0" algn="ctr">
              <a:buNone/>
            </a:pPr>
            <a:r>
              <a:rPr lang="en-US" sz="1300" b="1" dirty="0">
                <a:solidFill>
                  <a:srgbClr val="ED2E45"/>
                </a:solidFill>
                <a:latin typeface="Montserrat" pitchFamily="34" charset="0"/>
                <a:ea typeface="Montserrat" pitchFamily="34" charset="-122"/>
                <a:cs typeface="Montserrat" pitchFamily="34" charset="-120"/>
              </a:rPr>
              <a:t>Evidencia</a:t>
            </a:r>
            <a:endParaRPr lang="en-US" sz="1300" dirty="0"/>
          </a:p>
        </p:txBody>
      </p:sp>
      <p:sp>
        <p:nvSpPr>
          <p:cNvPr id="10" name="Text 6"/>
          <p:cNvSpPr txBox="1"/>
          <p:nvPr/>
        </p:nvSpPr>
        <p:spPr>
          <a:xfrm>
            <a:off x="3566160" y="1691640"/>
            <a:ext cx="320040"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1" name="Shape 7"/>
          <p:cNvSpPr/>
          <p:nvPr/>
        </p:nvSpPr>
        <p:spPr>
          <a:xfrm>
            <a:off x="3886200" y="1691640"/>
            <a:ext cx="1280160" cy="566928"/>
          </a:xfrm>
          <a:prstGeom prst="roundRect">
            <a:avLst>
              <a:gd name="adj" fmla="val 12903"/>
            </a:avLst>
          </a:prstGeom>
          <a:solidFill>
            <a:srgbClr val="FFFFFF"/>
          </a:solidFill>
          <a:ln w="12700">
            <a:solidFill>
              <a:srgbClr val="FFFFFF"/>
            </a:solidFill>
            <a:prstDash val="solid"/>
          </a:ln>
        </p:spPr>
        <p:txBody>
          <a:bodyPr/>
          <a:lstStyle/>
          <a:p>
            <a:endParaRPr lang="es-PE"/>
          </a:p>
        </p:txBody>
      </p:sp>
      <p:sp>
        <p:nvSpPr>
          <p:cNvPr id="12" name="Text 8"/>
          <p:cNvSpPr txBox="1"/>
          <p:nvPr/>
        </p:nvSpPr>
        <p:spPr>
          <a:xfrm>
            <a:off x="3886200" y="1691640"/>
            <a:ext cx="1280160" cy="566928"/>
          </a:xfrm>
          <a:prstGeom prst="rect">
            <a:avLst/>
          </a:prstGeom>
          <a:noFill/>
          <a:ln/>
        </p:spPr>
        <p:txBody>
          <a:bodyPr wrap="square" lIns="0" tIns="0" rIns="0" bIns="0" rtlCol="0" anchor="ctr"/>
          <a:lstStyle/>
          <a:p>
            <a:pPr marL="0" indent="0" algn="ctr">
              <a:buNone/>
            </a:pPr>
            <a:r>
              <a:rPr lang="en-US" sz="1300" b="1" dirty="0">
                <a:solidFill>
                  <a:srgbClr val="ED2E45"/>
                </a:solidFill>
                <a:latin typeface="Montserrat" pitchFamily="34" charset="0"/>
                <a:ea typeface="Montserrat" pitchFamily="34" charset="-122"/>
                <a:cs typeface="Montserrat" pitchFamily="34" charset="-120"/>
              </a:rPr>
              <a:t>Decisión</a:t>
            </a:r>
            <a:endParaRPr lang="en-US" sz="1300" dirty="0"/>
          </a:p>
        </p:txBody>
      </p:sp>
      <p:sp>
        <p:nvSpPr>
          <p:cNvPr id="13" name="Text 9"/>
          <p:cNvSpPr txBox="1"/>
          <p:nvPr/>
        </p:nvSpPr>
        <p:spPr>
          <a:xfrm>
            <a:off x="5166360" y="1691640"/>
            <a:ext cx="320040"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4" name="Shape 10"/>
          <p:cNvSpPr/>
          <p:nvPr/>
        </p:nvSpPr>
        <p:spPr>
          <a:xfrm>
            <a:off x="5486400" y="1691640"/>
            <a:ext cx="1280160" cy="566928"/>
          </a:xfrm>
          <a:prstGeom prst="roundRect">
            <a:avLst>
              <a:gd name="adj" fmla="val 12903"/>
            </a:avLst>
          </a:prstGeom>
          <a:solidFill>
            <a:srgbClr val="FFFFFF"/>
          </a:solidFill>
          <a:ln w="12700">
            <a:solidFill>
              <a:srgbClr val="FFFFFF"/>
            </a:solidFill>
            <a:prstDash val="solid"/>
          </a:ln>
        </p:spPr>
        <p:txBody>
          <a:bodyPr/>
          <a:lstStyle/>
          <a:p>
            <a:endParaRPr lang="es-PE"/>
          </a:p>
        </p:txBody>
      </p:sp>
      <p:sp>
        <p:nvSpPr>
          <p:cNvPr id="15" name="Text 11"/>
          <p:cNvSpPr txBox="1"/>
          <p:nvPr/>
        </p:nvSpPr>
        <p:spPr>
          <a:xfrm>
            <a:off x="5486400" y="1691640"/>
            <a:ext cx="1280160" cy="566928"/>
          </a:xfrm>
          <a:prstGeom prst="rect">
            <a:avLst/>
          </a:prstGeom>
          <a:noFill/>
          <a:ln/>
        </p:spPr>
        <p:txBody>
          <a:bodyPr wrap="square" lIns="0" tIns="0" rIns="0" bIns="0" rtlCol="0" anchor="ctr"/>
          <a:lstStyle/>
          <a:p>
            <a:pPr marL="0" indent="0" algn="ctr">
              <a:buNone/>
            </a:pPr>
            <a:r>
              <a:rPr lang="en-US" sz="1300" b="1" dirty="0">
                <a:solidFill>
                  <a:srgbClr val="ED2E45"/>
                </a:solidFill>
                <a:latin typeface="Montserrat" pitchFamily="34" charset="0"/>
                <a:ea typeface="Montserrat" pitchFamily="34" charset="-122"/>
                <a:cs typeface="Montserrat" pitchFamily="34" charset="-120"/>
              </a:rPr>
              <a:t>Acción</a:t>
            </a:r>
            <a:endParaRPr lang="en-US" sz="1300" dirty="0"/>
          </a:p>
        </p:txBody>
      </p:sp>
      <p:sp>
        <p:nvSpPr>
          <p:cNvPr id="16" name="Text 12"/>
          <p:cNvSpPr txBox="1"/>
          <p:nvPr/>
        </p:nvSpPr>
        <p:spPr>
          <a:xfrm>
            <a:off x="6766560" y="1691640"/>
            <a:ext cx="320040" cy="56692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7" name="Shape 13"/>
          <p:cNvSpPr/>
          <p:nvPr/>
        </p:nvSpPr>
        <p:spPr>
          <a:xfrm>
            <a:off x="7086600" y="1691640"/>
            <a:ext cx="1280160" cy="566928"/>
          </a:xfrm>
          <a:prstGeom prst="roundRect">
            <a:avLst>
              <a:gd name="adj" fmla="val 12903"/>
            </a:avLst>
          </a:prstGeom>
          <a:solidFill>
            <a:srgbClr val="FFFFFF"/>
          </a:solidFill>
          <a:ln w="12700">
            <a:solidFill>
              <a:srgbClr val="FFFFFF"/>
            </a:solidFill>
            <a:prstDash val="solid"/>
          </a:ln>
        </p:spPr>
        <p:txBody>
          <a:bodyPr/>
          <a:lstStyle/>
          <a:p>
            <a:endParaRPr lang="es-PE"/>
          </a:p>
        </p:txBody>
      </p:sp>
      <p:sp>
        <p:nvSpPr>
          <p:cNvPr id="18" name="Text 14"/>
          <p:cNvSpPr txBox="1"/>
          <p:nvPr/>
        </p:nvSpPr>
        <p:spPr>
          <a:xfrm>
            <a:off x="7086600" y="1691640"/>
            <a:ext cx="1280160" cy="566928"/>
          </a:xfrm>
          <a:prstGeom prst="rect">
            <a:avLst/>
          </a:prstGeom>
          <a:noFill/>
          <a:ln/>
        </p:spPr>
        <p:txBody>
          <a:bodyPr wrap="square" lIns="0" tIns="0" rIns="0" bIns="0" rtlCol="0" anchor="ctr"/>
          <a:lstStyle/>
          <a:p>
            <a:pPr marL="0" indent="0" algn="ctr">
              <a:buNone/>
            </a:pPr>
            <a:r>
              <a:rPr lang="en-US" sz="1300" b="1" dirty="0">
                <a:solidFill>
                  <a:srgbClr val="ED2E45"/>
                </a:solidFill>
                <a:latin typeface="Montserrat" pitchFamily="34" charset="0"/>
                <a:ea typeface="Montserrat" pitchFamily="34" charset="-122"/>
                <a:cs typeface="Montserrat" pitchFamily="34" charset="-120"/>
              </a:rPr>
              <a:t>Cambio</a:t>
            </a:r>
            <a:endParaRPr lang="en-US" sz="1300" dirty="0"/>
          </a:p>
        </p:txBody>
      </p:sp>
      <p:sp>
        <p:nvSpPr>
          <p:cNvPr id="19" name="Text 15"/>
          <p:cNvSpPr txBox="1"/>
          <p:nvPr/>
        </p:nvSpPr>
        <p:spPr>
          <a:xfrm>
            <a:off x="685800" y="2514600"/>
            <a:ext cx="7680960" cy="1097280"/>
          </a:xfrm>
          <a:prstGeom prst="rect">
            <a:avLst/>
          </a:prstGeom>
          <a:noFill/>
          <a:ln/>
        </p:spPr>
        <p:txBody>
          <a:bodyPr wrap="square" lIns="0" tIns="0" rIns="0" bIns="0" rtlCol="0" anchor="t"/>
          <a:lstStyle/>
          <a:p>
            <a:pPr marL="0" indent="0">
              <a:buNone/>
            </a:pPr>
            <a:r>
              <a:rPr lang="en-US" sz="1450" i="1" dirty="0">
                <a:solidFill>
                  <a:srgbClr val="FFFFFF"/>
                </a:solidFill>
                <a:latin typeface="Calibri" pitchFamily="34" charset="0"/>
                <a:ea typeface="Calibri" pitchFamily="34" charset="-122"/>
                <a:cs typeface="Calibri" pitchFamily="34" charset="-120"/>
              </a:rPr>
              <a:t>El desafío no es solamente utilizar más datos o desarrollar más tecnología. Es utilizar los datos y la innovación para comprender mejor los problemas públicos, identificar desigualdades y diseñar soluciones pertinentes, viables y orientadas a generar cambios.</a:t>
            </a:r>
            <a:endParaRPr lang="en-US" sz="1450" dirty="0"/>
          </a:p>
        </p:txBody>
      </p:sp>
      <p:sp>
        <p:nvSpPr>
          <p:cNvPr id="20" name="Text 16"/>
          <p:cNvSpPr txBox="1"/>
          <p:nvPr/>
        </p:nvSpPr>
        <p:spPr>
          <a:xfrm>
            <a:off x="685800" y="3886200"/>
            <a:ext cx="4572000" cy="640080"/>
          </a:xfrm>
          <a:prstGeom prst="rect">
            <a:avLst/>
          </a:prstGeom>
          <a:noFill/>
          <a:ln/>
        </p:spPr>
        <p:txBody>
          <a:bodyPr wrap="square" lIns="0" tIns="0" rIns="0" bIns="0" rtlCol="0" anchor="ctr"/>
          <a:lstStyle/>
          <a:p>
            <a:pPr marL="0" indent="0">
              <a:buNone/>
            </a:pPr>
            <a:r>
              <a:rPr lang="en-US" sz="3000" b="1" dirty="0">
                <a:solidFill>
                  <a:srgbClr val="FFFFFF"/>
                </a:solidFill>
                <a:latin typeface="Montserrat" pitchFamily="34" charset="0"/>
                <a:ea typeface="Montserrat" pitchFamily="34" charset="-122"/>
                <a:cs typeface="Montserrat" pitchFamily="34" charset="-120"/>
              </a:rPr>
              <a:t>¡Gracias!</a:t>
            </a:r>
            <a:endParaRPr lang="en-US" sz="3000" dirty="0"/>
          </a:p>
        </p:txBody>
      </p:sp>
      <p:pic>
        <p:nvPicPr>
          <p:cNvPr id="21" name="Image 1" descr="a/logo_mimp_h.png"/>
          <p:cNvPicPr>
            <a:picLocks noChangeAspect="1"/>
          </p:cNvPicPr>
          <p:nvPr/>
        </p:nvPicPr>
        <p:blipFill>
          <a:blip r:embed="rId4"/>
          <a:stretch>
            <a:fillRect/>
          </a:stretch>
        </p:blipFill>
        <p:spPr>
          <a:xfrm>
            <a:off x="184709" y="110642"/>
            <a:ext cx="1790395" cy="417881"/>
          </a:xfrm>
          <a:prstGeom prst="rect">
            <a:avLst/>
          </a:prstGeom>
        </p:spPr>
      </p:pic>
      <p:pic>
        <p:nvPicPr>
          <p:cNvPr id="22" name="Image 2" descr="a/logo_30.png"/>
          <p:cNvPicPr>
            <a:picLocks noChangeAspect="1"/>
          </p:cNvPicPr>
          <p:nvPr/>
        </p:nvPicPr>
        <p:blipFill>
          <a:blip r:embed="rId5"/>
          <a:stretch>
            <a:fillRect/>
          </a:stretch>
        </p:blipFill>
        <p:spPr>
          <a:xfrm>
            <a:off x="3611880" y="2743"/>
            <a:ext cx="1158545" cy="622706"/>
          </a:xfrm>
          <a:prstGeom prst="rect">
            <a:avLst/>
          </a:prstGeom>
        </p:spPr>
      </p:pic>
      <p:pic>
        <p:nvPicPr>
          <p:cNvPr id="23" name="Image 3" descr="a/logo_peru_responde.png"/>
          <p:cNvPicPr>
            <a:picLocks noChangeAspect="1"/>
          </p:cNvPicPr>
          <p:nvPr/>
        </p:nvPicPr>
        <p:blipFill>
          <a:blip r:embed="rId6"/>
          <a:stretch>
            <a:fillRect/>
          </a:stretch>
        </p:blipFill>
        <p:spPr>
          <a:xfrm>
            <a:off x="7299655" y="102413"/>
            <a:ext cx="1602943" cy="475488"/>
          </a:xfrm>
          <a:prstGeom prst="rect">
            <a:avLst/>
          </a:prstGeom>
        </p:spPr>
      </p:pic>
    </p:spTree>
  </p:cSld>
  <p:clrMapOvr>
    <a:masterClrMapping/>
  </p:clrMapOvr>
  <p:transition spd="med">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TotalTime>
  <Words>3227</Words>
  <Application>Microsoft Office PowerPoint</Application>
  <PresentationFormat>Presentación en pantalla (16:9)</PresentationFormat>
  <Paragraphs>477</Paragraphs>
  <Slides>21</Slides>
  <Notes>21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21</vt:i4>
      </vt:variant>
    </vt:vector>
  </HeadingPairs>
  <TitlesOfParts>
    <vt:vector size="25" baseType="lpstr">
      <vt:lpstr>Arial</vt:lpstr>
      <vt:lpstr>Calibri</vt:lpstr>
      <vt:lpstr>Montserrat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Laboratorio de soluciones: del dato a la política pública</dc:title>
  <dc:subject>PptxGenJS Presentation</dc:subject>
  <dc:creator>PptxGenJS</dc:creator>
  <cp:lastModifiedBy>Alexandra Otero</cp:lastModifiedBy>
  <cp:revision>4</cp:revision>
  <dcterms:created xsi:type="dcterms:W3CDTF">2026-09-30T22:08:12Z</dcterms:created>
  <dcterms:modified xsi:type="dcterms:W3CDTF">2026-10-02T20:05:51Z</dcterms:modified>
</cp:coreProperties>
</file>